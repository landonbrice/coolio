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OUTLINE</a:t>
            </a:r>
          </a:p>
          <a:p>
            <a:r>
              <a:t>  1. Open with the distinction: test case, not conspiracy claim.</a:t>
            </a:r>
          </a:p>
          <a:p>
            <a:r>
              <a:t>  2. The article did not have to lie to matter.</a:t>
            </a:r>
          </a:p>
          <a:p>
            <a:r>
              <a:t>  3. Frame the puzzle: why does this read as FAA patience, not mass-death scandal?</a:t>
            </a:r>
          </a:p>
          <a:p>
            <a:r>
              <a:t>  4. Pause and let the audience read the headline.</a:t>
            </a:r>
          </a:p>
          <a:p/>
          <a:p>
            <a:r>
              <a:t>SCRIPT</a:t>
            </a:r>
          </a:p>
          <a:p>
            <a:r>
              <a:t>On October 29, 2018, Lion Air Flight 610 crashed. 189 dead. On March 10, 2019, Ethiopian Airlines Flight 302 crashed. 157 more dead. Same aircraft. Same MCAS system. 346 people across two crashes of the same aircraft in 132 days. The morning after the second crash, the Wall Street Journal — America's paper of business record — chose to frame the news this way. This deck measures how strongly Chomsky's propaganda model fits that framing. Not whether every filter is equally proven — degree of fit. The puzzle is why a mass-death crisis became an FAA patience story.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OUTLINE</a:t>
            </a:r>
          </a:p>
          <a:p>
            <a:r>
              <a:t>  1. Hold the structural facts before you invoke the model.</a:t>
            </a:r>
          </a:p>
          <a:p>
            <a:r>
              <a:t>  2. 132 days; 51 regulators in 72 hours; FAA last.</a:t>
            </a:r>
          </a:p>
          <a:p>
            <a:r>
              <a:t>  3. China grounded BEFORE the WSJ article ran — central to the puzzle.</a:t>
            </a:r>
          </a:p>
          <a:p>
            <a:r>
              <a:t>  4. Land the claim: organizing fact = FAA reluctance, not global consensus.</a:t>
            </a:r>
          </a:p>
          <a:p>
            <a:r>
              <a:t>  5. Transition: 'Now — what does Chomsky predict, and what does this prove?'</a:t>
            </a:r>
          </a:p>
          <a:p/>
          <a:p>
            <a:r>
              <a:t>SCRIPT</a:t>
            </a:r>
          </a:p>
          <a:p>
            <a:r>
              <a:t>Before the model, hold the structural facts. 132 days separated Lion Air and Ethiopian — the same aircraft killing people again on the same flight profile. Within 72 hours of Ethiopian, 51 regulators worldwide grounded the 737 MAX. China grounded the aircraft on the morning of March 11 — BEFORE the Wall Street Journal article ran. By the time the FAA finally grounded on March 13, it was the LAST major regulator to do so. The article’s organizing fact is the FAA’s reluctance, not the worldwide consensus. That choice of frame is what the propaganda model is going to help us see.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OUTLINE</a:t>
            </a:r>
          </a:p>
          <a:p>
            <a:r>
              <a:t>  1. Structural, not moral: the journalists are not the explanatory variable.</a:t>
            </a:r>
          </a:p>
          <a:p>
            <a:r>
              <a:t>  2. Filters reinforce; no single filter is decisive.</a:t>
            </a:r>
          </a:p>
          <a:p>
            <a:r>
              <a:t>  3. Distinguish article-level proof (3, 5) from background conditions (1, 2, 4).</a:t>
            </a:r>
          </a:p>
          <a:p>
            <a:r>
              <a:t>  4. Working standard: partial filters explain why the stronger ones can operate.</a:t>
            </a:r>
          </a:p>
          <a:p>
            <a:r>
              <a:t>  5. Transition: 'Start with the textual evidence on slide 4.'</a:t>
            </a:r>
          </a:p>
          <a:p/>
          <a:p>
            <a:r>
              <a:t>SCRIPT</a:t>
            </a:r>
          </a:p>
          <a:p>
            <a:r>
              <a:t>Chomsky’s claim is structural, not moral. He is not saying the press is fake or that journalists are corrupt. The filters select what survives. Pasztor and Tangel — the WSJ team on this article — had broken the MCAS self-certification story four months earlier. They are not bad reporters. The propaganda model is most powerful when the journalism is competent. In this deck I treat filters 3 and 5 as article-level evidence, filters 1 and 2 as structural background, and filter 4 as anticipated cost — indirect but reinforcing. Partial filters still matter if they help explain why the stronger filters can operate.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OUTLINE</a:t>
            </a:r>
          </a:p>
          <a:p>
            <a:r>
              <a:t>  1. Read the article BEFORE you invoke the model.</a:t>
            </a:r>
          </a:p>
          <a:p>
            <a:r>
              <a:t>  2. The FAA is positioned as fact-giver, not as the institution under scrutiny.</a:t>
            </a:r>
          </a:p>
          <a:p>
            <a:r>
              <a:t>  3. Foreign regulators and victims are not absent from reality — they are absent as ORGANIZING authorities.</a:t>
            </a:r>
          </a:p>
          <a:p>
            <a:r>
              <a:t>  4. Pasztor + Tangel had broken MCAS in November — the journalists are not the variable.</a:t>
            </a:r>
          </a:p>
          <a:p/>
          <a:p>
            <a:r>
              <a:t>SCRIPT</a:t>
            </a:r>
          </a:p>
          <a:p>
            <a:r>
              <a:t>Before any theoretical move: read the article. The text itself has a center of gravity. The FAA is the organizing authority. Boeing speaks about its own aircraft. U.S. airlines speak operationally. Anonymous industry officials supply framing in the background. China’s grounding, EASA, U.S. politicians — secondary, reactive. The victims’ families, the Ethiopian and Indonesian regulators, the captured-regulator frame itself — absent as knowers. The frame is institutional reassurance under scrutiny, not regulatory failure after mass death. And remember: this WSJ team had broken the MCAS self-certification story four months earlier. The framing is structural, not authorial.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OUTLINE</a:t>
            </a:r>
          </a:p>
          <a:p>
            <a:r>
              <a:t>  1. Filters 1 + 2 explain viability, not proof.</a:t>
            </a:r>
          </a:p>
          <a:p>
            <a:r>
              <a:t>  2. WSJ is corporate-financial America; Boeing is corporate America.</a:t>
            </a:r>
          </a:p>
          <a:p>
            <a:r>
              <a:t>  3. Be precise about what these filters DON'T license you to claim.</a:t>
            </a:r>
          </a:p>
          <a:p>
            <a:r>
              <a:t>  4. What they DO license: a sustained campaign is institutionally expensive.</a:t>
            </a:r>
          </a:p>
          <a:p/>
          <a:p>
            <a:r>
              <a:t>SCRIPT</a:t>
            </a:r>
          </a:p>
          <a:p>
            <a:r>
              <a:t>Filters 1 and 2 are background conditions, not direct evidence. The WSJ is corporate-financial America’s paper of record. It is owned by News Corp. It calculates the Dow Jones Industrial Average, which includes Boeing. Boeing is corporate America. Same class, same interlocks. The advertiser ecology — aerospace, airlines, finance, law, consulting — is the same commercial world the WSJ serves. Be careful about what this licenses you to claim. It does NOT support the claim that Murdoch called the newsroom or Boeing bought the headline. What it DOES support is the structural point that a single critical article is tolerable, but a sustained structural campaign against Boeing is institutionally expensive. These filters explain why the stronger filters can operate.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OUTLINE</a:t>
            </a:r>
          </a:p>
          <a:p>
            <a:r>
              <a:t>  1. This is the first load-bearing slide — article-level proof.</a:t>
            </a:r>
          </a:p>
          <a:p>
            <a:r>
              <a:t>  2. Fishman in plain English: officials give facts, reporters get them.</a:t>
            </a:r>
          </a:p>
          <a:p>
            <a:r>
              <a:t>  3. Source ARCHITECTURE: the FAA is the authorizer of what counts as fact.</a:t>
            </a:r>
          </a:p>
          <a:p>
            <a:r>
              <a:t>  4. Gates is the same-beat contrast: the story was reportable.</a:t>
            </a:r>
          </a:p>
          <a:p/>
          <a:p>
            <a:r>
              <a:t>SCRIPT</a:t>
            </a:r>
          </a:p>
          <a:p>
            <a:r>
              <a:t>Filter 3 — sourcing — is the first load-bearing slide and the one you can verify directly inside the article. The Fishman idea, which Chomsky uses on p. 19, is: officials have and give the facts, reporters merely get them. In this article, the FAA is treated as the institution that authorizes what counts as fact. Not as the institution under indictment. Six days later, Dominic Gates at the Seattle Times reframed the FAA as a delegated, compromised regulator — the captured-regulator framing — and won a Pulitzer for it. Same beat, different publication structure. The frame WSJ selected costs less. The frame Gates selected costs more. That cost asymmetry is filter 3.</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OUTLINE</a:t>
            </a:r>
          </a:p>
          <a:p>
            <a:r>
              <a:t>  1. Frame this honestly: PARTIAL fit, anticipated cost.</a:t>
            </a:r>
          </a:p>
          <a:p>
            <a:r>
              <a:t>  2. Three rungs: FAA under scrutiny (cheap) → Boeing design (medium) → captured-regulator (expensive).</a:t>
            </a:r>
          </a:p>
          <a:p>
            <a:r>
              <a:t>  3. Mechanism: access, PR, legal, editor, future sourcing.</a:t>
            </a:r>
          </a:p>
          <a:p>
            <a:r>
              <a:t>  4. Shanahan as concrete: Acting DefSec was a 30-year Boeing exec.</a:t>
            </a:r>
          </a:p>
          <a:p/>
          <a:p>
            <a:r>
              <a:t>SCRIPT</a:t>
            </a:r>
          </a:p>
          <a:p>
            <a:r>
              <a:t>Filter 4 is partial fit — don’t overreach. Don’t argue Boeing threatened this specific article. Argue that certain frames were predictably expensive. There’s a cost ladder. The cheapest frame: the FAA’s decision is under scrutiny. The next cost up: Boeing’s design choices are under scrutiny. The expensive frame: the FAA was captured by Boeing, and certification failed. The mechanism that produces that cost is access, PR response, legal complaint, editor pressure, and the future sourcing relationship that the reporter depends on. As one concrete example: the Acting Defense Secretary at the time of these crashes, Patrick Shanahan, was a 30-year Boeing executive. The flak apparatus is anticipatory, not retaliatory.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OUTLINE</a:t>
            </a:r>
          </a:p>
          <a:p>
            <a:r>
              <a:t>  1. Second load-bearing slide; the paper’s original analytical contribution.</a:t>
            </a:r>
          </a:p>
          <a:p>
            <a:r>
              <a:t>  2. Content rotates: anticommunism → religion of market → techno-industrial nationalism.</a:t>
            </a:r>
          </a:p>
          <a:p>
            <a:r>
              <a:t>  3. FUNCTION is identical: worthy / unworthy victims, organized by friendship.</a:t>
            </a:r>
          </a:p>
          <a:p>
            <a:r>
              <a:t>  4. KAL 007 (1983) is Chomsky’s canonical case; Lion Air + Ethiopian fit the unworthy column.</a:t>
            </a:r>
          </a:p>
          <a:p/>
          <a:p>
            <a:r>
              <a:t>SCRIPT</a:t>
            </a:r>
          </a:p>
          <a:p>
            <a:r>
              <a:t>Filter 5 is the paper’s original analytical contribution. Chomsky’s 1988 filter 5 was anticommunism. In 2002 he updated it to the religion of the market. For 2019 aviation, I argue the operative content is techno-industrial nationalism — Boeing stands in for U.S. aviation, manufacturing, exports, defense, jobs, national prestige. The content has rotated. The function is identical. In 1983, the Soviets shot down KAL 007. Sustained moral outrage. Years of front-page coverage. Reagan: ‘cold-blooded murder.’ In 2018-19, an American aircraft killed 346 civilians — Indonesians, Indians, Ethiopians, Kenyans, Chinese. Initial framing: pilot training. 132 days before grounding. Different ideology. Identical filter.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OUTLINE</a:t>
            </a:r>
          </a:p>
          <a:p>
            <a:r>
              <a:t>  1. Don’t make this melodramatic. Let the counterfactual carry it.</a:t>
            </a:r>
          </a:p>
          <a:p>
            <a:r>
              <a:t>  2. Same aircraft, same facts, different victims.</a:t>
            </a:r>
          </a:p>
          <a:p>
            <a:r>
              <a:t>  3. If the headline changes, the frame was not neutral; it was filtered.</a:t>
            </a:r>
          </a:p>
          <a:p/>
          <a:p>
            <a:r>
              <a:t>SCRIPT</a:t>
            </a:r>
          </a:p>
          <a:p>
            <a:r>
              <a:t>Here is the test. Same facts. Different victims. Different output. If 346 Americans had died on two domestic flights of the same aircraft in five months, the Wall Street Journal headline on March 11, 2019 would not have read ‘FAA Has No Current Plans to Ground.’ It would have read something like the right column. Victims first. Outrage visible. FAA under indictment. The model fits if victim status changes what the natural frame is. That is the worthy / unworthy victim logic operating in 2019.</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OUTLINE</a:t>
            </a:r>
          </a:p>
          <a:p>
            <a:r>
              <a:t>  1. End cleanly — verdict, not recap.</a:t>
            </a:r>
          </a:p>
          <a:p>
            <a:r>
              <a:t>  2. Match each filter to a degree of fit you can defend in Q&amp;A.</a:t>
            </a:r>
          </a:p>
          <a:p>
            <a:r>
              <a:t>  3. Land the close: selection, not fabrication.</a:t>
            </a:r>
          </a:p>
          <a:p/>
          <a:p>
            <a:r>
              <a:t>SCRIPT</a:t>
            </a:r>
          </a:p>
          <a:p>
            <a:r>
              <a:t>Final finding. The propaganda model applies substantially, but unevenly. Filters 1 and 2 — moderate fit — structural background. Filter 3 — strong fit — article-level proof in the source architecture. Filter 4 — partial fit — the anticipated cost of expensive frames. Filter 5 — strong fit — ideological proof in the moral framing of foreign victims. The article is not propaganda-model evidence because it lies. It is propaganda-model evidence because normal journalism selected the institutionally comfortable frame. The filters did not fabricate the news. They selected the version fit to print.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8872" cy="685800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277295" y="6537960"/>
            <a:ext cx="457200" cy="274320"/>
          </a:xfrm>
          <a:prstGeom prst="rect">
            <a:avLst/>
          </a:prstGeom>
          <a:noFill/>
        </p:spPr>
        <p:txBody>
          <a:bodyPr wrap="square" lIns="0" rIns="0" tIns="0" bIns="0" anchor="t">
            <a:spAutoFit/>
          </a:bodyPr>
          <a:lstStyle/>
          <a:p>
            <a:pPr algn="r">
              <a:lnSpc>
                <a:spcPct val="120000"/>
              </a:lnSpc>
            </a:pPr>
            <a:r>
              <a:rPr sz="800" b="1" i="0">
                <a:solidFill>
                  <a:srgbClr val="64748B"/>
                </a:solidFill>
                <a:latin typeface="Helvetica Neue"/>
              </a:rPr>
              <a:t>01</a:t>
            </a:r>
          </a:p>
        </p:txBody>
      </p:sp>
      <p:sp>
        <p:nvSpPr>
          <p:cNvPr id="5" name="TextBox 4"/>
          <p:cNvSpPr txBox="1"/>
          <p:nvPr/>
        </p:nvSpPr>
        <p:spPr>
          <a:xfrm>
            <a:off x="502920" y="457200"/>
            <a:ext cx="10972800" cy="274320"/>
          </a:xfrm>
          <a:prstGeom prst="rect">
            <a:avLst/>
          </a:prstGeom>
          <a:noFill/>
        </p:spPr>
        <p:txBody>
          <a:bodyPr wrap="square" lIns="0" rIns="0" tIns="0" bIns="0" anchor="t">
            <a:spAutoFit/>
          </a:bodyPr>
          <a:lstStyle/>
          <a:p>
            <a:pPr algn="l">
              <a:lnSpc>
                <a:spcPct val="120000"/>
              </a:lnSpc>
            </a:pPr>
            <a:r>
              <a:rPr sz="900" b="1" i="0">
                <a:solidFill>
                  <a:srgbClr val="1D4ED8"/>
                </a:solidFill>
                <a:latin typeface="Helvetica Neue"/>
              </a:rPr>
              <a:t>THE PUZZLE</a:t>
            </a:r>
          </a:p>
        </p:txBody>
      </p:sp>
      <p:sp>
        <p:nvSpPr>
          <p:cNvPr id="6" name="TextBox 5"/>
          <p:cNvSpPr txBox="1"/>
          <p:nvPr/>
        </p:nvSpPr>
        <p:spPr>
          <a:xfrm>
            <a:off x="502920" y="758952"/>
            <a:ext cx="11430000" cy="777240"/>
          </a:xfrm>
          <a:prstGeom prst="rect">
            <a:avLst/>
          </a:prstGeom>
          <a:noFill/>
        </p:spPr>
        <p:txBody>
          <a:bodyPr wrap="square" lIns="0" rIns="0" tIns="0" bIns="0" anchor="t">
            <a:spAutoFit/>
          </a:bodyPr>
          <a:lstStyle/>
          <a:p>
            <a:pPr algn="l">
              <a:lnSpc>
                <a:spcPct val="110000"/>
              </a:lnSpc>
            </a:pPr>
            <a:r>
              <a:rPr sz="3000" b="1" i="0">
                <a:solidFill>
                  <a:srgbClr val="111827"/>
                </a:solidFill>
                <a:latin typeface="Helvetica Neue"/>
              </a:rPr>
              <a:t>A mass-death crisis became an FAA patience story.</a:t>
            </a:r>
          </a:p>
        </p:txBody>
      </p:sp>
      <p:sp>
        <p:nvSpPr>
          <p:cNvPr id="7" name="TextBox 6"/>
          <p:cNvSpPr txBox="1"/>
          <p:nvPr/>
        </p:nvSpPr>
        <p:spPr>
          <a:xfrm>
            <a:off x="502920" y="1627632"/>
            <a:ext cx="11430000" cy="411480"/>
          </a:xfrm>
          <a:prstGeom prst="rect">
            <a:avLst/>
          </a:prstGeom>
          <a:noFill/>
        </p:spPr>
        <p:txBody>
          <a:bodyPr wrap="square" lIns="0" rIns="0" tIns="0" bIns="0" anchor="t">
            <a:spAutoFit/>
          </a:bodyPr>
          <a:lstStyle/>
          <a:p>
            <a:pPr algn="l">
              <a:lnSpc>
                <a:spcPct val="130000"/>
              </a:lnSpc>
            </a:pPr>
            <a:r>
              <a:rPr sz="1300" b="0" i="0">
                <a:solidFill>
                  <a:srgbClr val="64748B"/>
                </a:solidFill>
                <a:latin typeface="Helvetica Neue"/>
              </a:rPr>
              <a:t>The deck measures how strongly the propaganda model fits one WSJ article, not whether every filter is equally proven.</a:t>
            </a:r>
          </a:p>
        </p:txBody>
      </p:sp>
      <p:sp>
        <p:nvSpPr>
          <p:cNvPr id="8" name="Rectangle 7"/>
          <p:cNvSpPr/>
          <p:nvPr/>
        </p:nvSpPr>
        <p:spPr>
          <a:xfrm>
            <a:off x="502920" y="2331720"/>
            <a:ext cx="7178040" cy="3200400"/>
          </a:xfrm>
          <a:prstGeom prst="rect">
            <a:avLst/>
          </a:prstGeom>
          <a:solidFill>
            <a:srgbClr val="F9FAFB"/>
          </a:solidFill>
          <a:ln w="9525">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wsj_headline_march11.png"/>
          <p:cNvPicPr>
            <a:picLocks noChangeAspect="1"/>
          </p:cNvPicPr>
          <p:nvPr/>
        </p:nvPicPr>
        <p:blipFill>
          <a:blip r:embed="rId2"/>
          <a:stretch>
            <a:fillRect/>
          </a:stretch>
        </p:blipFill>
        <p:spPr>
          <a:xfrm>
            <a:off x="868680" y="2739755"/>
            <a:ext cx="6446520" cy="2384329"/>
          </a:xfrm>
          <a:prstGeom prst="rect">
            <a:avLst/>
          </a:prstGeom>
        </p:spPr>
      </p:pic>
      <p:sp>
        <p:nvSpPr>
          <p:cNvPr id="10" name="Rectangle 9"/>
          <p:cNvSpPr/>
          <p:nvPr/>
        </p:nvSpPr>
        <p:spPr>
          <a:xfrm>
            <a:off x="8001000" y="2331720"/>
            <a:ext cx="3703320" cy="914400"/>
          </a:xfrm>
          <a:prstGeom prst="rect">
            <a:avLst/>
          </a:prstGeom>
          <a:solidFill>
            <a:srgbClr val="F9FAFB"/>
          </a:solidFill>
          <a:ln w="9525">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0" y="2468880"/>
            <a:ext cx="3337560" cy="228600"/>
          </a:xfrm>
          <a:prstGeom prst="rect">
            <a:avLst/>
          </a:prstGeom>
          <a:noFill/>
        </p:spPr>
        <p:txBody>
          <a:bodyPr wrap="square" lIns="0" rIns="0" tIns="0" bIns="0" anchor="t">
            <a:spAutoFit/>
          </a:bodyPr>
          <a:lstStyle/>
          <a:p>
            <a:pPr algn="l">
              <a:lnSpc>
                <a:spcPct val="120000"/>
              </a:lnSpc>
            </a:pPr>
            <a:r>
              <a:rPr sz="800" b="1" i="0">
                <a:solidFill>
                  <a:srgbClr val="1D4ED8"/>
                </a:solidFill>
                <a:latin typeface="Helvetica Neue"/>
              </a:rPr>
              <a:t>OBSERVED FRAME</a:t>
            </a:r>
          </a:p>
        </p:txBody>
      </p:sp>
      <p:sp>
        <p:nvSpPr>
          <p:cNvPr id="12" name="TextBox 11"/>
          <p:cNvSpPr txBox="1"/>
          <p:nvPr/>
        </p:nvSpPr>
        <p:spPr>
          <a:xfrm>
            <a:off x="8229600" y="2697480"/>
            <a:ext cx="3337560" cy="502920"/>
          </a:xfrm>
          <a:prstGeom prst="rect">
            <a:avLst/>
          </a:prstGeom>
          <a:noFill/>
        </p:spPr>
        <p:txBody>
          <a:bodyPr wrap="square" lIns="0" rIns="0" tIns="0" bIns="0" anchor="t">
            <a:spAutoFit/>
          </a:bodyPr>
          <a:lstStyle/>
          <a:p>
            <a:pPr algn="l">
              <a:lnSpc>
                <a:spcPct val="120000"/>
              </a:lnSpc>
            </a:pPr>
            <a:r>
              <a:rPr sz="1300" b="1" i="0">
                <a:solidFill>
                  <a:srgbClr val="111827"/>
                </a:solidFill>
                <a:latin typeface="Helvetica Neue"/>
              </a:rPr>
              <a:t>FAA reluctance is the organizing fact.</a:t>
            </a:r>
          </a:p>
        </p:txBody>
      </p:sp>
      <p:sp>
        <p:nvSpPr>
          <p:cNvPr id="13" name="Rectangle 12"/>
          <p:cNvSpPr/>
          <p:nvPr/>
        </p:nvSpPr>
        <p:spPr>
          <a:xfrm>
            <a:off x="8001000" y="3410712"/>
            <a:ext cx="3703320" cy="914400"/>
          </a:xfrm>
          <a:prstGeom prst="rect">
            <a:avLst/>
          </a:prstGeom>
          <a:solidFill>
            <a:srgbClr val="F9FAFB"/>
          </a:solidFill>
          <a:ln w="9525">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0" y="3547872"/>
            <a:ext cx="3337560" cy="228600"/>
          </a:xfrm>
          <a:prstGeom prst="rect">
            <a:avLst/>
          </a:prstGeom>
          <a:noFill/>
        </p:spPr>
        <p:txBody>
          <a:bodyPr wrap="square" lIns="0" rIns="0" tIns="0" bIns="0" anchor="t">
            <a:spAutoFit/>
          </a:bodyPr>
          <a:lstStyle/>
          <a:p>
            <a:pPr algn="l">
              <a:lnSpc>
                <a:spcPct val="120000"/>
              </a:lnSpc>
            </a:pPr>
            <a:r>
              <a:rPr sz="800" b="1" i="0">
                <a:solidFill>
                  <a:srgbClr val="B91C1C"/>
                </a:solidFill>
                <a:latin typeface="Helvetica Neue"/>
              </a:rPr>
              <a:t>UNDERLYING FACTS</a:t>
            </a:r>
          </a:p>
        </p:txBody>
      </p:sp>
      <p:sp>
        <p:nvSpPr>
          <p:cNvPr id="15" name="TextBox 14"/>
          <p:cNvSpPr txBox="1"/>
          <p:nvPr/>
        </p:nvSpPr>
        <p:spPr>
          <a:xfrm>
            <a:off x="8229600" y="3776472"/>
            <a:ext cx="3337560" cy="502920"/>
          </a:xfrm>
          <a:prstGeom prst="rect">
            <a:avLst/>
          </a:prstGeom>
          <a:noFill/>
        </p:spPr>
        <p:txBody>
          <a:bodyPr wrap="square" lIns="0" rIns="0" tIns="0" bIns="0" anchor="t">
            <a:spAutoFit/>
          </a:bodyPr>
          <a:lstStyle/>
          <a:p>
            <a:pPr algn="l">
              <a:lnSpc>
                <a:spcPct val="120000"/>
              </a:lnSpc>
            </a:pPr>
            <a:r>
              <a:rPr sz="1300" b="1" i="0">
                <a:solidFill>
                  <a:srgbClr val="111827"/>
                </a:solidFill>
                <a:latin typeface="Helvetica Neue"/>
              </a:rPr>
              <a:t>189 + 157 = 346 dead.  Same aircraft.  Same MCAS.  132 days.</a:t>
            </a:r>
          </a:p>
        </p:txBody>
      </p:sp>
      <p:sp>
        <p:nvSpPr>
          <p:cNvPr id="16" name="Rectangle 15"/>
          <p:cNvSpPr/>
          <p:nvPr/>
        </p:nvSpPr>
        <p:spPr>
          <a:xfrm>
            <a:off x="8001000" y="4489704"/>
            <a:ext cx="3703320" cy="914400"/>
          </a:xfrm>
          <a:prstGeom prst="rect">
            <a:avLst/>
          </a:prstGeom>
          <a:solidFill>
            <a:srgbClr val="F9FAFB"/>
          </a:solidFill>
          <a:ln w="9525">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0" y="4626864"/>
            <a:ext cx="3337560" cy="228600"/>
          </a:xfrm>
          <a:prstGeom prst="rect">
            <a:avLst/>
          </a:prstGeom>
          <a:noFill/>
        </p:spPr>
        <p:txBody>
          <a:bodyPr wrap="square" lIns="0" rIns="0" tIns="0" bIns="0" anchor="t">
            <a:spAutoFit/>
          </a:bodyPr>
          <a:lstStyle/>
          <a:p>
            <a:pPr algn="l">
              <a:lnSpc>
                <a:spcPct val="120000"/>
              </a:lnSpc>
            </a:pPr>
            <a:r>
              <a:rPr sz="800" b="1" i="0">
                <a:solidFill>
                  <a:srgbClr val="111827"/>
                </a:solidFill>
                <a:latin typeface="Helvetica Neue"/>
              </a:rPr>
              <a:t>QUESTION</a:t>
            </a:r>
          </a:p>
        </p:txBody>
      </p:sp>
      <p:sp>
        <p:nvSpPr>
          <p:cNvPr id="18" name="TextBox 17"/>
          <p:cNvSpPr txBox="1"/>
          <p:nvPr/>
        </p:nvSpPr>
        <p:spPr>
          <a:xfrm>
            <a:off x="8229600" y="4855464"/>
            <a:ext cx="3337560" cy="502920"/>
          </a:xfrm>
          <a:prstGeom prst="rect">
            <a:avLst/>
          </a:prstGeom>
          <a:noFill/>
        </p:spPr>
        <p:txBody>
          <a:bodyPr wrap="square" lIns="0" rIns="0" tIns="0" bIns="0" anchor="t">
            <a:spAutoFit/>
          </a:bodyPr>
          <a:lstStyle/>
          <a:p>
            <a:pPr algn="l">
              <a:lnSpc>
                <a:spcPct val="120000"/>
              </a:lnSpc>
            </a:pPr>
            <a:r>
              <a:rPr sz="1300" b="1" i="0">
                <a:solidFill>
                  <a:srgbClr val="111827"/>
                </a:solidFill>
                <a:latin typeface="Helvetica Neue"/>
              </a:rPr>
              <a:t>Why did this frame feel professionally natural?</a:t>
            </a:r>
          </a:p>
        </p:txBody>
      </p:sp>
      <p:sp>
        <p:nvSpPr>
          <p:cNvPr id="19" name="TextBox 18"/>
          <p:cNvSpPr txBox="1"/>
          <p:nvPr/>
        </p:nvSpPr>
        <p:spPr>
          <a:xfrm>
            <a:off x="502920" y="6537960"/>
            <a:ext cx="10058400" cy="274320"/>
          </a:xfrm>
          <a:prstGeom prst="rect">
            <a:avLst/>
          </a:prstGeom>
          <a:noFill/>
        </p:spPr>
        <p:txBody>
          <a:bodyPr wrap="square" lIns="0" rIns="0" tIns="0" bIns="0" anchor="t">
            <a:spAutoFit/>
          </a:bodyPr>
          <a:lstStyle/>
          <a:p>
            <a:pPr algn="l">
              <a:lnSpc>
                <a:spcPct val="120000"/>
              </a:lnSpc>
            </a:pPr>
            <a:r>
              <a:rPr sz="700" b="0" i="0">
                <a:solidFill>
                  <a:srgbClr val="64748B"/>
                </a:solidFill>
                <a:latin typeface="Helvetica Neue"/>
              </a:rPr>
              <a:t>WSJ headline reproduced from the article under analysis (Wall, Tangel, Pasztor — Mar 11, 2019). Citation corroborated in House Transportation Committee 737 MAX report.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8872" cy="685800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277295" y="6537960"/>
            <a:ext cx="457200" cy="274320"/>
          </a:xfrm>
          <a:prstGeom prst="rect">
            <a:avLst/>
          </a:prstGeom>
          <a:noFill/>
        </p:spPr>
        <p:txBody>
          <a:bodyPr wrap="square" lIns="0" rIns="0" tIns="0" bIns="0" anchor="t">
            <a:spAutoFit/>
          </a:bodyPr>
          <a:lstStyle/>
          <a:p>
            <a:pPr algn="r">
              <a:lnSpc>
                <a:spcPct val="120000"/>
              </a:lnSpc>
            </a:pPr>
            <a:r>
              <a:rPr sz="800" b="1" i="0">
                <a:solidFill>
                  <a:srgbClr val="64748B"/>
                </a:solidFill>
                <a:latin typeface="Helvetica Neue"/>
              </a:rPr>
              <a:t>02</a:t>
            </a:r>
          </a:p>
        </p:txBody>
      </p:sp>
      <p:sp>
        <p:nvSpPr>
          <p:cNvPr id="5" name="TextBox 4"/>
          <p:cNvSpPr txBox="1"/>
          <p:nvPr/>
        </p:nvSpPr>
        <p:spPr>
          <a:xfrm>
            <a:off x="502920" y="457200"/>
            <a:ext cx="10972800" cy="274320"/>
          </a:xfrm>
          <a:prstGeom prst="rect">
            <a:avLst/>
          </a:prstGeom>
          <a:noFill/>
        </p:spPr>
        <p:txBody>
          <a:bodyPr wrap="square" lIns="0" rIns="0" tIns="0" bIns="0" anchor="t">
            <a:spAutoFit/>
          </a:bodyPr>
          <a:lstStyle/>
          <a:p>
            <a:pPr algn="l">
              <a:lnSpc>
                <a:spcPct val="120000"/>
              </a:lnSpc>
            </a:pPr>
            <a:r>
              <a:rPr sz="900" b="1" i="0">
                <a:solidFill>
                  <a:srgbClr val="1D4ED8"/>
                </a:solidFill>
                <a:latin typeface="Helvetica Neue"/>
              </a:rPr>
              <a:t>THE STRUCTURAL FACTS</a:t>
            </a:r>
          </a:p>
        </p:txBody>
      </p:sp>
      <p:sp>
        <p:nvSpPr>
          <p:cNvPr id="6" name="TextBox 5"/>
          <p:cNvSpPr txBox="1"/>
          <p:nvPr/>
        </p:nvSpPr>
        <p:spPr>
          <a:xfrm>
            <a:off x="502920" y="758952"/>
            <a:ext cx="11430000" cy="777240"/>
          </a:xfrm>
          <a:prstGeom prst="rect">
            <a:avLst/>
          </a:prstGeom>
          <a:noFill/>
        </p:spPr>
        <p:txBody>
          <a:bodyPr wrap="square" lIns="0" rIns="0" tIns="0" bIns="0" anchor="t">
            <a:spAutoFit/>
          </a:bodyPr>
          <a:lstStyle/>
          <a:p>
            <a:pPr algn="l">
              <a:lnSpc>
                <a:spcPct val="110000"/>
              </a:lnSpc>
            </a:pPr>
            <a:r>
              <a:rPr sz="3000" b="1" i="0">
                <a:solidFill>
                  <a:srgbClr val="111827"/>
                </a:solidFill>
                <a:latin typeface="Helvetica Neue"/>
              </a:rPr>
              <a:t>Within 72 hours, the world grounded the aircraft. The FAA didn’t.</a:t>
            </a:r>
          </a:p>
        </p:txBody>
      </p:sp>
      <p:sp>
        <p:nvSpPr>
          <p:cNvPr id="7" name="TextBox 6"/>
          <p:cNvSpPr txBox="1"/>
          <p:nvPr/>
        </p:nvSpPr>
        <p:spPr>
          <a:xfrm>
            <a:off x="502920" y="1627632"/>
            <a:ext cx="11430000" cy="411480"/>
          </a:xfrm>
          <a:prstGeom prst="rect">
            <a:avLst/>
          </a:prstGeom>
          <a:noFill/>
        </p:spPr>
        <p:txBody>
          <a:bodyPr wrap="square" lIns="0" rIns="0" tIns="0" bIns="0" anchor="t">
            <a:spAutoFit/>
          </a:bodyPr>
          <a:lstStyle/>
          <a:p>
            <a:pPr algn="l">
              <a:lnSpc>
                <a:spcPct val="130000"/>
              </a:lnSpc>
            </a:pPr>
            <a:r>
              <a:rPr sz="1300" b="0" i="0">
                <a:solidFill>
                  <a:srgbClr val="64748B"/>
                </a:solidFill>
                <a:latin typeface="Helvetica Neue"/>
              </a:rPr>
              <a:t>Before the model: hold the timeline in mind. China grounded the 737 MAX before the WSJ article ran.</a:t>
            </a:r>
          </a:p>
        </p:txBody>
      </p:sp>
      <p:sp>
        <p:nvSpPr>
          <p:cNvPr id="8" name="Rectangle 7"/>
          <p:cNvSpPr/>
          <p:nvPr/>
        </p:nvSpPr>
        <p:spPr>
          <a:xfrm>
            <a:off x="777240" y="3246120"/>
            <a:ext cx="10607040" cy="28000"/>
          </a:xfrm>
          <a:prstGeom prst="rect">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22222" y="3154680"/>
            <a:ext cx="182880" cy="182880"/>
          </a:xfrm>
          <a:prstGeom prst="ellipse">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99262" y="2286000"/>
            <a:ext cx="1828800" cy="274320"/>
          </a:xfrm>
          <a:prstGeom prst="rect">
            <a:avLst/>
          </a:prstGeom>
          <a:noFill/>
        </p:spPr>
        <p:txBody>
          <a:bodyPr wrap="square" lIns="0" rIns="0" tIns="0" bIns="0" anchor="t">
            <a:spAutoFit/>
          </a:bodyPr>
          <a:lstStyle/>
          <a:p>
            <a:pPr algn="ctr">
              <a:lnSpc>
                <a:spcPct val="120000"/>
              </a:lnSpc>
            </a:pPr>
            <a:r>
              <a:rPr sz="1000" b="1" i="0">
                <a:solidFill>
                  <a:srgbClr val="111827"/>
                </a:solidFill>
                <a:latin typeface="Helvetica Neue"/>
              </a:rPr>
              <a:t>Oct 29, 2018</a:t>
            </a:r>
          </a:p>
        </p:txBody>
      </p:sp>
      <p:sp>
        <p:nvSpPr>
          <p:cNvPr id="11" name="TextBox 10"/>
          <p:cNvSpPr txBox="1"/>
          <p:nvPr/>
        </p:nvSpPr>
        <p:spPr>
          <a:xfrm>
            <a:off x="407822" y="3410712"/>
            <a:ext cx="2011680" cy="320040"/>
          </a:xfrm>
          <a:prstGeom prst="rect">
            <a:avLst/>
          </a:prstGeom>
          <a:noFill/>
        </p:spPr>
        <p:txBody>
          <a:bodyPr wrap="square" lIns="0" rIns="0" tIns="0" bIns="0" anchor="t">
            <a:spAutoFit/>
          </a:bodyPr>
          <a:lstStyle/>
          <a:p>
            <a:pPr algn="ctr">
              <a:lnSpc>
                <a:spcPct val="120000"/>
              </a:lnSpc>
            </a:pPr>
            <a:r>
              <a:rPr sz="1100" b="1" i="0">
                <a:solidFill>
                  <a:srgbClr val="111827"/>
                </a:solidFill>
                <a:latin typeface="Helvetica Neue"/>
              </a:rPr>
              <a:t>Lion Air 610</a:t>
            </a:r>
          </a:p>
        </p:txBody>
      </p:sp>
      <p:sp>
        <p:nvSpPr>
          <p:cNvPr id="12" name="TextBox 11"/>
          <p:cNvSpPr txBox="1"/>
          <p:nvPr/>
        </p:nvSpPr>
        <p:spPr>
          <a:xfrm>
            <a:off x="407822" y="3749040"/>
            <a:ext cx="2011680" cy="274320"/>
          </a:xfrm>
          <a:prstGeom prst="rect">
            <a:avLst/>
          </a:prstGeom>
          <a:noFill/>
        </p:spPr>
        <p:txBody>
          <a:bodyPr wrap="square" lIns="0" rIns="0" tIns="0" bIns="0" anchor="t">
            <a:spAutoFit/>
          </a:bodyPr>
          <a:lstStyle/>
          <a:p>
            <a:pPr algn="ctr">
              <a:lnSpc>
                <a:spcPct val="120000"/>
              </a:lnSpc>
            </a:pPr>
            <a:r>
              <a:rPr sz="900" b="0" i="1">
                <a:solidFill>
                  <a:srgbClr val="B91C1C"/>
                </a:solidFill>
                <a:latin typeface="Helvetica Neue"/>
              </a:rPr>
              <a:t>189 dead</a:t>
            </a:r>
          </a:p>
        </p:txBody>
      </p:sp>
      <p:sp>
        <p:nvSpPr>
          <p:cNvPr id="13" name="Oval 12"/>
          <p:cNvSpPr/>
          <p:nvPr/>
        </p:nvSpPr>
        <p:spPr>
          <a:xfrm>
            <a:off x="3337560" y="3154680"/>
            <a:ext cx="182880" cy="182880"/>
          </a:xfrm>
          <a:prstGeom prst="ellipse">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514600" y="2286000"/>
            <a:ext cx="1828800" cy="274320"/>
          </a:xfrm>
          <a:prstGeom prst="rect">
            <a:avLst/>
          </a:prstGeom>
          <a:noFill/>
        </p:spPr>
        <p:txBody>
          <a:bodyPr wrap="square" lIns="0" rIns="0" tIns="0" bIns="0" anchor="t">
            <a:spAutoFit/>
          </a:bodyPr>
          <a:lstStyle/>
          <a:p>
            <a:pPr algn="ctr">
              <a:lnSpc>
                <a:spcPct val="120000"/>
              </a:lnSpc>
            </a:pPr>
            <a:r>
              <a:rPr sz="1000" b="1" i="0">
                <a:solidFill>
                  <a:srgbClr val="111827"/>
                </a:solidFill>
                <a:latin typeface="Helvetica Neue"/>
              </a:rPr>
              <a:t>Nov 13, 2018</a:t>
            </a:r>
          </a:p>
        </p:txBody>
      </p:sp>
      <p:sp>
        <p:nvSpPr>
          <p:cNvPr id="15" name="TextBox 14"/>
          <p:cNvSpPr txBox="1"/>
          <p:nvPr/>
        </p:nvSpPr>
        <p:spPr>
          <a:xfrm>
            <a:off x="2423160" y="3410712"/>
            <a:ext cx="2011680" cy="320040"/>
          </a:xfrm>
          <a:prstGeom prst="rect">
            <a:avLst/>
          </a:prstGeom>
          <a:noFill/>
        </p:spPr>
        <p:txBody>
          <a:bodyPr wrap="square" lIns="0" rIns="0" tIns="0" bIns="0" anchor="t">
            <a:spAutoFit/>
          </a:bodyPr>
          <a:lstStyle/>
          <a:p>
            <a:pPr algn="ctr">
              <a:lnSpc>
                <a:spcPct val="120000"/>
              </a:lnSpc>
            </a:pPr>
            <a:r>
              <a:rPr sz="1100" b="1" i="0">
                <a:solidFill>
                  <a:srgbClr val="111827"/>
                </a:solidFill>
                <a:latin typeface="Helvetica Neue"/>
              </a:rPr>
              <a:t>MCAS revealed (WSJ)</a:t>
            </a:r>
          </a:p>
        </p:txBody>
      </p:sp>
      <p:sp>
        <p:nvSpPr>
          <p:cNvPr id="16" name="TextBox 15"/>
          <p:cNvSpPr txBox="1"/>
          <p:nvPr/>
        </p:nvSpPr>
        <p:spPr>
          <a:xfrm>
            <a:off x="2423160" y="3749040"/>
            <a:ext cx="2011680" cy="274320"/>
          </a:xfrm>
          <a:prstGeom prst="rect">
            <a:avLst/>
          </a:prstGeom>
          <a:noFill/>
        </p:spPr>
        <p:txBody>
          <a:bodyPr wrap="square" lIns="0" rIns="0" tIns="0" bIns="0" anchor="t">
            <a:spAutoFit/>
          </a:bodyPr>
          <a:lstStyle/>
          <a:p>
            <a:pPr algn="ctr">
              <a:lnSpc>
                <a:spcPct val="120000"/>
              </a:lnSpc>
            </a:pPr>
            <a:r>
              <a:rPr sz="900" b="0" i="1">
                <a:solidFill>
                  <a:srgbClr val="B91C1C"/>
                </a:solidFill>
                <a:latin typeface="Helvetica Neue"/>
              </a:rPr>
              <a:t>Pasztor / Tangel</a:t>
            </a:r>
          </a:p>
        </p:txBody>
      </p:sp>
      <p:sp>
        <p:nvSpPr>
          <p:cNvPr id="17" name="Oval 16"/>
          <p:cNvSpPr/>
          <p:nvPr/>
        </p:nvSpPr>
        <p:spPr>
          <a:xfrm>
            <a:off x="5989320" y="3154680"/>
            <a:ext cx="182880" cy="182880"/>
          </a:xfrm>
          <a:prstGeom prst="ellipse">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166360" y="2286000"/>
            <a:ext cx="1828800" cy="274320"/>
          </a:xfrm>
          <a:prstGeom prst="rect">
            <a:avLst/>
          </a:prstGeom>
          <a:noFill/>
        </p:spPr>
        <p:txBody>
          <a:bodyPr wrap="square" lIns="0" rIns="0" tIns="0" bIns="0" anchor="t">
            <a:spAutoFit/>
          </a:bodyPr>
          <a:lstStyle/>
          <a:p>
            <a:pPr algn="ctr">
              <a:lnSpc>
                <a:spcPct val="120000"/>
              </a:lnSpc>
            </a:pPr>
            <a:r>
              <a:rPr sz="1000" b="1" i="0">
                <a:solidFill>
                  <a:srgbClr val="111827"/>
                </a:solidFill>
                <a:latin typeface="Helvetica Neue"/>
              </a:rPr>
              <a:t>Mar 10, 2019</a:t>
            </a:r>
          </a:p>
        </p:txBody>
      </p:sp>
      <p:sp>
        <p:nvSpPr>
          <p:cNvPr id="19" name="TextBox 18"/>
          <p:cNvSpPr txBox="1"/>
          <p:nvPr/>
        </p:nvSpPr>
        <p:spPr>
          <a:xfrm>
            <a:off x="5074920" y="3410712"/>
            <a:ext cx="2011680" cy="320040"/>
          </a:xfrm>
          <a:prstGeom prst="rect">
            <a:avLst/>
          </a:prstGeom>
          <a:noFill/>
        </p:spPr>
        <p:txBody>
          <a:bodyPr wrap="square" lIns="0" rIns="0" tIns="0" bIns="0" anchor="t">
            <a:spAutoFit/>
          </a:bodyPr>
          <a:lstStyle/>
          <a:p>
            <a:pPr algn="ctr">
              <a:lnSpc>
                <a:spcPct val="120000"/>
              </a:lnSpc>
            </a:pPr>
            <a:r>
              <a:rPr sz="1100" b="1" i="0">
                <a:solidFill>
                  <a:srgbClr val="111827"/>
                </a:solidFill>
                <a:latin typeface="Helvetica Neue"/>
              </a:rPr>
              <a:t>Ethiopian 302</a:t>
            </a:r>
          </a:p>
        </p:txBody>
      </p:sp>
      <p:sp>
        <p:nvSpPr>
          <p:cNvPr id="20" name="TextBox 19"/>
          <p:cNvSpPr txBox="1"/>
          <p:nvPr/>
        </p:nvSpPr>
        <p:spPr>
          <a:xfrm>
            <a:off x="5074920" y="3749040"/>
            <a:ext cx="2011680" cy="274320"/>
          </a:xfrm>
          <a:prstGeom prst="rect">
            <a:avLst/>
          </a:prstGeom>
          <a:noFill/>
        </p:spPr>
        <p:txBody>
          <a:bodyPr wrap="square" lIns="0" rIns="0" tIns="0" bIns="0" anchor="t">
            <a:spAutoFit/>
          </a:bodyPr>
          <a:lstStyle/>
          <a:p>
            <a:pPr algn="ctr">
              <a:lnSpc>
                <a:spcPct val="120000"/>
              </a:lnSpc>
            </a:pPr>
            <a:r>
              <a:rPr sz="900" b="0" i="1">
                <a:solidFill>
                  <a:srgbClr val="B91C1C"/>
                </a:solidFill>
                <a:latin typeface="Helvetica Neue"/>
              </a:rPr>
              <a:t>157 dead</a:t>
            </a:r>
          </a:p>
        </p:txBody>
      </p:sp>
      <p:sp>
        <p:nvSpPr>
          <p:cNvPr id="21" name="Oval 20"/>
          <p:cNvSpPr/>
          <p:nvPr/>
        </p:nvSpPr>
        <p:spPr>
          <a:xfrm>
            <a:off x="8322868" y="3154680"/>
            <a:ext cx="182880" cy="182880"/>
          </a:xfrm>
          <a:prstGeom prst="ellipse">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99908" y="2286000"/>
            <a:ext cx="1828800" cy="274320"/>
          </a:xfrm>
          <a:prstGeom prst="rect">
            <a:avLst/>
          </a:prstGeom>
          <a:noFill/>
        </p:spPr>
        <p:txBody>
          <a:bodyPr wrap="square" lIns="0" rIns="0" tIns="0" bIns="0" anchor="t">
            <a:spAutoFit/>
          </a:bodyPr>
          <a:lstStyle/>
          <a:p>
            <a:pPr algn="ctr">
              <a:lnSpc>
                <a:spcPct val="120000"/>
              </a:lnSpc>
            </a:pPr>
            <a:r>
              <a:rPr sz="1000" b="1" i="0">
                <a:solidFill>
                  <a:srgbClr val="111827"/>
                </a:solidFill>
                <a:latin typeface="Helvetica Neue"/>
              </a:rPr>
              <a:t>Mar 11 AM</a:t>
            </a:r>
          </a:p>
        </p:txBody>
      </p:sp>
      <p:sp>
        <p:nvSpPr>
          <p:cNvPr id="23" name="TextBox 22"/>
          <p:cNvSpPr txBox="1"/>
          <p:nvPr/>
        </p:nvSpPr>
        <p:spPr>
          <a:xfrm>
            <a:off x="7408468" y="3410712"/>
            <a:ext cx="2011680" cy="320040"/>
          </a:xfrm>
          <a:prstGeom prst="rect">
            <a:avLst/>
          </a:prstGeom>
          <a:noFill/>
        </p:spPr>
        <p:txBody>
          <a:bodyPr wrap="square" lIns="0" rIns="0" tIns="0" bIns="0" anchor="t">
            <a:spAutoFit/>
          </a:bodyPr>
          <a:lstStyle/>
          <a:p>
            <a:pPr algn="ctr">
              <a:lnSpc>
                <a:spcPct val="120000"/>
              </a:lnSpc>
            </a:pPr>
            <a:r>
              <a:rPr sz="1100" b="1" i="0">
                <a:solidFill>
                  <a:srgbClr val="111827"/>
                </a:solidFill>
                <a:latin typeface="Helvetica Neue"/>
              </a:rPr>
              <a:t>China grounds 737 MAX</a:t>
            </a:r>
          </a:p>
        </p:txBody>
      </p:sp>
      <p:sp>
        <p:nvSpPr>
          <p:cNvPr id="24" name="TextBox 23"/>
          <p:cNvSpPr txBox="1"/>
          <p:nvPr/>
        </p:nvSpPr>
        <p:spPr>
          <a:xfrm>
            <a:off x="7408468" y="3749040"/>
            <a:ext cx="2011680" cy="274320"/>
          </a:xfrm>
          <a:prstGeom prst="rect">
            <a:avLst/>
          </a:prstGeom>
          <a:noFill/>
        </p:spPr>
        <p:txBody>
          <a:bodyPr wrap="square" lIns="0" rIns="0" tIns="0" bIns="0" anchor="t">
            <a:spAutoFit/>
          </a:bodyPr>
          <a:lstStyle/>
          <a:p>
            <a:pPr algn="ctr">
              <a:lnSpc>
                <a:spcPct val="120000"/>
              </a:lnSpc>
            </a:pPr>
            <a:r>
              <a:rPr sz="900" b="0" i="1">
                <a:solidFill>
                  <a:srgbClr val="B91C1C"/>
                </a:solidFill>
                <a:latin typeface="Helvetica Neue"/>
              </a:rPr>
              <a:t>before WSJ article</a:t>
            </a:r>
          </a:p>
        </p:txBody>
      </p:sp>
      <p:sp>
        <p:nvSpPr>
          <p:cNvPr id="25" name="Oval 24"/>
          <p:cNvSpPr/>
          <p:nvPr/>
        </p:nvSpPr>
        <p:spPr>
          <a:xfrm>
            <a:off x="10762488" y="3154680"/>
            <a:ext cx="182880" cy="182880"/>
          </a:xfrm>
          <a:prstGeom prst="ellipse">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939528" y="2286000"/>
            <a:ext cx="1828800" cy="274320"/>
          </a:xfrm>
          <a:prstGeom prst="rect">
            <a:avLst/>
          </a:prstGeom>
          <a:noFill/>
        </p:spPr>
        <p:txBody>
          <a:bodyPr wrap="square" lIns="0" rIns="0" tIns="0" bIns="0" anchor="t">
            <a:spAutoFit/>
          </a:bodyPr>
          <a:lstStyle/>
          <a:p>
            <a:pPr algn="ctr">
              <a:lnSpc>
                <a:spcPct val="120000"/>
              </a:lnSpc>
            </a:pPr>
            <a:r>
              <a:rPr sz="1000" b="1" i="0">
                <a:solidFill>
                  <a:srgbClr val="111827"/>
                </a:solidFill>
                <a:latin typeface="Helvetica Neue"/>
              </a:rPr>
              <a:t>Mar 13</a:t>
            </a:r>
          </a:p>
        </p:txBody>
      </p:sp>
      <p:sp>
        <p:nvSpPr>
          <p:cNvPr id="27" name="TextBox 26"/>
          <p:cNvSpPr txBox="1"/>
          <p:nvPr/>
        </p:nvSpPr>
        <p:spPr>
          <a:xfrm>
            <a:off x="9848088" y="3410712"/>
            <a:ext cx="2011680" cy="320040"/>
          </a:xfrm>
          <a:prstGeom prst="rect">
            <a:avLst/>
          </a:prstGeom>
          <a:noFill/>
        </p:spPr>
        <p:txBody>
          <a:bodyPr wrap="square" lIns="0" rIns="0" tIns="0" bIns="0" anchor="t">
            <a:spAutoFit/>
          </a:bodyPr>
          <a:lstStyle/>
          <a:p>
            <a:pPr algn="ctr">
              <a:lnSpc>
                <a:spcPct val="120000"/>
              </a:lnSpc>
            </a:pPr>
            <a:r>
              <a:rPr sz="1100" b="1" i="0">
                <a:solidFill>
                  <a:srgbClr val="111827"/>
                </a:solidFill>
                <a:latin typeface="Helvetica Neue"/>
              </a:rPr>
              <a:t>FAA finally grounds</a:t>
            </a:r>
          </a:p>
        </p:txBody>
      </p:sp>
      <p:sp>
        <p:nvSpPr>
          <p:cNvPr id="28" name="TextBox 27"/>
          <p:cNvSpPr txBox="1"/>
          <p:nvPr/>
        </p:nvSpPr>
        <p:spPr>
          <a:xfrm>
            <a:off x="9848088" y="3749040"/>
            <a:ext cx="2011680" cy="274320"/>
          </a:xfrm>
          <a:prstGeom prst="rect">
            <a:avLst/>
          </a:prstGeom>
          <a:noFill/>
        </p:spPr>
        <p:txBody>
          <a:bodyPr wrap="square" lIns="0" rIns="0" tIns="0" bIns="0" anchor="t">
            <a:spAutoFit/>
          </a:bodyPr>
          <a:lstStyle/>
          <a:p>
            <a:pPr algn="ctr">
              <a:lnSpc>
                <a:spcPct val="120000"/>
              </a:lnSpc>
            </a:pPr>
            <a:r>
              <a:rPr sz="900" b="0" i="1">
                <a:solidFill>
                  <a:srgbClr val="B91C1C"/>
                </a:solidFill>
                <a:latin typeface="Helvetica Neue"/>
              </a:rPr>
              <a:t>(last major)</a:t>
            </a:r>
          </a:p>
        </p:txBody>
      </p:sp>
      <p:sp>
        <p:nvSpPr>
          <p:cNvPr id="29" name="Rectangle 28"/>
          <p:cNvSpPr/>
          <p:nvPr/>
        </p:nvSpPr>
        <p:spPr>
          <a:xfrm>
            <a:off x="502920" y="4663440"/>
            <a:ext cx="3611880" cy="1143000"/>
          </a:xfrm>
          <a:prstGeom prst="rect">
            <a:avLst/>
          </a:prstGeom>
          <a:solidFill>
            <a:srgbClr val="F9FAFB"/>
          </a:solidFill>
          <a:ln w="9525">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77240" y="4800600"/>
            <a:ext cx="1371600" cy="822960"/>
          </a:xfrm>
          <a:prstGeom prst="rect">
            <a:avLst/>
          </a:prstGeom>
          <a:noFill/>
        </p:spPr>
        <p:txBody>
          <a:bodyPr wrap="square" lIns="0" rIns="0" tIns="0" bIns="0" anchor="t">
            <a:spAutoFit/>
          </a:bodyPr>
          <a:lstStyle/>
          <a:p>
            <a:pPr algn="l">
              <a:lnSpc>
                <a:spcPct val="100000"/>
              </a:lnSpc>
            </a:pPr>
            <a:r>
              <a:rPr sz="5000" b="1" i="0">
                <a:solidFill>
                  <a:srgbClr val="111827"/>
                </a:solidFill>
                <a:latin typeface="Helvetica Neue"/>
              </a:rPr>
              <a:t>132</a:t>
            </a:r>
          </a:p>
        </p:txBody>
      </p:sp>
      <p:sp>
        <p:nvSpPr>
          <p:cNvPr id="31" name="TextBox 30"/>
          <p:cNvSpPr txBox="1"/>
          <p:nvPr/>
        </p:nvSpPr>
        <p:spPr>
          <a:xfrm>
            <a:off x="2331720" y="4892040"/>
            <a:ext cx="1645920" cy="868680"/>
          </a:xfrm>
          <a:prstGeom prst="rect">
            <a:avLst/>
          </a:prstGeom>
          <a:noFill/>
        </p:spPr>
        <p:txBody>
          <a:bodyPr wrap="square" lIns="0" rIns="0" tIns="0" bIns="0" anchor="t">
            <a:spAutoFit/>
          </a:bodyPr>
          <a:lstStyle/>
          <a:p>
            <a:pPr algn="l">
              <a:lnSpc>
                <a:spcPct val="130000"/>
              </a:lnSpc>
            </a:pPr>
            <a:r>
              <a:rPr sz="1100" b="0" i="0">
                <a:solidFill>
                  <a:srgbClr val="111827"/>
                </a:solidFill>
                <a:latin typeface="Helvetica Neue"/>
              </a:rPr>
              <a:t>days separated Lion Air and Ethiopian</a:t>
            </a:r>
          </a:p>
        </p:txBody>
      </p:sp>
      <p:sp>
        <p:nvSpPr>
          <p:cNvPr id="32" name="Rectangle 31"/>
          <p:cNvSpPr/>
          <p:nvPr/>
        </p:nvSpPr>
        <p:spPr>
          <a:xfrm>
            <a:off x="4251960" y="4663440"/>
            <a:ext cx="3611880" cy="1143000"/>
          </a:xfrm>
          <a:prstGeom prst="rect">
            <a:avLst/>
          </a:prstGeom>
          <a:solidFill>
            <a:srgbClr val="F9FAFB"/>
          </a:solidFill>
          <a:ln w="9525">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526280" y="4800600"/>
            <a:ext cx="1371600" cy="822960"/>
          </a:xfrm>
          <a:prstGeom prst="rect">
            <a:avLst/>
          </a:prstGeom>
          <a:noFill/>
        </p:spPr>
        <p:txBody>
          <a:bodyPr wrap="square" lIns="0" rIns="0" tIns="0" bIns="0" anchor="t">
            <a:spAutoFit/>
          </a:bodyPr>
          <a:lstStyle/>
          <a:p>
            <a:pPr algn="l">
              <a:lnSpc>
                <a:spcPct val="100000"/>
              </a:lnSpc>
            </a:pPr>
            <a:r>
              <a:rPr sz="5000" b="1" i="0">
                <a:solidFill>
                  <a:srgbClr val="1D4ED8"/>
                </a:solidFill>
                <a:latin typeface="Helvetica Neue"/>
              </a:rPr>
              <a:t>51</a:t>
            </a:r>
          </a:p>
        </p:txBody>
      </p:sp>
      <p:sp>
        <p:nvSpPr>
          <p:cNvPr id="34" name="TextBox 33"/>
          <p:cNvSpPr txBox="1"/>
          <p:nvPr/>
        </p:nvSpPr>
        <p:spPr>
          <a:xfrm>
            <a:off x="6080760" y="4892040"/>
            <a:ext cx="1645920" cy="868680"/>
          </a:xfrm>
          <a:prstGeom prst="rect">
            <a:avLst/>
          </a:prstGeom>
          <a:noFill/>
        </p:spPr>
        <p:txBody>
          <a:bodyPr wrap="square" lIns="0" rIns="0" tIns="0" bIns="0" anchor="t">
            <a:spAutoFit/>
          </a:bodyPr>
          <a:lstStyle/>
          <a:p>
            <a:pPr algn="l">
              <a:lnSpc>
                <a:spcPct val="130000"/>
              </a:lnSpc>
            </a:pPr>
            <a:r>
              <a:rPr sz="1100" b="0" i="0">
                <a:solidFill>
                  <a:srgbClr val="111827"/>
                </a:solidFill>
                <a:latin typeface="Helvetica Neue"/>
              </a:rPr>
              <a:t>regulators grounded the 737 MAX within 72 hours of Ethiopian</a:t>
            </a:r>
          </a:p>
        </p:txBody>
      </p:sp>
      <p:sp>
        <p:nvSpPr>
          <p:cNvPr id="35" name="Rectangle 34"/>
          <p:cNvSpPr/>
          <p:nvPr/>
        </p:nvSpPr>
        <p:spPr>
          <a:xfrm>
            <a:off x="8001000" y="4663440"/>
            <a:ext cx="3611880" cy="1143000"/>
          </a:xfrm>
          <a:prstGeom prst="rect">
            <a:avLst/>
          </a:prstGeom>
          <a:solidFill>
            <a:srgbClr val="F9FAFB"/>
          </a:solidFill>
          <a:ln w="9525">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275320" y="4800600"/>
            <a:ext cx="1371600" cy="822960"/>
          </a:xfrm>
          <a:prstGeom prst="rect">
            <a:avLst/>
          </a:prstGeom>
          <a:noFill/>
        </p:spPr>
        <p:txBody>
          <a:bodyPr wrap="square" lIns="0" rIns="0" tIns="0" bIns="0" anchor="t">
            <a:spAutoFit/>
          </a:bodyPr>
          <a:lstStyle/>
          <a:p>
            <a:pPr algn="l">
              <a:lnSpc>
                <a:spcPct val="100000"/>
              </a:lnSpc>
            </a:pPr>
            <a:r>
              <a:rPr sz="5000" b="1" i="0">
                <a:solidFill>
                  <a:srgbClr val="B91C1C"/>
                </a:solidFill>
                <a:latin typeface="Helvetica Neue"/>
              </a:rPr>
              <a:t>72</a:t>
            </a:r>
          </a:p>
        </p:txBody>
      </p:sp>
      <p:sp>
        <p:nvSpPr>
          <p:cNvPr id="37" name="TextBox 36"/>
          <p:cNvSpPr txBox="1"/>
          <p:nvPr/>
        </p:nvSpPr>
        <p:spPr>
          <a:xfrm>
            <a:off x="9829800" y="4892040"/>
            <a:ext cx="1645920" cy="868680"/>
          </a:xfrm>
          <a:prstGeom prst="rect">
            <a:avLst/>
          </a:prstGeom>
          <a:noFill/>
        </p:spPr>
        <p:txBody>
          <a:bodyPr wrap="square" lIns="0" rIns="0" tIns="0" bIns="0" anchor="t">
            <a:spAutoFit/>
          </a:bodyPr>
          <a:lstStyle/>
          <a:p>
            <a:pPr algn="l">
              <a:lnSpc>
                <a:spcPct val="130000"/>
              </a:lnSpc>
            </a:pPr>
            <a:r>
              <a:rPr sz="1100" b="0" i="0">
                <a:solidFill>
                  <a:srgbClr val="111827"/>
                </a:solidFill>
                <a:latin typeface="Helvetica Neue"/>
              </a:rPr>
              <a:t>hours the FAA stood alone among major regulators</a:t>
            </a:r>
          </a:p>
        </p:txBody>
      </p:sp>
      <p:sp>
        <p:nvSpPr>
          <p:cNvPr id="38" name="TextBox 37"/>
          <p:cNvSpPr txBox="1"/>
          <p:nvPr/>
        </p:nvSpPr>
        <p:spPr>
          <a:xfrm>
            <a:off x="502920" y="5989320"/>
            <a:ext cx="10515600" cy="320040"/>
          </a:xfrm>
          <a:prstGeom prst="rect">
            <a:avLst/>
          </a:prstGeom>
          <a:noFill/>
        </p:spPr>
        <p:txBody>
          <a:bodyPr wrap="square" lIns="0" rIns="0" tIns="0" bIns="0" anchor="t">
            <a:spAutoFit/>
          </a:bodyPr>
          <a:lstStyle/>
          <a:p>
            <a:pPr algn="ctr">
              <a:lnSpc>
                <a:spcPct val="120000"/>
              </a:lnSpc>
            </a:pPr>
            <a:r>
              <a:rPr sz="1300" b="1" i="0">
                <a:solidFill>
                  <a:srgbClr val="111827"/>
                </a:solidFill>
                <a:latin typeface="Helvetica Neue"/>
              </a:rPr>
              <a:t>The article’s organizing fact is the FAA’s reluctance — not the worldwide consensus.</a:t>
            </a:r>
          </a:p>
        </p:txBody>
      </p:sp>
      <p:sp>
        <p:nvSpPr>
          <p:cNvPr id="39" name="TextBox 38"/>
          <p:cNvSpPr txBox="1"/>
          <p:nvPr/>
        </p:nvSpPr>
        <p:spPr>
          <a:xfrm>
            <a:off x="502920" y="6537960"/>
            <a:ext cx="10058400" cy="274320"/>
          </a:xfrm>
          <a:prstGeom prst="rect">
            <a:avLst/>
          </a:prstGeom>
          <a:noFill/>
        </p:spPr>
        <p:txBody>
          <a:bodyPr wrap="square" lIns="0" rIns="0" tIns="0" bIns="0" anchor="t">
            <a:spAutoFit/>
          </a:bodyPr>
          <a:lstStyle/>
          <a:p>
            <a:pPr algn="l">
              <a:lnSpc>
                <a:spcPct val="120000"/>
              </a:lnSpc>
            </a:pPr>
            <a:r>
              <a:rPr sz="700" b="0" i="0">
                <a:solidFill>
                  <a:srgbClr val="64748B"/>
                </a:solidFill>
                <a:latin typeface="Helvetica Neue"/>
              </a:rPr>
              <a:t>Timeline corroborated in the House Transportation Committee 737 MAX report; grounding sequence per FAA / EASA / CAAC contemporaneous statements.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8872" cy="685800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277295" y="6537960"/>
            <a:ext cx="457200" cy="274320"/>
          </a:xfrm>
          <a:prstGeom prst="rect">
            <a:avLst/>
          </a:prstGeom>
          <a:noFill/>
        </p:spPr>
        <p:txBody>
          <a:bodyPr wrap="square" lIns="0" rIns="0" tIns="0" bIns="0" anchor="t">
            <a:spAutoFit/>
          </a:bodyPr>
          <a:lstStyle/>
          <a:p>
            <a:pPr algn="r">
              <a:lnSpc>
                <a:spcPct val="120000"/>
              </a:lnSpc>
            </a:pPr>
            <a:r>
              <a:rPr sz="800" b="1" i="0">
                <a:solidFill>
                  <a:srgbClr val="64748B"/>
                </a:solidFill>
                <a:latin typeface="Helvetica Neue"/>
              </a:rPr>
              <a:t>03</a:t>
            </a:r>
          </a:p>
        </p:txBody>
      </p:sp>
      <p:sp>
        <p:nvSpPr>
          <p:cNvPr id="5" name="TextBox 4"/>
          <p:cNvSpPr txBox="1"/>
          <p:nvPr/>
        </p:nvSpPr>
        <p:spPr>
          <a:xfrm>
            <a:off x="502920" y="457200"/>
            <a:ext cx="10972800" cy="274320"/>
          </a:xfrm>
          <a:prstGeom prst="rect">
            <a:avLst/>
          </a:prstGeom>
          <a:noFill/>
        </p:spPr>
        <p:txBody>
          <a:bodyPr wrap="square" lIns="0" rIns="0" tIns="0" bIns="0" anchor="t">
            <a:spAutoFit/>
          </a:bodyPr>
          <a:lstStyle/>
          <a:p>
            <a:pPr algn="l">
              <a:lnSpc>
                <a:spcPct val="120000"/>
              </a:lnSpc>
            </a:pPr>
            <a:r>
              <a:rPr sz="900" b="1" i="0">
                <a:solidFill>
                  <a:srgbClr val="1D4ED8"/>
                </a:solidFill>
                <a:latin typeface="Helvetica Neue"/>
              </a:rPr>
              <a:t>THE MODEL</a:t>
            </a:r>
          </a:p>
        </p:txBody>
      </p:sp>
      <p:sp>
        <p:nvSpPr>
          <p:cNvPr id="6" name="TextBox 5"/>
          <p:cNvSpPr txBox="1"/>
          <p:nvPr/>
        </p:nvSpPr>
        <p:spPr>
          <a:xfrm>
            <a:off x="502920" y="758952"/>
            <a:ext cx="11430000" cy="777240"/>
          </a:xfrm>
          <a:prstGeom prst="rect">
            <a:avLst/>
          </a:prstGeom>
          <a:noFill/>
        </p:spPr>
        <p:txBody>
          <a:bodyPr wrap="square" lIns="0" rIns="0" tIns="0" bIns="0" anchor="t">
            <a:spAutoFit/>
          </a:bodyPr>
          <a:lstStyle/>
          <a:p>
            <a:pPr algn="l">
              <a:lnSpc>
                <a:spcPct val="110000"/>
              </a:lnSpc>
            </a:pPr>
            <a:r>
              <a:rPr sz="3000" b="1" i="0">
                <a:solidFill>
                  <a:srgbClr val="111827"/>
                </a:solidFill>
                <a:latin typeface="Helvetica Neue"/>
              </a:rPr>
              <a:t>Chomsky predicts selection, not puppetry.</a:t>
            </a:r>
          </a:p>
        </p:txBody>
      </p:sp>
      <p:sp>
        <p:nvSpPr>
          <p:cNvPr id="7" name="TextBox 6"/>
          <p:cNvSpPr txBox="1"/>
          <p:nvPr/>
        </p:nvSpPr>
        <p:spPr>
          <a:xfrm>
            <a:off x="502920" y="1627632"/>
            <a:ext cx="11430000" cy="411480"/>
          </a:xfrm>
          <a:prstGeom prst="rect">
            <a:avLst/>
          </a:prstGeom>
          <a:noFill/>
        </p:spPr>
        <p:txBody>
          <a:bodyPr wrap="square" lIns="0" rIns="0" tIns="0" bIns="0" anchor="t">
            <a:spAutoFit/>
          </a:bodyPr>
          <a:lstStyle/>
          <a:p>
            <a:pPr algn="l">
              <a:lnSpc>
                <a:spcPct val="130000"/>
              </a:lnSpc>
            </a:pPr>
            <a:r>
              <a:rPr sz="1300" b="0" i="0">
                <a:solidFill>
                  <a:srgbClr val="64748B"/>
                </a:solidFill>
                <a:latin typeface="Helvetica Neue"/>
              </a:rPr>
              <a:t>The useful question is degree of fit — which filters are article-level evidence, and which are background conditions.</a:t>
            </a:r>
          </a:p>
        </p:txBody>
      </p:sp>
      <p:sp>
        <p:nvSpPr>
          <p:cNvPr id="8" name="Rectangle 7"/>
          <p:cNvSpPr/>
          <p:nvPr/>
        </p:nvSpPr>
        <p:spPr>
          <a:xfrm>
            <a:off x="502920" y="2331720"/>
            <a:ext cx="2103120" cy="1280160"/>
          </a:xfrm>
          <a:prstGeom prst="rect">
            <a:avLst/>
          </a:prstGeom>
          <a:solidFill>
            <a:srgbClr val="F9FAFB"/>
          </a:solidFill>
          <a:ln w="9525">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2496312"/>
            <a:ext cx="365760" cy="320040"/>
          </a:xfrm>
          <a:prstGeom prst="rect">
            <a:avLst/>
          </a:prstGeom>
          <a:noFill/>
        </p:spPr>
        <p:txBody>
          <a:bodyPr wrap="square" lIns="0" rIns="0" tIns="0" bIns="0" anchor="t">
            <a:spAutoFit/>
          </a:bodyPr>
          <a:lstStyle/>
          <a:p>
            <a:pPr algn="l">
              <a:lnSpc>
                <a:spcPct val="120000"/>
              </a:lnSpc>
            </a:pPr>
            <a:r>
              <a:rPr sz="1400" b="1" i="0">
                <a:solidFill>
                  <a:srgbClr val="1D4ED8"/>
                </a:solidFill>
                <a:latin typeface="Helvetica Neue"/>
              </a:rPr>
              <a:t>1</a:t>
            </a:r>
          </a:p>
        </p:txBody>
      </p:sp>
      <p:sp>
        <p:nvSpPr>
          <p:cNvPr id="10" name="TextBox 9"/>
          <p:cNvSpPr txBox="1"/>
          <p:nvPr/>
        </p:nvSpPr>
        <p:spPr>
          <a:xfrm>
            <a:off x="1143000" y="2496312"/>
            <a:ext cx="1325880" cy="365760"/>
          </a:xfrm>
          <a:prstGeom prst="rect">
            <a:avLst/>
          </a:prstGeom>
          <a:noFill/>
        </p:spPr>
        <p:txBody>
          <a:bodyPr wrap="square" lIns="0" rIns="0" tIns="0" bIns="0" anchor="t">
            <a:spAutoFit/>
          </a:bodyPr>
          <a:lstStyle/>
          <a:p>
            <a:pPr algn="l">
              <a:lnSpc>
                <a:spcPct val="120000"/>
              </a:lnSpc>
            </a:pPr>
            <a:r>
              <a:rPr sz="1500" b="1" i="0">
                <a:solidFill>
                  <a:srgbClr val="111827"/>
                </a:solidFill>
                <a:latin typeface="Helvetica Neue"/>
              </a:rPr>
              <a:t>Ownership</a:t>
            </a:r>
          </a:p>
        </p:txBody>
      </p:sp>
      <p:sp>
        <p:nvSpPr>
          <p:cNvPr id="11" name="TextBox 10"/>
          <p:cNvSpPr txBox="1"/>
          <p:nvPr/>
        </p:nvSpPr>
        <p:spPr>
          <a:xfrm>
            <a:off x="731520" y="3108960"/>
            <a:ext cx="1645920" cy="365760"/>
          </a:xfrm>
          <a:prstGeom prst="rect">
            <a:avLst/>
          </a:prstGeom>
          <a:noFill/>
        </p:spPr>
        <p:txBody>
          <a:bodyPr wrap="square" lIns="0" rIns="0" tIns="0" bIns="0" anchor="t">
            <a:spAutoFit/>
          </a:bodyPr>
          <a:lstStyle/>
          <a:p>
            <a:pPr algn="l">
              <a:lnSpc>
                <a:spcPct val="120000"/>
              </a:lnSpc>
            </a:pPr>
            <a:r>
              <a:rPr sz="1000" b="0" i="1">
                <a:solidFill>
                  <a:srgbClr val="64748B"/>
                </a:solidFill>
                <a:latin typeface="Helvetica Neue"/>
              </a:rPr>
              <a:t>background</a:t>
            </a:r>
          </a:p>
        </p:txBody>
      </p:sp>
      <p:sp>
        <p:nvSpPr>
          <p:cNvPr id="12" name="Right Triangle 11"/>
          <p:cNvSpPr/>
          <p:nvPr/>
        </p:nvSpPr>
        <p:spPr>
          <a:xfrm>
            <a:off x="2615184" y="2926080"/>
            <a:ext cx="91440" cy="91440"/>
          </a:xfrm>
          <a:prstGeom prst="rtTriangle">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15768" y="2331720"/>
            <a:ext cx="2103120" cy="1280160"/>
          </a:xfrm>
          <a:prstGeom prst="rect">
            <a:avLst/>
          </a:prstGeom>
          <a:solidFill>
            <a:srgbClr val="F9FAFB"/>
          </a:solidFill>
          <a:ln w="9525">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944368" y="2496312"/>
            <a:ext cx="365760" cy="320040"/>
          </a:xfrm>
          <a:prstGeom prst="rect">
            <a:avLst/>
          </a:prstGeom>
          <a:noFill/>
        </p:spPr>
        <p:txBody>
          <a:bodyPr wrap="square" lIns="0" rIns="0" tIns="0" bIns="0" anchor="t">
            <a:spAutoFit/>
          </a:bodyPr>
          <a:lstStyle/>
          <a:p>
            <a:pPr algn="l">
              <a:lnSpc>
                <a:spcPct val="120000"/>
              </a:lnSpc>
            </a:pPr>
            <a:r>
              <a:rPr sz="1400" b="1" i="0">
                <a:solidFill>
                  <a:srgbClr val="1D4ED8"/>
                </a:solidFill>
                <a:latin typeface="Helvetica Neue"/>
              </a:rPr>
              <a:t>2</a:t>
            </a:r>
          </a:p>
        </p:txBody>
      </p:sp>
      <p:sp>
        <p:nvSpPr>
          <p:cNvPr id="15" name="TextBox 14"/>
          <p:cNvSpPr txBox="1"/>
          <p:nvPr/>
        </p:nvSpPr>
        <p:spPr>
          <a:xfrm>
            <a:off x="3355848" y="2496312"/>
            <a:ext cx="1325880" cy="365760"/>
          </a:xfrm>
          <a:prstGeom prst="rect">
            <a:avLst/>
          </a:prstGeom>
          <a:noFill/>
        </p:spPr>
        <p:txBody>
          <a:bodyPr wrap="square" lIns="0" rIns="0" tIns="0" bIns="0" anchor="t">
            <a:spAutoFit/>
          </a:bodyPr>
          <a:lstStyle/>
          <a:p>
            <a:pPr algn="l">
              <a:lnSpc>
                <a:spcPct val="120000"/>
              </a:lnSpc>
            </a:pPr>
            <a:r>
              <a:rPr sz="1500" b="1" i="0">
                <a:solidFill>
                  <a:srgbClr val="111827"/>
                </a:solidFill>
                <a:latin typeface="Helvetica Neue"/>
              </a:rPr>
              <a:t>Advertising</a:t>
            </a:r>
          </a:p>
        </p:txBody>
      </p:sp>
      <p:sp>
        <p:nvSpPr>
          <p:cNvPr id="16" name="TextBox 15"/>
          <p:cNvSpPr txBox="1"/>
          <p:nvPr/>
        </p:nvSpPr>
        <p:spPr>
          <a:xfrm>
            <a:off x="2944368" y="3108960"/>
            <a:ext cx="1645920" cy="365760"/>
          </a:xfrm>
          <a:prstGeom prst="rect">
            <a:avLst/>
          </a:prstGeom>
          <a:noFill/>
        </p:spPr>
        <p:txBody>
          <a:bodyPr wrap="square" lIns="0" rIns="0" tIns="0" bIns="0" anchor="t">
            <a:spAutoFit/>
          </a:bodyPr>
          <a:lstStyle/>
          <a:p>
            <a:pPr algn="l">
              <a:lnSpc>
                <a:spcPct val="120000"/>
              </a:lnSpc>
            </a:pPr>
            <a:r>
              <a:rPr sz="1000" b="0" i="1">
                <a:solidFill>
                  <a:srgbClr val="64748B"/>
                </a:solidFill>
                <a:latin typeface="Helvetica Neue"/>
              </a:rPr>
              <a:t>background</a:t>
            </a:r>
          </a:p>
        </p:txBody>
      </p:sp>
      <p:sp>
        <p:nvSpPr>
          <p:cNvPr id="17" name="Right Triangle 16"/>
          <p:cNvSpPr/>
          <p:nvPr/>
        </p:nvSpPr>
        <p:spPr>
          <a:xfrm>
            <a:off x="4828032" y="2926080"/>
            <a:ext cx="91440" cy="91440"/>
          </a:xfrm>
          <a:prstGeom prst="rtTriangle">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928616" y="2331720"/>
            <a:ext cx="2103120" cy="1280160"/>
          </a:xfrm>
          <a:prstGeom prst="rect">
            <a:avLst/>
          </a:prstGeom>
          <a:solidFill>
            <a:srgbClr val="F8FAFC"/>
          </a:solidFill>
          <a:ln w="15875">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157216" y="2496312"/>
            <a:ext cx="365760" cy="320040"/>
          </a:xfrm>
          <a:prstGeom prst="rect">
            <a:avLst/>
          </a:prstGeom>
          <a:noFill/>
        </p:spPr>
        <p:txBody>
          <a:bodyPr wrap="square" lIns="0" rIns="0" tIns="0" bIns="0" anchor="t">
            <a:spAutoFit/>
          </a:bodyPr>
          <a:lstStyle/>
          <a:p>
            <a:pPr algn="l">
              <a:lnSpc>
                <a:spcPct val="120000"/>
              </a:lnSpc>
            </a:pPr>
            <a:r>
              <a:rPr sz="1400" b="1" i="0">
                <a:solidFill>
                  <a:srgbClr val="1D4ED8"/>
                </a:solidFill>
                <a:latin typeface="Helvetica Neue"/>
              </a:rPr>
              <a:t>3</a:t>
            </a:r>
          </a:p>
        </p:txBody>
      </p:sp>
      <p:sp>
        <p:nvSpPr>
          <p:cNvPr id="20" name="TextBox 19"/>
          <p:cNvSpPr txBox="1"/>
          <p:nvPr/>
        </p:nvSpPr>
        <p:spPr>
          <a:xfrm>
            <a:off x="5568696" y="2496312"/>
            <a:ext cx="1325880" cy="365760"/>
          </a:xfrm>
          <a:prstGeom prst="rect">
            <a:avLst/>
          </a:prstGeom>
          <a:noFill/>
        </p:spPr>
        <p:txBody>
          <a:bodyPr wrap="square" lIns="0" rIns="0" tIns="0" bIns="0" anchor="t">
            <a:spAutoFit/>
          </a:bodyPr>
          <a:lstStyle/>
          <a:p>
            <a:pPr algn="l">
              <a:lnSpc>
                <a:spcPct val="120000"/>
              </a:lnSpc>
            </a:pPr>
            <a:r>
              <a:rPr sz="1500" b="1" i="0">
                <a:solidFill>
                  <a:srgbClr val="111827"/>
                </a:solidFill>
                <a:latin typeface="Helvetica Neue"/>
              </a:rPr>
              <a:t>Sourcing</a:t>
            </a:r>
          </a:p>
        </p:txBody>
      </p:sp>
      <p:sp>
        <p:nvSpPr>
          <p:cNvPr id="21" name="TextBox 20"/>
          <p:cNvSpPr txBox="1"/>
          <p:nvPr/>
        </p:nvSpPr>
        <p:spPr>
          <a:xfrm>
            <a:off x="5157216" y="3108960"/>
            <a:ext cx="1645920" cy="365760"/>
          </a:xfrm>
          <a:prstGeom prst="rect">
            <a:avLst/>
          </a:prstGeom>
          <a:noFill/>
        </p:spPr>
        <p:txBody>
          <a:bodyPr wrap="square" lIns="0" rIns="0" tIns="0" bIns="0" anchor="t">
            <a:spAutoFit/>
          </a:bodyPr>
          <a:lstStyle/>
          <a:p>
            <a:pPr algn="l">
              <a:lnSpc>
                <a:spcPct val="120000"/>
              </a:lnSpc>
            </a:pPr>
            <a:r>
              <a:rPr sz="1000" b="0" i="1">
                <a:solidFill>
                  <a:srgbClr val="64748B"/>
                </a:solidFill>
                <a:latin typeface="Helvetica Neue"/>
              </a:rPr>
              <a:t>article-level</a:t>
            </a:r>
          </a:p>
        </p:txBody>
      </p:sp>
      <p:sp>
        <p:nvSpPr>
          <p:cNvPr id="22" name="Right Triangle 21"/>
          <p:cNvSpPr/>
          <p:nvPr/>
        </p:nvSpPr>
        <p:spPr>
          <a:xfrm>
            <a:off x="7040880" y="2926080"/>
            <a:ext cx="91440" cy="91440"/>
          </a:xfrm>
          <a:prstGeom prst="rtTriangle">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141464" y="2331720"/>
            <a:ext cx="2103120" cy="1280160"/>
          </a:xfrm>
          <a:prstGeom prst="rect">
            <a:avLst/>
          </a:prstGeom>
          <a:solidFill>
            <a:srgbClr val="F9FAFB"/>
          </a:solidFill>
          <a:ln w="9525">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70064" y="2496312"/>
            <a:ext cx="365760" cy="320040"/>
          </a:xfrm>
          <a:prstGeom prst="rect">
            <a:avLst/>
          </a:prstGeom>
          <a:noFill/>
        </p:spPr>
        <p:txBody>
          <a:bodyPr wrap="square" lIns="0" rIns="0" tIns="0" bIns="0" anchor="t">
            <a:spAutoFit/>
          </a:bodyPr>
          <a:lstStyle/>
          <a:p>
            <a:pPr algn="l">
              <a:lnSpc>
                <a:spcPct val="120000"/>
              </a:lnSpc>
            </a:pPr>
            <a:r>
              <a:rPr sz="1400" b="1" i="0">
                <a:solidFill>
                  <a:srgbClr val="1D4ED8"/>
                </a:solidFill>
                <a:latin typeface="Helvetica Neue"/>
              </a:rPr>
              <a:t>4</a:t>
            </a:r>
          </a:p>
        </p:txBody>
      </p:sp>
      <p:sp>
        <p:nvSpPr>
          <p:cNvPr id="25" name="TextBox 24"/>
          <p:cNvSpPr txBox="1"/>
          <p:nvPr/>
        </p:nvSpPr>
        <p:spPr>
          <a:xfrm>
            <a:off x="7781544" y="2496312"/>
            <a:ext cx="1325880" cy="365760"/>
          </a:xfrm>
          <a:prstGeom prst="rect">
            <a:avLst/>
          </a:prstGeom>
          <a:noFill/>
        </p:spPr>
        <p:txBody>
          <a:bodyPr wrap="square" lIns="0" rIns="0" tIns="0" bIns="0" anchor="t">
            <a:spAutoFit/>
          </a:bodyPr>
          <a:lstStyle/>
          <a:p>
            <a:pPr algn="l">
              <a:lnSpc>
                <a:spcPct val="120000"/>
              </a:lnSpc>
            </a:pPr>
            <a:r>
              <a:rPr sz="1500" b="1" i="0">
                <a:solidFill>
                  <a:srgbClr val="111827"/>
                </a:solidFill>
                <a:latin typeface="Helvetica Neue"/>
              </a:rPr>
              <a:t>Flak</a:t>
            </a:r>
          </a:p>
        </p:txBody>
      </p:sp>
      <p:sp>
        <p:nvSpPr>
          <p:cNvPr id="26" name="TextBox 25"/>
          <p:cNvSpPr txBox="1"/>
          <p:nvPr/>
        </p:nvSpPr>
        <p:spPr>
          <a:xfrm>
            <a:off x="7370064" y="3108960"/>
            <a:ext cx="1645920" cy="365760"/>
          </a:xfrm>
          <a:prstGeom prst="rect">
            <a:avLst/>
          </a:prstGeom>
          <a:noFill/>
        </p:spPr>
        <p:txBody>
          <a:bodyPr wrap="square" lIns="0" rIns="0" tIns="0" bIns="0" anchor="t">
            <a:spAutoFit/>
          </a:bodyPr>
          <a:lstStyle/>
          <a:p>
            <a:pPr algn="l">
              <a:lnSpc>
                <a:spcPct val="120000"/>
              </a:lnSpc>
            </a:pPr>
            <a:r>
              <a:rPr sz="1000" b="0" i="1">
                <a:solidFill>
                  <a:srgbClr val="64748B"/>
                </a:solidFill>
                <a:latin typeface="Helvetica Neue"/>
              </a:rPr>
              <a:t>anticipated cost</a:t>
            </a:r>
          </a:p>
        </p:txBody>
      </p:sp>
      <p:sp>
        <p:nvSpPr>
          <p:cNvPr id="27" name="Right Triangle 26"/>
          <p:cNvSpPr/>
          <p:nvPr/>
        </p:nvSpPr>
        <p:spPr>
          <a:xfrm>
            <a:off x="9253728" y="2926080"/>
            <a:ext cx="91440" cy="91440"/>
          </a:xfrm>
          <a:prstGeom prst="rtTriangle">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354312" y="2331720"/>
            <a:ext cx="2103120" cy="1280160"/>
          </a:xfrm>
          <a:prstGeom prst="rect">
            <a:avLst/>
          </a:prstGeom>
          <a:solidFill>
            <a:srgbClr val="F8FAFC"/>
          </a:solidFill>
          <a:ln w="15875">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582912" y="2496312"/>
            <a:ext cx="365760" cy="320040"/>
          </a:xfrm>
          <a:prstGeom prst="rect">
            <a:avLst/>
          </a:prstGeom>
          <a:noFill/>
        </p:spPr>
        <p:txBody>
          <a:bodyPr wrap="square" lIns="0" rIns="0" tIns="0" bIns="0" anchor="t">
            <a:spAutoFit/>
          </a:bodyPr>
          <a:lstStyle/>
          <a:p>
            <a:pPr algn="l">
              <a:lnSpc>
                <a:spcPct val="120000"/>
              </a:lnSpc>
            </a:pPr>
            <a:r>
              <a:rPr sz="1400" b="1" i="0">
                <a:solidFill>
                  <a:srgbClr val="1D4ED8"/>
                </a:solidFill>
                <a:latin typeface="Helvetica Neue"/>
              </a:rPr>
              <a:t>5</a:t>
            </a:r>
          </a:p>
        </p:txBody>
      </p:sp>
      <p:sp>
        <p:nvSpPr>
          <p:cNvPr id="30" name="TextBox 29"/>
          <p:cNvSpPr txBox="1"/>
          <p:nvPr/>
        </p:nvSpPr>
        <p:spPr>
          <a:xfrm>
            <a:off x="9994392" y="2496312"/>
            <a:ext cx="1325880" cy="365760"/>
          </a:xfrm>
          <a:prstGeom prst="rect">
            <a:avLst/>
          </a:prstGeom>
          <a:noFill/>
        </p:spPr>
        <p:txBody>
          <a:bodyPr wrap="square" lIns="0" rIns="0" tIns="0" bIns="0" anchor="t">
            <a:spAutoFit/>
          </a:bodyPr>
          <a:lstStyle/>
          <a:p>
            <a:pPr algn="l">
              <a:lnSpc>
                <a:spcPct val="120000"/>
              </a:lnSpc>
            </a:pPr>
            <a:r>
              <a:rPr sz="1500" b="1" i="0">
                <a:solidFill>
                  <a:srgbClr val="111827"/>
                </a:solidFill>
                <a:latin typeface="Helvetica Neue"/>
              </a:rPr>
              <a:t>Ideology</a:t>
            </a:r>
          </a:p>
        </p:txBody>
      </p:sp>
      <p:sp>
        <p:nvSpPr>
          <p:cNvPr id="31" name="TextBox 30"/>
          <p:cNvSpPr txBox="1"/>
          <p:nvPr/>
        </p:nvSpPr>
        <p:spPr>
          <a:xfrm>
            <a:off x="9582912" y="3108960"/>
            <a:ext cx="1645920" cy="365760"/>
          </a:xfrm>
          <a:prstGeom prst="rect">
            <a:avLst/>
          </a:prstGeom>
          <a:noFill/>
        </p:spPr>
        <p:txBody>
          <a:bodyPr wrap="square" lIns="0" rIns="0" tIns="0" bIns="0" anchor="t">
            <a:spAutoFit/>
          </a:bodyPr>
          <a:lstStyle/>
          <a:p>
            <a:pPr algn="l">
              <a:lnSpc>
                <a:spcPct val="120000"/>
              </a:lnSpc>
            </a:pPr>
            <a:r>
              <a:rPr sz="1000" b="0" i="1">
                <a:solidFill>
                  <a:srgbClr val="64748B"/>
                </a:solidFill>
                <a:latin typeface="Helvetica Neue"/>
              </a:rPr>
              <a:t>article-level</a:t>
            </a:r>
          </a:p>
        </p:txBody>
      </p:sp>
      <p:sp>
        <p:nvSpPr>
          <p:cNvPr id="32" name="Rectangle 31"/>
          <p:cNvSpPr/>
          <p:nvPr/>
        </p:nvSpPr>
        <p:spPr>
          <a:xfrm>
            <a:off x="502920" y="4160520"/>
            <a:ext cx="11155680" cy="1325880"/>
          </a:xfrm>
          <a:prstGeom prst="rect">
            <a:avLst/>
          </a:prstGeom>
          <a:solidFill>
            <a:srgbClr val="F9FAFB"/>
          </a:solidFill>
          <a:ln w="9525">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77240" y="4343400"/>
            <a:ext cx="10058400" cy="274320"/>
          </a:xfrm>
          <a:prstGeom prst="rect">
            <a:avLst/>
          </a:prstGeom>
          <a:noFill/>
        </p:spPr>
        <p:txBody>
          <a:bodyPr wrap="square" lIns="0" rIns="0" tIns="0" bIns="0" anchor="t">
            <a:spAutoFit/>
          </a:bodyPr>
          <a:lstStyle/>
          <a:p>
            <a:pPr algn="l">
              <a:lnSpc>
                <a:spcPct val="120000"/>
              </a:lnSpc>
            </a:pPr>
            <a:r>
              <a:rPr sz="900" b="1" i="0">
                <a:solidFill>
                  <a:srgbClr val="1D4ED8"/>
                </a:solidFill>
                <a:latin typeface="Helvetica Neue"/>
              </a:rPr>
              <a:t>WORKING STANDARD</a:t>
            </a:r>
          </a:p>
        </p:txBody>
      </p:sp>
      <p:sp>
        <p:nvSpPr>
          <p:cNvPr id="34" name="TextBox 33"/>
          <p:cNvSpPr txBox="1"/>
          <p:nvPr/>
        </p:nvSpPr>
        <p:spPr>
          <a:xfrm>
            <a:off x="777240" y="4617720"/>
            <a:ext cx="10515600" cy="777240"/>
          </a:xfrm>
          <a:prstGeom prst="rect">
            <a:avLst/>
          </a:prstGeom>
          <a:noFill/>
        </p:spPr>
        <p:txBody>
          <a:bodyPr wrap="square" lIns="0" rIns="0" tIns="0" bIns="0" anchor="t">
            <a:spAutoFit/>
          </a:bodyPr>
          <a:lstStyle/>
          <a:p>
            <a:pPr algn="l">
              <a:lnSpc>
                <a:spcPct val="125000"/>
              </a:lnSpc>
            </a:pPr>
            <a:r>
              <a:rPr sz="1800" b="1" i="0">
                <a:solidFill>
                  <a:srgbClr val="111827"/>
                </a:solidFill>
                <a:latin typeface="Helvetica Neue"/>
              </a:rPr>
              <a:t>Partial filters still matter if they help explain why the stronger filters can operate.</a:t>
            </a:r>
          </a:p>
        </p:txBody>
      </p:sp>
      <p:sp>
        <p:nvSpPr>
          <p:cNvPr id="35" name="TextBox 34"/>
          <p:cNvSpPr txBox="1"/>
          <p:nvPr/>
        </p:nvSpPr>
        <p:spPr>
          <a:xfrm>
            <a:off x="502920" y="5806440"/>
            <a:ext cx="11155680" cy="594360"/>
          </a:xfrm>
          <a:prstGeom prst="rect">
            <a:avLst/>
          </a:prstGeom>
          <a:noFill/>
        </p:spPr>
        <p:txBody>
          <a:bodyPr wrap="square" lIns="0" rIns="0" tIns="0" bIns="0" anchor="t">
            <a:spAutoFit/>
          </a:bodyPr>
          <a:lstStyle/>
          <a:p>
            <a:pPr algn="l">
              <a:lnSpc>
                <a:spcPct val="120000"/>
              </a:lnSpc>
            </a:pPr>
            <a:r>
              <a:rPr sz="1100" b="0" i="1">
                <a:solidFill>
                  <a:srgbClr val="111827"/>
                </a:solidFill>
                <a:latin typeface="Georgia"/>
              </a:rPr>
              <a:t>“the constraints are so powerful … that alternative bases of news choices are hardly imaginable.”   </a:t>
            </a:r>
            <a:r>
              <a:rPr sz="900" b="0" i="0">
                <a:solidFill>
                  <a:srgbClr val="64748B"/>
                </a:solidFill>
                <a:latin typeface="Helvetica Neue"/>
              </a:rPr>
              <a:t>— Herman &amp; Chomsky, Manufacturing Consent, p. 2</a:t>
            </a:r>
          </a:p>
        </p:txBody>
      </p:sp>
      <p:sp>
        <p:nvSpPr>
          <p:cNvPr id="36" name="TextBox 35"/>
          <p:cNvSpPr txBox="1"/>
          <p:nvPr/>
        </p:nvSpPr>
        <p:spPr>
          <a:xfrm>
            <a:off x="502920" y="6537960"/>
            <a:ext cx="10058400" cy="274320"/>
          </a:xfrm>
          <a:prstGeom prst="rect">
            <a:avLst/>
          </a:prstGeom>
          <a:noFill/>
        </p:spPr>
        <p:txBody>
          <a:bodyPr wrap="square" lIns="0" rIns="0" tIns="0" bIns="0" anchor="t">
            <a:spAutoFit/>
          </a:bodyPr>
          <a:lstStyle/>
          <a:p>
            <a:pPr algn="l">
              <a:lnSpc>
                <a:spcPct val="120000"/>
              </a:lnSpc>
            </a:pPr>
            <a:r>
              <a:rPr sz="700" b="0" i="0">
                <a:solidFill>
                  <a:srgbClr val="64748B"/>
                </a:solidFill>
                <a:latin typeface="Helvetica Neue"/>
              </a:rPr>
              <a:t>Filter taxonomy from Manufacturing Consent (Pantheon, 1988 / 2002). Filter labels ‘article-level’ vs ‘background’ are this paper’s degree-of-fit annotation.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8872" cy="685800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277295" y="6537960"/>
            <a:ext cx="457200" cy="274320"/>
          </a:xfrm>
          <a:prstGeom prst="rect">
            <a:avLst/>
          </a:prstGeom>
          <a:noFill/>
        </p:spPr>
        <p:txBody>
          <a:bodyPr wrap="square" lIns="0" rIns="0" tIns="0" bIns="0" anchor="t">
            <a:spAutoFit/>
          </a:bodyPr>
          <a:lstStyle/>
          <a:p>
            <a:pPr algn="r">
              <a:lnSpc>
                <a:spcPct val="120000"/>
              </a:lnSpc>
            </a:pPr>
            <a:r>
              <a:rPr sz="800" b="1" i="0">
                <a:solidFill>
                  <a:srgbClr val="64748B"/>
                </a:solidFill>
                <a:latin typeface="Helvetica Neue"/>
              </a:rPr>
              <a:t>04</a:t>
            </a:r>
          </a:p>
        </p:txBody>
      </p:sp>
      <p:sp>
        <p:nvSpPr>
          <p:cNvPr id="5" name="TextBox 4"/>
          <p:cNvSpPr txBox="1"/>
          <p:nvPr/>
        </p:nvSpPr>
        <p:spPr>
          <a:xfrm>
            <a:off x="502920" y="457200"/>
            <a:ext cx="10972800" cy="274320"/>
          </a:xfrm>
          <a:prstGeom prst="rect">
            <a:avLst/>
          </a:prstGeom>
          <a:noFill/>
        </p:spPr>
        <p:txBody>
          <a:bodyPr wrap="square" lIns="0" rIns="0" tIns="0" bIns="0" anchor="t">
            <a:spAutoFit/>
          </a:bodyPr>
          <a:lstStyle/>
          <a:p>
            <a:pPr algn="l">
              <a:lnSpc>
                <a:spcPct val="120000"/>
              </a:lnSpc>
            </a:pPr>
            <a:r>
              <a:rPr sz="900" b="1" i="0">
                <a:solidFill>
                  <a:srgbClr val="1D4ED8"/>
                </a:solidFill>
                <a:latin typeface="Helvetica Neue"/>
              </a:rPr>
              <a:t>THE FRAME</a:t>
            </a:r>
          </a:p>
        </p:txBody>
      </p:sp>
      <p:sp>
        <p:nvSpPr>
          <p:cNvPr id="6" name="TextBox 5"/>
          <p:cNvSpPr txBox="1"/>
          <p:nvPr/>
        </p:nvSpPr>
        <p:spPr>
          <a:xfrm>
            <a:off x="502920" y="758952"/>
            <a:ext cx="11430000" cy="777240"/>
          </a:xfrm>
          <a:prstGeom prst="rect">
            <a:avLst/>
          </a:prstGeom>
          <a:noFill/>
        </p:spPr>
        <p:txBody>
          <a:bodyPr wrap="square" lIns="0" rIns="0" tIns="0" bIns="0" anchor="t">
            <a:spAutoFit/>
          </a:bodyPr>
          <a:lstStyle/>
          <a:p>
            <a:pPr algn="l">
              <a:lnSpc>
                <a:spcPct val="110000"/>
              </a:lnSpc>
            </a:pPr>
            <a:r>
              <a:rPr sz="3000" b="1" i="0">
                <a:solidFill>
                  <a:srgbClr val="111827"/>
                </a:solidFill>
                <a:latin typeface="Helvetica Neue"/>
              </a:rPr>
              <a:t>The article makes the FAA the fact-giver.</a:t>
            </a:r>
          </a:p>
        </p:txBody>
      </p:sp>
      <p:sp>
        <p:nvSpPr>
          <p:cNvPr id="7" name="TextBox 6"/>
          <p:cNvSpPr txBox="1"/>
          <p:nvPr/>
        </p:nvSpPr>
        <p:spPr>
          <a:xfrm>
            <a:off x="502920" y="1627632"/>
            <a:ext cx="11430000" cy="411480"/>
          </a:xfrm>
          <a:prstGeom prst="rect">
            <a:avLst/>
          </a:prstGeom>
          <a:noFill/>
        </p:spPr>
        <p:txBody>
          <a:bodyPr wrap="square" lIns="0" rIns="0" tIns="0" bIns="0" anchor="t">
            <a:spAutoFit/>
          </a:bodyPr>
          <a:lstStyle/>
          <a:p>
            <a:pPr algn="l">
              <a:lnSpc>
                <a:spcPct val="130000"/>
              </a:lnSpc>
            </a:pPr>
            <a:r>
              <a:rPr sz="1300" b="0" i="0">
                <a:solidFill>
                  <a:srgbClr val="64748B"/>
                </a:solidFill>
                <a:latin typeface="Helvetica Neue"/>
              </a:rPr>
              <a:t>Before theory, the text itself has a center of gravity: official U.S. authority.</a:t>
            </a:r>
          </a:p>
        </p:txBody>
      </p:sp>
      <p:sp>
        <p:nvSpPr>
          <p:cNvPr id="8" name="TextBox 7"/>
          <p:cNvSpPr txBox="1"/>
          <p:nvPr/>
        </p:nvSpPr>
        <p:spPr>
          <a:xfrm>
            <a:off x="502920" y="2194560"/>
            <a:ext cx="3611880" cy="274320"/>
          </a:xfrm>
          <a:prstGeom prst="rect">
            <a:avLst/>
          </a:prstGeom>
          <a:noFill/>
        </p:spPr>
        <p:txBody>
          <a:bodyPr wrap="square" lIns="0" rIns="0" tIns="0" bIns="0" anchor="t">
            <a:spAutoFit/>
          </a:bodyPr>
          <a:lstStyle/>
          <a:p>
            <a:pPr algn="l">
              <a:lnSpc>
                <a:spcPct val="120000"/>
              </a:lnSpc>
            </a:pPr>
            <a:r>
              <a:rPr sz="1200" b="1" i="0">
                <a:solidFill>
                  <a:srgbClr val="1D4ED8"/>
                </a:solidFill>
                <a:latin typeface="Helvetica Neue"/>
              </a:rPr>
              <a:t>Organizing authority</a:t>
            </a:r>
          </a:p>
        </p:txBody>
      </p:sp>
      <p:sp>
        <p:nvSpPr>
          <p:cNvPr id="9" name="Rectangle 8"/>
          <p:cNvSpPr/>
          <p:nvPr/>
        </p:nvSpPr>
        <p:spPr>
          <a:xfrm>
            <a:off x="502920" y="2606040"/>
            <a:ext cx="3611880" cy="502920"/>
          </a:xfrm>
          <a:prstGeom prst="rect">
            <a:avLst/>
          </a:prstGeom>
          <a:solidFill>
            <a:srgbClr val="F9FAFB"/>
          </a:solidFill>
          <a:ln w="9525">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606040"/>
            <a:ext cx="3246120" cy="502920"/>
          </a:xfrm>
          <a:prstGeom prst="rect">
            <a:avLst/>
          </a:prstGeom>
          <a:noFill/>
        </p:spPr>
        <p:txBody>
          <a:bodyPr wrap="square" lIns="0" rIns="0" tIns="0" bIns="0" anchor="ctr">
            <a:spAutoFit/>
          </a:bodyPr>
          <a:lstStyle/>
          <a:p>
            <a:pPr algn="l">
              <a:lnSpc>
                <a:spcPct val="120000"/>
              </a:lnSpc>
            </a:pPr>
            <a:r>
              <a:rPr sz="1200" b="1" i="0">
                <a:solidFill>
                  <a:srgbClr val="1D4ED8"/>
                </a:solidFill>
                <a:latin typeface="Helvetica Neue"/>
              </a:rPr>
              <a:t>FAA</a:t>
            </a:r>
          </a:p>
        </p:txBody>
      </p:sp>
      <p:sp>
        <p:nvSpPr>
          <p:cNvPr id="11" name="Rectangle 10"/>
          <p:cNvSpPr/>
          <p:nvPr/>
        </p:nvSpPr>
        <p:spPr>
          <a:xfrm>
            <a:off x="502920" y="3200400"/>
            <a:ext cx="3611880" cy="502920"/>
          </a:xfrm>
          <a:prstGeom prst="rect">
            <a:avLst/>
          </a:prstGeom>
          <a:solidFill>
            <a:srgbClr val="F9FAFB"/>
          </a:solidFill>
          <a:ln w="9525">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3200400"/>
            <a:ext cx="3246120" cy="502920"/>
          </a:xfrm>
          <a:prstGeom prst="rect">
            <a:avLst/>
          </a:prstGeom>
          <a:noFill/>
        </p:spPr>
        <p:txBody>
          <a:bodyPr wrap="square" lIns="0" rIns="0" tIns="0" bIns="0" anchor="ctr">
            <a:spAutoFit/>
          </a:bodyPr>
          <a:lstStyle/>
          <a:p>
            <a:pPr algn="l">
              <a:lnSpc>
                <a:spcPct val="120000"/>
              </a:lnSpc>
            </a:pPr>
            <a:r>
              <a:rPr sz="1200" b="1" i="0">
                <a:solidFill>
                  <a:srgbClr val="1D4ED8"/>
                </a:solidFill>
                <a:latin typeface="Helvetica Neue"/>
              </a:rPr>
              <a:t>Boeing</a:t>
            </a:r>
          </a:p>
        </p:txBody>
      </p:sp>
      <p:sp>
        <p:nvSpPr>
          <p:cNvPr id="13" name="Rectangle 12"/>
          <p:cNvSpPr/>
          <p:nvPr/>
        </p:nvSpPr>
        <p:spPr>
          <a:xfrm>
            <a:off x="502920" y="3794760"/>
            <a:ext cx="3611880" cy="502920"/>
          </a:xfrm>
          <a:prstGeom prst="rect">
            <a:avLst/>
          </a:prstGeom>
          <a:solidFill>
            <a:srgbClr val="F9FAFB"/>
          </a:solidFill>
          <a:ln w="9525">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794760"/>
            <a:ext cx="3246120" cy="502920"/>
          </a:xfrm>
          <a:prstGeom prst="rect">
            <a:avLst/>
          </a:prstGeom>
          <a:noFill/>
        </p:spPr>
        <p:txBody>
          <a:bodyPr wrap="square" lIns="0" rIns="0" tIns="0" bIns="0" anchor="ctr">
            <a:spAutoFit/>
          </a:bodyPr>
          <a:lstStyle/>
          <a:p>
            <a:pPr algn="l">
              <a:lnSpc>
                <a:spcPct val="120000"/>
              </a:lnSpc>
            </a:pPr>
            <a:r>
              <a:rPr sz="1200" b="1" i="0">
                <a:solidFill>
                  <a:srgbClr val="1D4ED8"/>
                </a:solidFill>
                <a:latin typeface="Helvetica Neue"/>
              </a:rPr>
              <a:t>U.S. airlines</a:t>
            </a:r>
          </a:p>
        </p:txBody>
      </p:sp>
      <p:sp>
        <p:nvSpPr>
          <p:cNvPr id="15" name="Rectangle 14"/>
          <p:cNvSpPr/>
          <p:nvPr/>
        </p:nvSpPr>
        <p:spPr>
          <a:xfrm>
            <a:off x="502920" y="4389120"/>
            <a:ext cx="3611880" cy="502920"/>
          </a:xfrm>
          <a:prstGeom prst="rect">
            <a:avLst/>
          </a:prstGeom>
          <a:solidFill>
            <a:srgbClr val="F9FAFB"/>
          </a:solidFill>
          <a:ln w="9525">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4389120"/>
            <a:ext cx="3246120" cy="502920"/>
          </a:xfrm>
          <a:prstGeom prst="rect">
            <a:avLst/>
          </a:prstGeom>
          <a:noFill/>
        </p:spPr>
        <p:txBody>
          <a:bodyPr wrap="square" lIns="0" rIns="0" tIns="0" bIns="0" anchor="ctr">
            <a:spAutoFit/>
          </a:bodyPr>
          <a:lstStyle/>
          <a:p>
            <a:pPr algn="l">
              <a:lnSpc>
                <a:spcPct val="120000"/>
              </a:lnSpc>
            </a:pPr>
            <a:r>
              <a:rPr sz="1200" b="1" i="0">
                <a:solidFill>
                  <a:srgbClr val="1D4ED8"/>
                </a:solidFill>
                <a:latin typeface="Helvetica Neue"/>
              </a:rPr>
              <a:t>Industry officials (anonymous)</a:t>
            </a:r>
          </a:p>
        </p:txBody>
      </p:sp>
      <p:sp>
        <p:nvSpPr>
          <p:cNvPr id="17" name="TextBox 16"/>
          <p:cNvSpPr txBox="1"/>
          <p:nvPr/>
        </p:nvSpPr>
        <p:spPr>
          <a:xfrm>
            <a:off x="4251960" y="2194560"/>
            <a:ext cx="3611880" cy="274320"/>
          </a:xfrm>
          <a:prstGeom prst="rect">
            <a:avLst/>
          </a:prstGeom>
          <a:noFill/>
        </p:spPr>
        <p:txBody>
          <a:bodyPr wrap="square" lIns="0" rIns="0" tIns="0" bIns="0" anchor="t">
            <a:spAutoFit/>
          </a:bodyPr>
          <a:lstStyle/>
          <a:p>
            <a:pPr algn="l">
              <a:lnSpc>
                <a:spcPct val="120000"/>
              </a:lnSpc>
            </a:pPr>
            <a:r>
              <a:rPr sz="1200" b="1" i="0">
                <a:solidFill>
                  <a:srgbClr val="C2410C"/>
                </a:solidFill>
                <a:latin typeface="Helvetica Neue"/>
              </a:rPr>
              <a:t>Secondary in the article</a:t>
            </a:r>
          </a:p>
        </p:txBody>
      </p:sp>
      <p:sp>
        <p:nvSpPr>
          <p:cNvPr id="18" name="Rectangle 17"/>
          <p:cNvSpPr/>
          <p:nvPr/>
        </p:nvSpPr>
        <p:spPr>
          <a:xfrm>
            <a:off x="4251960" y="2606040"/>
            <a:ext cx="3611880" cy="502920"/>
          </a:xfrm>
          <a:prstGeom prst="rect">
            <a:avLst/>
          </a:prstGeom>
          <a:solidFill>
            <a:srgbClr val="F9FAFB"/>
          </a:solidFill>
          <a:ln w="9525">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480560" y="2606040"/>
            <a:ext cx="3246120" cy="502920"/>
          </a:xfrm>
          <a:prstGeom prst="rect">
            <a:avLst/>
          </a:prstGeom>
          <a:noFill/>
        </p:spPr>
        <p:txBody>
          <a:bodyPr wrap="square" lIns="0" rIns="0" tIns="0" bIns="0" anchor="ctr">
            <a:spAutoFit/>
          </a:bodyPr>
          <a:lstStyle/>
          <a:p>
            <a:pPr algn="l">
              <a:lnSpc>
                <a:spcPct val="120000"/>
              </a:lnSpc>
            </a:pPr>
            <a:r>
              <a:rPr sz="1200" b="1" i="0">
                <a:solidFill>
                  <a:srgbClr val="C2410C"/>
                </a:solidFill>
                <a:latin typeface="Helvetica Neue"/>
              </a:rPr>
              <a:t>China grounding</a:t>
            </a:r>
          </a:p>
        </p:txBody>
      </p:sp>
      <p:sp>
        <p:nvSpPr>
          <p:cNvPr id="20" name="Rectangle 19"/>
          <p:cNvSpPr/>
          <p:nvPr/>
        </p:nvSpPr>
        <p:spPr>
          <a:xfrm>
            <a:off x="4251960" y="3200400"/>
            <a:ext cx="3611880" cy="502920"/>
          </a:xfrm>
          <a:prstGeom prst="rect">
            <a:avLst/>
          </a:prstGeom>
          <a:solidFill>
            <a:srgbClr val="F9FAFB"/>
          </a:solidFill>
          <a:ln w="9525">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480560" y="3200400"/>
            <a:ext cx="3246120" cy="502920"/>
          </a:xfrm>
          <a:prstGeom prst="rect">
            <a:avLst/>
          </a:prstGeom>
          <a:noFill/>
        </p:spPr>
        <p:txBody>
          <a:bodyPr wrap="square" lIns="0" rIns="0" tIns="0" bIns="0" anchor="ctr">
            <a:spAutoFit/>
          </a:bodyPr>
          <a:lstStyle/>
          <a:p>
            <a:pPr algn="l">
              <a:lnSpc>
                <a:spcPct val="120000"/>
              </a:lnSpc>
            </a:pPr>
            <a:r>
              <a:rPr sz="1200" b="1" i="0">
                <a:solidFill>
                  <a:srgbClr val="C2410C"/>
                </a:solidFill>
                <a:latin typeface="Helvetica Neue"/>
              </a:rPr>
              <a:t>EASA / foreign regulators</a:t>
            </a:r>
          </a:p>
        </p:txBody>
      </p:sp>
      <p:sp>
        <p:nvSpPr>
          <p:cNvPr id="22" name="Rectangle 21"/>
          <p:cNvSpPr/>
          <p:nvPr/>
        </p:nvSpPr>
        <p:spPr>
          <a:xfrm>
            <a:off x="4251960" y="3794760"/>
            <a:ext cx="3611880" cy="502920"/>
          </a:xfrm>
          <a:prstGeom prst="rect">
            <a:avLst/>
          </a:prstGeom>
          <a:solidFill>
            <a:srgbClr val="F9FAFB"/>
          </a:solidFill>
          <a:ln w="9525">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480560" y="3794760"/>
            <a:ext cx="3246120" cy="502920"/>
          </a:xfrm>
          <a:prstGeom prst="rect">
            <a:avLst/>
          </a:prstGeom>
          <a:noFill/>
        </p:spPr>
        <p:txBody>
          <a:bodyPr wrap="square" lIns="0" rIns="0" tIns="0" bIns="0" anchor="ctr">
            <a:spAutoFit/>
          </a:bodyPr>
          <a:lstStyle/>
          <a:p>
            <a:pPr algn="l">
              <a:lnSpc>
                <a:spcPct val="120000"/>
              </a:lnSpc>
            </a:pPr>
            <a:r>
              <a:rPr sz="1200" b="1" i="0">
                <a:solidFill>
                  <a:srgbClr val="C2410C"/>
                </a:solidFill>
                <a:latin typeface="Helvetica Neue"/>
              </a:rPr>
              <a:t>U.S. politicians</a:t>
            </a:r>
          </a:p>
        </p:txBody>
      </p:sp>
      <p:sp>
        <p:nvSpPr>
          <p:cNvPr id="24" name="TextBox 23"/>
          <p:cNvSpPr txBox="1"/>
          <p:nvPr/>
        </p:nvSpPr>
        <p:spPr>
          <a:xfrm>
            <a:off x="8001000" y="2194560"/>
            <a:ext cx="3611880" cy="274320"/>
          </a:xfrm>
          <a:prstGeom prst="rect">
            <a:avLst/>
          </a:prstGeom>
          <a:noFill/>
        </p:spPr>
        <p:txBody>
          <a:bodyPr wrap="square" lIns="0" rIns="0" tIns="0" bIns="0" anchor="t">
            <a:spAutoFit/>
          </a:bodyPr>
          <a:lstStyle/>
          <a:p>
            <a:pPr algn="l">
              <a:lnSpc>
                <a:spcPct val="120000"/>
              </a:lnSpc>
            </a:pPr>
            <a:r>
              <a:rPr sz="1200" b="1" i="0">
                <a:solidFill>
                  <a:srgbClr val="B91C1C"/>
                </a:solidFill>
                <a:latin typeface="Helvetica Neue"/>
              </a:rPr>
              <a:t>Missing as knowers</a:t>
            </a:r>
          </a:p>
        </p:txBody>
      </p:sp>
      <p:sp>
        <p:nvSpPr>
          <p:cNvPr id="25" name="Rectangle 24"/>
          <p:cNvSpPr/>
          <p:nvPr/>
        </p:nvSpPr>
        <p:spPr>
          <a:xfrm>
            <a:off x="8001000" y="2606040"/>
            <a:ext cx="3611880" cy="502920"/>
          </a:xfrm>
          <a:prstGeom prst="rect">
            <a:avLst/>
          </a:prstGeom>
          <a:solidFill>
            <a:srgbClr val="F9FAFB"/>
          </a:solidFill>
          <a:ln w="9525">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600" y="2606040"/>
            <a:ext cx="3246120" cy="502920"/>
          </a:xfrm>
          <a:prstGeom prst="rect">
            <a:avLst/>
          </a:prstGeom>
          <a:noFill/>
        </p:spPr>
        <p:txBody>
          <a:bodyPr wrap="square" lIns="0" rIns="0" tIns="0" bIns="0" anchor="ctr">
            <a:spAutoFit/>
          </a:bodyPr>
          <a:lstStyle/>
          <a:p>
            <a:pPr algn="l">
              <a:lnSpc>
                <a:spcPct val="120000"/>
              </a:lnSpc>
            </a:pPr>
            <a:r>
              <a:rPr sz="1200" b="1" i="0">
                <a:solidFill>
                  <a:srgbClr val="B91C1C"/>
                </a:solidFill>
                <a:latin typeface="Helvetica Neue"/>
              </a:rPr>
              <a:t>Victims’ families</a:t>
            </a:r>
          </a:p>
        </p:txBody>
      </p:sp>
      <p:sp>
        <p:nvSpPr>
          <p:cNvPr id="27" name="Rectangle 26"/>
          <p:cNvSpPr/>
          <p:nvPr/>
        </p:nvSpPr>
        <p:spPr>
          <a:xfrm>
            <a:off x="8001000" y="3200400"/>
            <a:ext cx="3611880" cy="502920"/>
          </a:xfrm>
          <a:prstGeom prst="rect">
            <a:avLst/>
          </a:prstGeom>
          <a:solidFill>
            <a:srgbClr val="F9FAFB"/>
          </a:solidFill>
          <a:ln w="9525">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600" y="3200400"/>
            <a:ext cx="3246120" cy="502920"/>
          </a:xfrm>
          <a:prstGeom prst="rect">
            <a:avLst/>
          </a:prstGeom>
          <a:noFill/>
        </p:spPr>
        <p:txBody>
          <a:bodyPr wrap="square" lIns="0" rIns="0" tIns="0" bIns="0" anchor="ctr">
            <a:spAutoFit/>
          </a:bodyPr>
          <a:lstStyle/>
          <a:p>
            <a:pPr algn="l">
              <a:lnSpc>
                <a:spcPct val="120000"/>
              </a:lnSpc>
            </a:pPr>
            <a:r>
              <a:rPr sz="1200" b="1" i="0">
                <a:solidFill>
                  <a:srgbClr val="B91C1C"/>
                </a:solidFill>
                <a:latin typeface="Helvetica Neue"/>
              </a:rPr>
              <a:t>Ethiopian / Indonesian safety authorities</a:t>
            </a:r>
          </a:p>
        </p:txBody>
      </p:sp>
      <p:sp>
        <p:nvSpPr>
          <p:cNvPr id="29" name="Rectangle 28"/>
          <p:cNvSpPr/>
          <p:nvPr/>
        </p:nvSpPr>
        <p:spPr>
          <a:xfrm>
            <a:off x="8001000" y="3794760"/>
            <a:ext cx="3611880" cy="502920"/>
          </a:xfrm>
          <a:prstGeom prst="rect">
            <a:avLst/>
          </a:prstGeom>
          <a:solidFill>
            <a:srgbClr val="F9FAFB"/>
          </a:solidFill>
          <a:ln w="9525">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29600" y="3794760"/>
            <a:ext cx="3246120" cy="502920"/>
          </a:xfrm>
          <a:prstGeom prst="rect">
            <a:avLst/>
          </a:prstGeom>
          <a:noFill/>
        </p:spPr>
        <p:txBody>
          <a:bodyPr wrap="square" lIns="0" rIns="0" tIns="0" bIns="0" anchor="ctr">
            <a:spAutoFit/>
          </a:bodyPr>
          <a:lstStyle/>
          <a:p>
            <a:pPr algn="l">
              <a:lnSpc>
                <a:spcPct val="120000"/>
              </a:lnSpc>
            </a:pPr>
            <a:r>
              <a:rPr sz="1200" b="1" i="0">
                <a:solidFill>
                  <a:srgbClr val="B91C1C"/>
                </a:solidFill>
                <a:latin typeface="Helvetica Neue"/>
              </a:rPr>
              <a:t>Captured-regulator frame</a:t>
            </a:r>
          </a:p>
        </p:txBody>
      </p:sp>
      <p:sp>
        <p:nvSpPr>
          <p:cNvPr id="31" name="Rectangle 30"/>
          <p:cNvSpPr/>
          <p:nvPr/>
        </p:nvSpPr>
        <p:spPr>
          <a:xfrm>
            <a:off x="502920" y="5669280"/>
            <a:ext cx="11155680" cy="548640"/>
          </a:xfrm>
          <a:prstGeom prst="rect">
            <a:avLst/>
          </a:prstGeom>
          <a:solidFill>
            <a:srgbClr val="F9FAFB"/>
          </a:solidFill>
          <a:ln w="9525">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31520" y="5733288"/>
            <a:ext cx="1828800" cy="182880"/>
          </a:xfrm>
          <a:prstGeom prst="rect">
            <a:avLst/>
          </a:prstGeom>
          <a:noFill/>
        </p:spPr>
        <p:txBody>
          <a:bodyPr wrap="square" lIns="0" rIns="0" tIns="0" bIns="0" anchor="t">
            <a:spAutoFit/>
          </a:bodyPr>
          <a:lstStyle/>
          <a:p>
            <a:pPr algn="l">
              <a:lnSpc>
                <a:spcPct val="120000"/>
              </a:lnSpc>
            </a:pPr>
            <a:r>
              <a:rPr sz="800" b="1" i="0">
                <a:solidFill>
                  <a:srgbClr val="1D4ED8"/>
                </a:solidFill>
                <a:latin typeface="Helvetica Neue"/>
              </a:rPr>
              <a:t>IMPLICATION</a:t>
            </a:r>
          </a:p>
        </p:txBody>
      </p:sp>
      <p:sp>
        <p:nvSpPr>
          <p:cNvPr id="33" name="TextBox 32"/>
          <p:cNvSpPr txBox="1"/>
          <p:nvPr/>
        </p:nvSpPr>
        <p:spPr>
          <a:xfrm>
            <a:off x="731520" y="5897880"/>
            <a:ext cx="10698480" cy="274320"/>
          </a:xfrm>
          <a:prstGeom prst="rect">
            <a:avLst/>
          </a:prstGeom>
          <a:noFill/>
        </p:spPr>
        <p:txBody>
          <a:bodyPr wrap="square" lIns="0" rIns="0" tIns="0" bIns="0" anchor="t">
            <a:spAutoFit/>
          </a:bodyPr>
          <a:lstStyle/>
          <a:p>
            <a:pPr algn="l">
              <a:lnSpc>
                <a:spcPct val="120000"/>
              </a:lnSpc>
            </a:pPr>
            <a:r>
              <a:rPr sz="1300" b="1" i="0">
                <a:solidFill>
                  <a:srgbClr val="111827"/>
                </a:solidFill>
                <a:latin typeface="Helvetica Neue"/>
              </a:rPr>
              <a:t>The frame is institutional reassurance under scrutiny  —  not regulatory failure after mass death.</a:t>
            </a:r>
          </a:p>
        </p:txBody>
      </p:sp>
      <p:sp>
        <p:nvSpPr>
          <p:cNvPr id="34" name="TextBox 33"/>
          <p:cNvSpPr txBox="1"/>
          <p:nvPr/>
        </p:nvSpPr>
        <p:spPr>
          <a:xfrm>
            <a:off x="502920" y="6537960"/>
            <a:ext cx="10058400" cy="274320"/>
          </a:xfrm>
          <a:prstGeom prst="rect">
            <a:avLst/>
          </a:prstGeom>
          <a:noFill/>
        </p:spPr>
        <p:txBody>
          <a:bodyPr wrap="square" lIns="0" rIns="0" tIns="0" bIns="0" anchor="t">
            <a:spAutoFit/>
          </a:bodyPr>
          <a:lstStyle/>
          <a:p>
            <a:pPr algn="l">
              <a:lnSpc>
                <a:spcPct val="120000"/>
              </a:lnSpc>
            </a:pPr>
            <a:r>
              <a:rPr sz="700" b="0" i="0">
                <a:solidFill>
                  <a:srgbClr val="64748B"/>
                </a:solidFill>
                <a:latin typeface="Helvetica Neue"/>
              </a:rPr>
              <a:t>Article frame from WSJ citation; source categories based on project outline and article analysis. Pasztor &amp; Tangel had broken the MCAS self-certification story (Nov 13, 2018) — the framing here is structural, not authorial bias.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8872" cy="685800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277295" y="6537960"/>
            <a:ext cx="457200" cy="274320"/>
          </a:xfrm>
          <a:prstGeom prst="rect">
            <a:avLst/>
          </a:prstGeom>
          <a:noFill/>
        </p:spPr>
        <p:txBody>
          <a:bodyPr wrap="square" lIns="0" rIns="0" tIns="0" bIns="0" anchor="t">
            <a:spAutoFit/>
          </a:bodyPr>
          <a:lstStyle/>
          <a:p>
            <a:pPr algn="r">
              <a:lnSpc>
                <a:spcPct val="120000"/>
              </a:lnSpc>
            </a:pPr>
            <a:r>
              <a:rPr sz="800" b="1" i="0">
                <a:solidFill>
                  <a:srgbClr val="64748B"/>
                </a:solidFill>
                <a:latin typeface="Helvetica Neue"/>
              </a:rPr>
              <a:t>05</a:t>
            </a:r>
          </a:p>
        </p:txBody>
      </p:sp>
      <p:sp>
        <p:nvSpPr>
          <p:cNvPr id="5" name="TextBox 4"/>
          <p:cNvSpPr txBox="1"/>
          <p:nvPr/>
        </p:nvSpPr>
        <p:spPr>
          <a:xfrm>
            <a:off x="502920" y="457200"/>
            <a:ext cx="10972800" cy="274320"/>
          </a:xfrm>
          <a:prstGeom prst="rect">
            <a:avLst/>
          </a:prstGeom>
          <a:noFill/>
        </p:spPr>
        <p:txBody>
          <a:bodyPr wrap="square" lIns="0" rIns="0" tIns="0" bIns="0" anchor="t">
            <a:spAutoFit/>
          </a:bodyPr>
          <a:lstStyle/>
          <a:p>
            <a:pPr algn="l">
              <a:lnSpc>
                <a:spcPct val="120000"/>
              </a:lnSpc>
            </a:pPr>
            <a:r>
              <a:rPr sz="900" b="1" i="0">
                <a:solidFill>
                  <a:srgbClr val="1D4ED8"/>
                </a:solidFill>
                <a:latin typeface="Helvetica Neue"/>
              </a:rPr>
              <a:t>FILTERS 1 AND 2</a:t>
            </a:r>
          </a:p>
        </p:txBody>
      </p:sp>
      <p:sp>
        <p:nvSpPr>
          <p:cNvPr id="6" name="TextBox 5"/>
          <p:cNvSpPr txBox="1"/>
          <p:nvPr/>
        </p:nvSpPr>
        <p:spPr>
          <a:xfrm>
            <a:off x="502920" y="758952"/>
            <a:ext cx="11430000" cy="777240"/>
          </a:xfrm>
          <a:prstGeom prst="rect">
            <a:avLst/>
          </a:prstGeom>
          <a:noFill/>
        </p:spPr>
        <p:txBody>
          <a:bodyPr wrap="square" lIns="0" rIns="0" tIns="0" bIns="0" anchor="t">
            <a:spAutoFit/>
          </a:bodyPr>
          <a:lstStyle/>
          <a:p>
            <a:pPr algn="l">
              <a:lnSpc>
                <a:spcPct val="110000"/>
              </a:lnSpc>
            </a:pPr>
            <a:r>
              <a:rPr sz="3000" b="1" i="0">
                <a:solidFill>
                  <a:srgbClr val="111827"/>
                </a:solidFill>
                <a:latin typeface="Helvetica Neue"/>
              </a:rPr>
              <a:t>Ownership and advertising fit as conditions, not proof.</a:t>
            </a:r>
          </a:p>
        </p:txBody>
      </p:sp>
      <p:sp>
        <p:nvSpPr>
          <p:cNvPr id="7" name="TextBox 6"/>
          <p:cNvSpPr txBox="1"/>
          <p:nvPr/>
        </p:nvSpPr>
        <p:spPr>
          <a:xfrm>
            <a:off x="502920" y="1627632"/>
            <a:ext cx="11430000" cy="411480"/>
          </a:xfrm>
          <a:prstGeom prst="rect">
            <a:avLst/>
          </a:prstGeom>
          <a:noFill/>
        </p:spPr>
        <p:txBody>
          <a:bodyPr wrap="square" lIns="0" rIns="0" tIns="0" bIns="0" anchor="t">
            <a:spAutoFit/>
          </a:bodyPr>
          <a:lstStyle/>
          <a:p>
            <a:pPr algn="l">
              <a:lnSpc>
                <a:spcPct val="130000"/>
              </a:lnSpc>
            </a:pPr>
            <a:r>
              <a:rPr sz="1300" b="0" i="0">
                <a:solidFill>
                  <a:srgbClr val="64748B"/>
                </a:solidFill>
                <a:latin typeface="Helvetica Neue"/>
              </a:rPr>
              <a:t>These filters explain viability: why a sustained anti-Boeing campaign would be costly for a business paper.</a:t>
            </a:r>
          </a:p>
        </p:txBody>
      </p:sp>
      <p:sp>
        <p:nvSpPr>
          <p:cNvPr id="8" name="Rectangle 7"/>
          <p:cNvSpPr/>
          <p:nvPr/>
        </p:nvSpPr>
        <p:spPr>
          <a:xfrm>
            <a:off x="502920" y="2194560"/>
            <a:ext cx="5486400" cy="1600200"/>
          </a:xfrm>
          <a:prstGeom prst="rect">
            <a:avLst/>
          </a:prstGeom>
          <a:solidFill>
            <a:srgbClr val="F9FAFB"/>
          </a:solidFill>
          <a:ln w="9525">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217920" y="2194560"/>
            <a:ext cx="5486400" cy="1600200"/>
          </a:xfrm>
          <a:prstGeom prst="rect">
            <a:avLst/>
          </a:prstGeom>
          <a:solidFill>
            <a:srgbClr val="F9FAFB"/>
          </a:solidFill>
          <a:ln w="9525">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377440"/>
            <a:ext cx="5486400" cy="274320"/>
          </a:xfrm>
          <a:prstGeom prst="rect">
            <a:avLst/>
          </a:prstGeom>
          <a:noFill/>
        </p:spPr>
        <p:txBody>
          <a:bodyPr wrap="square" lIns="0" rIns="0" tIns="0" bIns="0" anchor="t">
            <a:spAutoFit/>
          </a:bodyPr>
          <a:lstStyle/>
          <a:p>
            <a:pPr algn="l">
              <a:lnSpc>
                <a:spcPct val="120000"/>
              </a:lnSpc>
            </a:pPr>
            <a:r>
              <a:rPr sz="800" b="1" i="0">
                <a:solidFill>
                  <a:srgbClr val="1D4ED8"/>
                </a:solidFill>
                <a:latin typeface="Helvetica Neue"/>
              </a:rPr>
              <a:t>FILTER 1: OWNERSHIP / CLASS</a:t>
            </a:r>
          </a:p>
        </p:txBody>
      </p:sp>
      <p:sp>
        <p:nvSpPr>
          <p:cNvPr id="11" name="TextBox 10"/>
          <p:cNvSpPr txBox="1"/>
          <p:nvPr/>
        </p:nvSpPr>
        <p:spPr>
          <a:xfrm>
            <a:off x="731520" y="2697480"/>
            <a:ext cx="5120640" cy="1051560"/>
          </a:xfrm>
          <a:prstGeom prst="rect">
            <a:avLst/>
          </a:prstGeom>
          <a:noFill/>
        </p:spPr>
        <p:txBody>
          <a:bodyPr wrap="square" lIns="0" rIns="0" tIns="0" bIns="0" anchor="t">
            <a:spAutoFit/>
          </a:bodyPr>
          <a:lstStyle/>
          <a:p>
            <a:pPr algn="l">
              <a:lnSpc>
                <a:spcPct val="130000"/>
              </a:lnSpc>
            </a:pPr>
            <a:r>
              <a:rPr sz="1300" b="1" i="0">
                <a:solidFill>
                  <a:srgbClr val="111827"/>
                </a:solidFill>
                <a:latin typeface="Helvetica Neue"/>
              </a:rPr>
              <a:t>WSJ is corporate-financial America’s paper of record. Boeing is corporate America: Dow component, largest exporter, Pentagon prime, anchor employer for WA + SC.</a:t>
            </a:r>
          </a:p>
        </p:txBody>
      </p:sp>
      <p:sp>
        <p:nvSpPr>
          <p:cNvPr id="12" name="TextBox 11"/>
          <p:cNvSpPr txBox="1"/>
          <p:nvPr/>
        </p:nvSpPr>
        <p:spPr>
          <a:xfrm>
            <a:off x="6446520" y="2377440"/>
            <a:ext cx="5486400" cy="274320"/>
          </a:xfrm>
          <a:prstGeom prst="rect">
            <a:avLst/>
          </a:prstGeom>
          <a:noFill/>
        </p:spPr>
        <p:txBody>
          <a:bodyPr wrap="square" lIns="0" rIns="0" tIns="0" bIns="0" anchor="t">
            <a:spAutoFit/>
          </a:bodyPr>
          <a:lstStyle/>
          <a:p>
            <a:pPr algn="l">
              <a:lnSpc>
                <a:spcPct val="120000"/>
              </a:lnSpc>
            </a:pPr>
            <a:r>
              <a:rPr sz="800" b="1" i="0">
                <a:solidFill>
                  <a:srgbClr val="C2410C"/>
                </a:solidFill>
                <a:latin typeface="Helvetica Neue"/>
              </a:rPr>
              <a:t>FILTER 2: READER-AD ECOLOGY</a:t>
            </a:r>
          </a:p>
        </p:txBody>
      </p:sp>
      <p:sp>
        <p:nvSpPr>
          <p:cNvPr id="13" name="TextBox 12"/>
          <p:cNvSpPr txBox="1"/>
          <p:nvPr/>
        </p:nvSpPr>
        <p:spPr>
          <a:xfrm>
            <a:off x="6446520" y="2697480"/>
            <a:ext cx="5120640" cy="1051560"/>
          </a:xfrm>
          <a:prstGeom prst="rect">
            <a:avLst/>
          </a:prstGeom>
          <a:noFill/>
        </p:spPr>
        <p:txBody>
          <a:bodyPr wrap="square" lIns="0" rIns="0" tIns="0" bIns="0" anchor="t">
            <a:spAutoFit/>
          </a:bodyPr>
          <a:lstStyle/>
          <a:p>
            <a:pPr algn="l">
              <a:lnSpc>
                <a:spcPct val="130000"/>
              </a:lnSpc>
            </a:pPr>
            <a:r>
              <a:rPr sz="1300" b="1" i="0">
                <a:solidFill>
                  <a:srgbClr val="111827"/>
                </a:solidFill>
                <a:latin typeface="Helvetica Neue"/>
              </a:rPr>
              <a:t>Aerospace, airlines, finance, law, and consulting form the same commercial world the WSJ serves — and WSJ readers hold Boeing in their portfolios.</a:t>
            </a:r>
          </a:p>
        </p:txBody>
      </p:sp>
      <p:sp>
        <p:nvSpPr>
          <p:cNvPr id="14" name="Rectangle 13"/>
          <p:cNvSpPr/>
          <p:nvPr/>
        </p:nvSpPr>
        <p:spPr>
          <a:xfrm>
            <a:off x="502920" y="4160520"/>
            <a:ext cx="5486400" cy="1828800"/>
          </a:xfrm>
          <a:prstGeom prst="rect">
            <a:avLst/>
          </a:prstGeom>
          <a:solidFill>
            <a:srgbClr val="FEF2F2"/>
          </a:solidFill>
          <a:ln w="12700">
            <a:solidFill>
              <a:srgbClr val="B91C1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4325112"/>
            <a:ext cx="5486400" cy="274320"/>
          </a:xfrm>
          <a:prstGeom prst="rect">
            <a:avLst/>
          </a:prstGeom>
          <a:noFill/>
        </p:spPr>
        <p:txBody>
          <a:bodyPr wrap="square" lIns="0" rIns="0" tIns="0" bIns="0" anchor="t">
            <a:spAutoFit/>
          </a:bodyPr>
          <a:lstStyle/>
          <a:p>
            <a:pPr algn="l">
              <a:lnSpc>
                <a:spcPct val="120000"/>
              </a:lnSpc>
            </a:pPr>
            <a:r>
              <a:rPr sz="900" b="1" i="0">
                <a:solidFill>
                  <a:srgbClr val="B91C1C"/>
                </a:solidFill>
                <a:latin typeface="Helvetica Neue"/>
              </a:rPr>
              <a:t>✕  WHAT THIS SLIDE DOES NOT CLAIM</a:t>
            </a:r>
          </a:p>
        </p:txBody>
      </p:sp>
      <p:sp>
        <p:nvSpPr>
          <p:cNvPr id="16" name="TextBox 15"/>
          <p:cNvSpPr txBox="1"/>
          <p:nvPr/>
        </p:nvSpPr>
        <p:spPr>
          <a:xfrm>
            <a:off x="731520" y="4636008"/>
            <a:ext cx="5120640" cy="1280160"/>
          </a:xfrm>
          <a:prstGeom prst="rect">
            <a:avLst/>
          </a:prstGeom>
          <a:noFill/>
        </p:spPr>
        <p:txBody>
          <a:bodyPr wrap="square" lIns="0" rIns="0" tIns="0" bIns="0" anchor="t">
            <a:spAutoFit/>
          </a:bodyPr>
          <a:lstStyle/>
          <a:p>
            <a:pPr algn="l">
              <a:lnSpc>
                <a:spcPct val="140000"/>
              </a:lnSpc>
            </a:pPr>
            <a:r>
              <a:rPr sz="1500" b="1" i="0" strike="sngStrike">
                <a:solidFill>
                  <a:srgbClr val="B91C1C"/>
                </a:solidFill>
                <a:latin typeface="Helvetica Neue"/>
              </a:rPr>
              <a:t>Murdoch called the newsroom.</a:t>
            </a:r>
          </a:p>
          <a:p>
            <a:pPr algn="l">
              <a:lnSpc>
                <a:spcPct val="140000"/>
              </a:lnSpc>
            </a:pPr>
            <a:r>
              <a:rPr sz="1500" b="1" i="0" strike="sngStrike">
                <a:solidFill>
                  <a:srgbClr val="B91C1C"/>
                </a:solidFill>
                <a:latin typeface="Helvetica Neue"/>
              </a:rPr>
              <a:t>Boeing bought the headline.</a:t>
            </a:r>
          </a:p>
          <a:p>
            <a:pPr algn="l">
              <a:lnSpc>
                <a:spcPct val="140000"/>
              </a:lnSpc>
            </a:pPr>
            <a:r>
              <a:rPr sz="1500" b="1" i="0" strike="sngStrike">
                <a:solidFill>
                  <a:srgbClr val="B91C1C"/>
                </a:solidFill>
                <a:latin typeface="Helvetica Neue"/>
              </a:rPr>
              <a:t>Advertisers killed the story.</a:t>
            </a:r>
          </a:p>
        </p:txBody>
      </p:sp>
      <p:sp>
        <p:nvSpPr>
          <p:cNvPr id="17" name="Rectangle 16"/>
          <p:cNvSpPr/>
          <p:nvPr/>
        </p:nvSpPr>
        <p:spPr>
          <a:xfrm>
            <a:off x="6217920" y="4160520"/>
            <a:ext cx="5486400" cy="1828800"/>
          </a:xfrm>
          <a:prstGeom prst="rect">
            <a:avLst/>
          </a:prstGeom>
          <a:solidFill>
            <a:srgbClr val="ECFDF5"/>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46520" y="4325112"/>
            <a:ext cx="5486400" cy="274320"/>
          </a:xfrm>
          <a:prstGeom prst="rect">
            <a:avLst/>
          </a:prstGeom>
          <a:noFill/>
        </p:spPr>
        <p:txBody>
          <a:bodyPr wrap="square" lIns="0" rIns="0" tIns="0" bIns="0" anchor="t">
            <a:spAutoFit/>
          </a:bodyPr>
          <a:lstStyle/>
          <a:p>
            <a:pPr algn="l">
              <a:lnSpc>
                <a:spcPct val="120000"/>
              </a:lnSpc>
            </a:pPr>
            <a:r>
              <a:rPr sz="900" b="1" i="0">
                <a:solidFill>
                  <a:srgbClr val="059669"/>
                </a:solidFill>
                <a:latin typeface="Helvetica Neue"/>
              </a:rPr>
              <a:t>✓  WHAT IT CAN CLAIM</a:t>
            </a:r>
          </a:p>
        </p:txBody>
      </p:sp>
      <p:sp>
        <p:nvSpPr>
          <p:cNvPr id="19" name="TextBox 18"/>
          <p:cNvSpPr txBox="1"/>
          <p:nvPr/>
        </p:nvSpPr>
        <p:spPr>
          <a:xfrm>
            <a:off x="6446520" y="4636008"/>
            <a:ext cx="5120640" cy="1280160"/>
          </a:xfrm>
          <a:prstGeom prst="rect">
            <a:avLst/>
          </a:prstGeom>
          <a:noFill/>
        </p:spPr>
        <p:txBody>
          <a:bodyPr wrap="square" lIns="0" rIns="0" tIns="0" bIns="0" anchor="t">
            <a:spAutoFit/>
          </a:bodyPr>
          <a:lstStyle/>
          <a:p>
            <a:pPr algn="l">
              <a:lnSpc>
                <a:spcPct val="140000"/>
              </a:lnSpc>
            </a:pPr>
            <a:r>
              <a:rPr sz="1500" b="1" i="0">
                <a:solidFill>
                  <a:srgbClr val="111827"/>
                </a:solidFill>
                <a:latin typeface="Helvetica Neue"/>
              </a:rPr>
              <a:t>A single critical article is tolerable. A sustained structural campaign against Boeing is institutionally expensive.</a:t>
            </a:r>
          </a:p>
        </p:txBody>
      </p:sp>
      <p:sp>
        <p:nvSpPr>
          <p:cNvPr id="20" name="TextBox 19"/>
          <p:cNvSpPr txBox="1"/>
          <p:nvPr/>
        </p:nvSpPr>
        <p:spPr>
          <a:xfrm>
            <a:off x="502920" y="5806440"/>
            <a:ext cx="11155680" cy="594360"/>
          </a:xfrm>
          <a:prstGeom prst="rect">
            <a:avLst/>
          </a:prstGeom>
          <a:noFill/>
        </p:spPr>
        <p:txBody>
          <a:bodyPr wrap="square" lIns="0" rIns="0" tIns="0" bIns="0" anchor="t">
            <a:spAutoFit/>
          </a:bodyPr>
          <a:lstStyle/>
          <a:p>
            <a:pPr algn="l">
              <a:lnSpc>
                <a:spcPct val="120000"/>
              </a:lnSpc>
            </a:pPr>
            <a:r>
              <a:rPr sz="1100" b="0" i="1">
                <a:solidFill>
                  <a:srgbClr val="111827"/>
                </a:solidFill>
                <a:latin typeface="Georgia"/>
              </a:rPr>
              <a:t>“the dominant media firms … are closely interlocked … with other major corporations, banks, and government.”   </a:t>
            </a:r>
            <a:r>
              <a:rPr sz="900" b="0" i="0">
                <a:solidFill>
                  <a:srgbClr val="64748B"/>
                </a:solidFill>
                <a:latin typeface="Helvetica Neue"/>
              </a:rPr>
              <a:t>— Herman &amp; Chomsky, p. 14</a:t>
            </a:r>
          </a:p>
        </p:txBody>
      </p:sp>
      <p:sp>
        <p:nvSpPr>
          <p:cNvPr id="21" name="TextBox 20"/>
          <p:cNvSpPr txBox="1"/>
          <p:nvPr/>
        </p:nvSpPr>
        <p:spPr>
          <a:xfrm>
            <a:off x="502920" y="6537960"/>
            <a:ext cx="10058400" cy="274320"/>
          </a:xfrm>
          <a:prstGeom prst="rect">
            <a:avLst/>
          </a:prstGeom>
          <a:noFill/>
        </p:spPr>
        <p:txBody>
          <a:bodyPr wrap="square" lIns="0" rIns="0" tIns="0" bIns="0" anchor="t">
            <a:spAutoFit/>
          </a:bodyPr>
          <a:lstStyle/>
          <a:p>
            <a:pPr algn="l">
              <a:lnSpc>
                <a:spcPct val="120000"/>
              </a:lnSpc>
            </a:pPr>
            <a:r>
              <a:rPr sz="700" b="0" i="0">
                <a:solidFill>
                  <a:srgbClr val="64748B"/>
                </a:solidFill>
                <a:latin typeface="Helvetica Neue"/>
              </a:rPr>
              <a:t>Use as structural context; avoid unsupported claims about direct advertiser or owner intervention.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8872" cy="685800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277295" y="6537960"/>
            <a:ext cx="457200" cy="274320"/>
          </a:xfrm>
          <a:prstGeom prst="rect">
            <a:avLst/>
          </a:prstGeom>
          <a:noFill/>
        </p:spPr>
        <p:txBody>
          <a:bodyPr wrap="square" lIns="0" rIns="0" tIns="0" bIns="0" anchor="t">
            <a:spAutoFit/>
          </a:bodyPr>
          <a:lstStyle/>
          <a:p>
            <a:pPr algn="r">
              <a:lnSpc>
                <a:spcPct val="120000"/>
              </a:lnSpc>
            </a:pPr>
            <a:r>
              <a:rPr sz="800" b="1" i="0">
                <a:solidFill>
                  <a:srgbClr val="64748B"/>
                </a:solidFill>
                <a:latin typeface="Helvetica Neue"/>
              </a:rPr>
              <a:t>06</a:t>
            </a:r>
          </a:p>
        </p:txBody>
      </p:sp>
      <p:sp>
        <p:nvSpPr>
          <p:cNvPr id="5" name="TextBox 4"/>
          <p:cNvSpPr txBox="1"/>
          <p:nvPr/>
        </p:nvSpPr>
        <p:spPr>
          <a:xfrm>
            <a:off x="502920" y="457200"/>
            <a:ext cx="10972800" cy="274320"/>
          </a:xfrm>
          <a:prstGeom prst="rect">
            <a:avLst/>
          </a:prstGeom>
          <a:noFill/>
        </p:spPr>
        <p:txBody>
          <a:bodyPr wrap="square" lIns="0" rIns="0" tIns="0" bIns="0" anchor="t">
            <a:spAutoFit/>
          </a:bodyPr>
          <a:lstStyle/>
          <a:p>
            <a:pPr algn="l">
              <a:lnSpc>
                <a:spcPct val="120000"/>
              </a:lnSpc>
            </a:pPr>
            <a:r>
              <a:rPr sz="900" b="1" i="0">
                <a:solidFill>
                  <a:srgbClr val="1D4ED8"/>
                </a:solidFill>
                <a:latin typeface="Helvetica Neue"/>
              </a:rPr>
              <a:t>FILTER 3</a:t>
            </a:r>
          </a:p>
        </p:txBody>
      </p:sp>
      <p:sp>
        <p:nvSpPr>
          <p:cNvPr id="6" name="TextBox 5"/>
          <p:cNvSpPr txBox="1"/>
          <p:nvPr/>
        </p:nvSpPr>
        <p:spPr>
          <a:xfrm>
            <a:off x="502920" y="758952"/>
            <a:ext cx="11430000" cy="777240"/>
          </a:xfrm>
          <a:prstGeom prst="rect">
            <a:avLst/>
          </a:prstGeom>
          <a:noFill/>
        </p:spPr>
        <p:txBody>
          <a:bodyPr wrap="square" lIns="0" rIns="0" tIns="0" bIns="0" anchor="t">
            <a:spAutoFit/>
          </a:bodyPr>
          <a:lstStyle/>
          <a:p>
            <a:pPr algn="l">
              <a:lnSpc>
                <a:spcPct val="110000"/>
              </a:lnSpc>
            </a:pPr>
            <a:r>
              <a:rPr sz="3000" b="1" i="0">
                <a:solidFill>
                  <a:srgbClr val="111827"/>
                </a:solidFill>
                <a:latin typeface="Helvetica Neue"/>
              </a:rPr>
              <a:t>Sourcing is where the model becomes visible.</a:t>
            </a:r>
          </a:p>
        </p:txBody>
      </p:sp>
      <p:sp>
        <p:nvSpPr>
          <p:cNvPr id="7" name="TextBox 6"/>
          <p:cNvSpPr txBox="1"/>
          <p:nvPr/>
        </p:nvSpPr>
        <p:spPr>
          <a:xfrm>
            <a:off x="502920" y="1627632"/>
            <a:ext cx="11430000" cy="411480"/>
          </a:xfrm>
          <a:prstGeom prst="rect">
            <a:avLst/>
          </a:prstGeom>
          <a:noFill/>
        </p:spPr>
        <p:txBody>
          <a:bodyPr wrap="square" lIns="0" rIns="0" tIns="0" bIns="0" anchor="t">
            <a:spAutoFit/>
          </a:bodyPr>
          <a:lstStyle/>
          <a:p>
            <a:pPr algn="l">
              <a:lnSpc>
                <a:spcPct val="130000"/>
              </a:lnSpc>
            </a:pPr>
            <a:r>
              <a:rPr sz="1300" b="0" i="0">
                <a:solidFill>
                  <a:srgbClr val="64748B"/>
                </a:solidFill>
                <a:latin typeface="Helvetica Neue"/>
              </a:rPr>
              <a:t>The cheap, official, recurring sources determine what the story can easily become.</a:t>
            </a:r>
          </a:p>
        </p:txBody>
      </p:sp>
      <p:sp>
        <p:nvSpPr>
          <p:cNvPr id="8" name="Oval 7"/>
          <p:cNvSpPr/>
          <p:nvPr/>
        </p:nvSpPr>
        <p:spPr>
          <a:xfrm>
            <a:off x="4267047" y="2880360"/>
            <a:ext cx="3657600" cy="1280160"/>
          </a:xfrm>
          <a:prstGeom prst="ellipse">
            <a:avLst/>
          </a:prstGeom>
          <a:solidFill>
            <a:srgbClr val="F8FAFC"/>
          </a:solidFill>
          <a:ln w="15875">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267047" y="2880360"/>
            <a:ext cx="3657600" cy="1280160"/>
          </a:xfrm>
          <a:prstGeom prst="rect">
            <a:avLst/>
          </a:prstGeom>
          <a:noFill/>
        </p:spPr>
        <p:txBody>
          <a:bodyPr wrap="square" lIns="0" rIns="0" tIns="0" bIns="0" anchor="ctr">
            <a:spAutoFit/>
          </a:bodyPr>
          <a:lstStyle/>
          <a:p>
            <a:pPr algn="ctr">
              <a:lnSpc>
                <a:spcPct val="120000"/>
              </a:lnSpc>
            </a:pPr>
            <a:r>
              <a:rPr sz="1500" b="1" i="0">
                <a:solidFill>
                  <a:srgbClr val="1D4ED8"/>
                </a:solidFill>
                <a:latin typeface="Helvetica Neue"/>
              </a:rPr>
              <a:t>FAA as authorized knower</a:t>
            </a:r>
          </a:p>
        </p:txBody>
      </p:sp>
      <p:sp>
        <p:nvSpPr>
          <p:cNvPr id="10" name="Rectangle 9"/>
          <p:cNvSpPr/>
          <p:nvPr/>
        </p:nvSpPr>
        <p:spPr>
          <a:xfrm>
            <a:off x="502920" y="2560320"/>
            <a:ext cx="2377440" cy="502920"/>
          </a:xfrm>
          <a:prstGeom prst="rect">
            <a:avLst/>
          </a:prstGeom>
          <a:solidFill>
            <a:srgbClr val="F9FAFB"/>
          </a:solidFill>
          <a:ln w="9525">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2560320"/>
            <a:ext cx="2377440" cy="502920"/>
          </a:xfrm>
          <a:prstGeom prst="rect">
            <a:avLst/>
          </a:prstGeom>
          <a:noFill/>
        </p:spPr>
        <p:txBody>
          <a:bodyPr wrap="square" lIns="0" rIns="0" tIns="0" bIns="0" anchor="ctr">
            <a:spAutoFit/>
          </a:bodyPr>
          <a:lstStyle/>
          <a:p>
            <a:pPr algn="ctr">
              <a:lnSpc>
                <a:spcPct val="120000"/>
              </a:lnSpc>
            </a:pPr>
            <a:r>
              <a:rPr sz="1200" b="1" i="0">
                <a:solidFill>
                  <a:srgbClr val="1D4ED8"/>
                </a:solidFill>
                <a:latin typeface="Helvetica Neue"/>
              </a:rPr>
              <a:t>Boeing</a:t>
            </a:r>
          </a:p>
        </p:txBody>
      </p:sp>
      <p:cxnSp>
        <p:nvCxnSpPr>
          <p:cNvPr id="12" name="Connector 11"/>
          <p:cNvCxnSpPr/>
          <p:nvPr/>
        </p:nvCxnSpPr>
        <p:spPr>
          <a:xfrm>
            <a:off x="2880360" y="2816352"/>
            <a:ext cx="1386687.5" cy="704088"/>
          </a:xfrm>
          <a:prstGeom prst="line">
            <a:avLst/>
          </a:prstGeom>
          <a:ln w="12700">
            <a:solidFill>
              <a:srgbClr val="64748B"/>
            </a:solidFill>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502920" y="4114800"/>
            <a:ext cx="2377440" cy="502920"/>
          </a:xfrm>
          <a:prstGeom prst="rect">
            <a:avLst/>
          </a:prstGeom>
          <a:solidFill>
            <a:srgbClr val="F9FAFB"/>
          </a:solidFill>
          <a:ln w="9525">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4114800"/>
            <a:ext cx="2377440" cy="502920"/>
          </a:xfrm>
          <a:prstGeom prst="rect">
            <a:avLst/>
          </a:prstGeom>
          <a:noFill/>
        </p:spPr>
        <p:txBody>
          <a:bodyPr wrap="square" lIns="0" rIns="0" tIns="0" bIns="0" anchor="ctr">
            <a:spAutoFit/>
          </a:bodyPr>
          <a:lstStyle/>
          <a:p>
            <a:pPr algn="ctr">
              <a:lnSpc>
                <a:spcPct val="120000"/>
              </a:lnSpc>
            </a:pPr>
            <a:r>
              <a:rPr sz="1200" b="1" i="0">
                <a:solidFill>
                  <a:srgbClr val="1D4ED8"/>
                </a:solidFill>
                <a:latin typeface="Helvetica Neue"/>
              </a:rPr>
              <a:t>U.S. airlines</a:t>
            </a:r>
          </a:p>
        </p:txBody>
      </p:sp>
      <p:cxnSp>
        <p:nvCxnSpPr>
          <p:cNvPr id="15" name="Connector 14"/>
          <p:cNvCxnSpPr/>
          <p:nvPr/>
        </p:nvCxnSpPr>
        <p:spPr>
          <a:xfrm flipV="1">
            <a:off x="2880360" y="3520440"/>
            <a:ext cx="1386687.5" cy="850392"/>
          </a:xfrm>
          <a:prstGeom prst="line">
            <a:avLst/>
          </a:prstGeom>
          <a:ln w="12700">
            <a:solidFill>
              <a:srgbClr val="64748B"/>
            </a:solidFill>
          </a:ln>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9326880" y="2560320"/>
            <a:ext cx="2377440" cy="502920"/>
          </a:xfrm>
          <a:prstGeom prst="rect">
            <a:avLst/>
          </a:prstGeom>
          <a:solidFill>
            <a:srgbClr val="F9FAFB"/>
          </a:solidFill>
          <a:ln w="9525">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326880" y="2560320"/>
            <a:ext cx="2377440" cy="502920"/>
          </a:xfrm>
          <a:prstGeom prst="rect">
            <a:avLst/>
          </a:prstGeom>
          <a:noFill/>
        </p:spPr>
        <p:txBody>
          <a:bodyPr wrap="square" lIns="0" rIns="0" tIns="0" bIns="0" anchor="ctr">
            <a:spAutoFit/>
          </a:bodyPr>
          <a:lstStyle/>
          <a:p>
            <a:pPr algn="ctr">
              <a:lnSpc>
                <a:spcPct val="120000"/>
              </a:lnSpc>
            </a:pPr>
            <a:r>
              <a:rPr sz="1200" b="1" i="0">
                <a:solidFill>
                  <a:srgbClr val="1D4ED8"/>
                </a:solidFill>
                <a:latin typeface="Helvetica Neue"/>
              </a:rPr>
              <a:t>Industry officials</a:t>
            </a:r>
          </a:p>
        </p:txBody>
      </p:sp>
      <p:cxnSp>
        <p:nvCxnSpPr>
          <p:cNvPr id="18" name="Connector 17"/>
          <p:cNvCxnSpPr/>
          <p:nvPr/>
        </p:nvCxnSpPr>
        <p:spPr>
          <a:xfrm flipH="1">
            <a:off x="7924647.5" y="2816352"/>
            <a:ext cx="1402232.5" cy="704088"/>
          </a:xfrm>
          <a:prstGeom prst="line">
            <a:avLst/>
          </a:prstGeom>
          <a:ln w="12700">
            <a:solidFill>
              <a:srgbClr val="64748B"/>
            </a:solidFill>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9326880" y="4114800"/>
            <a:ext cx="2377440" cy="502920"/>
          </a:xfrm>
          <a:prstGeom prst="rect">
            <a:avLst/>
          </a:prstGeom>
          <a:solidFill>
            <a:srgbClr val="F9FAFB"/>
          </a:solidFill>
          <a:ln w="9525">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0" y="4114800"/>
            <a:ext cx="2377440" cy="502920"/>
          </a:xfrm>
          <a:prstGeom prst="rect">
            <a:avLst/>
          </a:prstGeom>
          <a:noFill/>
        </p:spPr>
        <p:txBody>
          <a:bodyPr wrap="square" lIns="0" rIns="0" tIns="0" bIns="0" anchor="ctr">
            <a:spAutoFit/>
          </a:bodyPr>
          <a:lstStyle/>
          <a:p>
            <a:pPr algn="ctr">
              <a:lnSpc>
                <a:spcPct val="120000"/>
              </a:lnSpc>
            </a:pPr>
            <a:r>
              <a:rPr sz="1200" b="1" i="0">
                <a:solidFill>
                  <a:srgbClr val="1D4ED8"/>
                </a:solidFill>
                <a:latin typeface="Helvetica Neue"/>
              </a:rPr>
              <a:t>Official notices</a:t>
            </a:r>
          </a:p>
        </p:txBody>
      </p:sp>
      <p:cxnSp>
        <p:nvCxnSpPr>
          <p:cNvPr id="21" name="Connector 20"/>
          <p:cNvCxnSpPr/>
          <p:nvPr/>
        </p:nvCxnSpPr>
        <p:spPr>
          <a:xfrm flipH="1" flipV="1">
            <a:off x="7924647.5" y="3520440"/>
            <a:ext cx="1402232.5" cy="850392"/>
          </a:xfrm>
          <a:prstGeom prst="line">
            <a:avLst/>
          </a:prstGeom>
          <a:ln w="12700">
            <a:solidFill>
              <a:srgbClr val="64748B"/>
            </a:solidFill>
          </a:ln>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502920" y="5074920"/>
            <a:ext cx="5486400" cy="960120"/>
          </a:xfrm>
          <a:prstGeom prst="rect">
            <a:avLst/>
          </a:prstGeom>
          <a:solidFill>
            <a:srgbClr val="F9FAFB"/>
          </a:solidFill>
          <a:ln w="9525">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5193792"/>
            <a:ext cx="5486400" cy="228600"/>
          </a:xfrm>
          <a:prstGeom prst="rect">
            <a:avLst/>
          </a:prstGeom>
          <a:noFill/>
        </p:spPr>
        <p:txBody>
          <a:bodyPr wrap="square" lIns="0" rIns="0" tIns="0" bIns="0" anchor="t">
            <a:spAutoFit/>
          </a:bodyPr>
          <a:lstStyle/>
          <a:p>
            <a:pPr algn="l">
              <a:lnSpc>
                <a:spcPct val="120000"/>
              </a:lnSpc>
            </a:pPr>
            <a:r>
              <a:rPr sz="800" b="1" i="0">
                <a:solidFill>
                  <a:srgbClr val="B91C1C"/>
                </a:solidFill>
                <a:latin typeface="Helvetica Neue"/>
              </a:rPr>
              <a:t>CONTRAST OBJECT</a:t>
            </a:r>
          </a:p>
        </p:txBody>
      </p:sp>
      <p:sp>
        <p:nvSpPr>
          <p:cNvPr id="24" name="TextBox 23"/>
          <p:cNvSpPr txBox="1"/>
          <p:nvPr/>
        </p:nvSpPr>
        <p:spPr>
          <a:xfrm>
            <a:off x="731520" y="5422392"/>
            <a:ext cx="5120640" cy="594360"/>
          </a:xfrm>
          <a:prstGeom prst="rect">
            <a:avLst/>
          </a:prstGeom>
          <a:noFill/>
        </p:spPr>
        <p:txBody>
          <a:bodyPr wrap="square" lIns="0" rIns="0" tIns="0" bIns="0" anchor="t">
            <a:spAutoFit/>
          </a:bodyPr>
          <a:lstStyle/>
          <a:p>
            <a:pPr algn="l">
              <a:lnSpc>
                <a:spcPct val="130000"/>
              </a:lnSpc>
            </a:pPr>
            <a:r>
              <a:rPr sz="1200" b="1" i="0">
                <a:solidFill>
                  <a:srgbClr val="111827"/>
                </a:solidFill>
                <a:latin typeface="Helvetica Neue"/>
              </a:rPr>
              <a:t>Six days later, Dominic Gates (Seattle Times) reframed FAA as a delegated, compromised regulator.  Won the 2020 Pulitzer.</a:t>
            </a:r>
          </a:p>
        </p:txBody>
      </p:sp>
      <p:sp>
        <p:nvSpPr>
          <p:cNvPr id="25" name="Rectangle 24"/>
          <p:cNvSpPr/>
          <p:nvPr/>
        </p:nvSpPr>
        <p:spPr>
          <a:xfrm>
            <a:off x="6217920" y="5074920"/>
            <a:ext cx="5486400" cy="960120"/>
          </a:xfrm>
          <a:prstGeom prst="rect">
            <a:avLst/>
          </a:prstGeom>
          <a:solidFill>
            <a:srgbClr val="F9FAFB"/>
          </a:solidFill>
          <a:ln w="9525">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46520" y="5193792"/>
            <a:ext cx="5486400" cy="228600"/>
          </a:xfrm>
          <a:prstGeom prst="rect">
            <a:avLst/>
          </a:prstGeom>
          <a:noFill/>
        </p:spPr>
        <p:txBody>
          <a:bodyPr wrap="square" lIns="0" rIns="0" tIns="0" bIns="0" anchor="t">
            <a:spAutoFit/>
          </a:bodyPr>
          <a:lstStyle/>
          <a:p>
            <a:pPr algn="l">
              <a:lnSpc>
                <a:spcPct val="120000"/>
              </a:lnSpc>
            </a:pPr>
            <a:r>
              <a:rPr sz="800" b="1" i="0">
                <a:solidFill>
                  <a:srgbClr val="1D4ED8"/>
                </a:solidFill>
                <a:latin typeface="Helvetica Neue"/>
              </a:rPr>
              <a:t>WHY IT MATTERS</a:t>
            </a:r>
          </a:p>
        </p:txBody>
      </p:sp>
      <p:sp>
        <p:nvSpPr>
          <p:cNvPr id="27" name="TextBox 26"/>
          <p:cNvSpPr txBox="1"/>
          <p:nvPr/>
        </p:nvSpPr>
        <p:spPr>
          <a:xfrm>
            <a:off x="6446520" y="5422392"/>
            <a:ext cx="5120640" cy="594360"/>
          </a:xfrm>
          <a:prstGeom prst="rect">
            <a:avLst/>
          </a:prstGeom>
          <a:noFill/>
        </p:spPr>
        <p:txBody>
          <a:bodyPr wrap="square" lIns="0" rIns="0" tIns="0" bIns="0" anchor="t">
            <a:spAutoFit/>
          </a:bodyPr>
          <a:lstStyle/>
          <a:p>
            <a:pPr algn="l">
              <a:lnSpc>
                <a:spcPct val="130000"/>
              </a:lnSpc>
            </a:pPr>
            <a:r>
              <a:rPr sz="1200" b="1" i="0">
                <a:solidFill>
                  <a:srgbClr val="111827"/>
                </a:solidFill>
                <a:latin typeface="Helvetica Neue"/>
              </a:rPr>
              <a:t>A frame that indicts the source relationship costs more than a frame that quotes it.</a:t>
            </a:r>
          </a:p>
        </p:txBody>
      </p:sp>
      <p:sp>
        <p:nvSpPr>
          <p:cNvPr id="28" name="TextBox 27"/>
          <p:cNvSpPr txBox="1"/>
          <p:nvPr/>
        </p:nvSpPr>
        <p:spPr>
          <a:xfrm>
            <a:off x="502920" y="5806440"/>
            <a:ext cx="11155680" cy="594360"/>
          </a:xfrm>
          <a:prstGeom prst="rect">
            <a:avLst/>
          </a:prstGeom>
          <a:noFill/>
        </p:spPr>
        <p:txBody>
          <a:bodyPr wrap="square" lIns="0" rIns="0" tIns="0" bIns="0" anchor="t">
            <a:spAutoFit/>
          </a:bodyPr>
          <a:lstStyle/>
          <a:p>
            <a:pPr algn="l">
              <a:lnSpc>
                <a:spcPct val="120000"/>
              </a:lnSpc>
            </a:pPr>
            <a:r>
              <a:rPr sz="1100" b="0" i="1">
                <a:solidFill>
                  <a:srgbClr val="111827"/>
                </a:solidFill>
                <a:latin typeface="Georgia"/>
              </a:rPr>
              <a:t>“Officials have and give the facts; reporters merely get them.”   </a:t>
            </a:r>
            <a:r>
              <a:rPr sz="900" b="0" i="0">
                <a:solidFill>
                  <a:srgbClr val="64748B"/>
                </a:solidFill>
                <a:latin typeface="Helvetica Neue"/>
              </a:rPr>
              <a:t>— Mark Fishman, quoted in Manufacturing Consent, p. 19</a:t>
            </a:r>
          </a:p>
        </p:txBody>
      </p:sp>
      <p:sp>
        <p:nvSpPr>
          <p:cNvPr id="29" name="TextBox 28"/>
          <p:cNvSpPr txBox="1"/>
          <p:nvPr/>
        </p:nvSpPr>
        <p:spPr>
          <a:xfrm>
            <a:off x="502920" y="6537960"/>
            <a:ext cx="10058400" cy="274320"/>
          </a:xfrm>
          <a:prstGeom prst="rect">
            <a:avLst/>
          </a:prstGeom>
          <a:noFill/>
        </p:spPr>
        <p:txBody>
          <a:bodyPr wrap="square" lIns="0" rIns="0" tIns="0" bIns="0" anchor="t">
            <a:spAutoFit/>
          </a:bodyPr>
          <a:lstStyle/>
          <a:p>
            <a:pPr algn="l">
              <a:lnSpc>
                <a:spcPct val="120000"/>
              </a:lnSpc>
            </a:pPr>
            <a:r>
              <a:rPr sz="700" b="0" i="0">
                <a:solidFill>
                  <a:srgbClr val="64748B"/>
                </a:solidFill>
                <a:latin typeface="Helvetica Neue"/>
              </a:rPr>
              <a:t>Dominic Gates, Seattle Times, “Flawed analysis, failed oversight,” Mar 17, 2019 — same beat, different publication structure, captured-regulator framing in the lead.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8872" cy="685800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277295" y="6537960"/>
            <a:ext cx="457200" cy="274320"/>
          </a:xfrm>
          <a:prstGeom prst="rect">
            <a:avLst/>
          </a:prstGeom>
          <a:noFill/>
        </p:spPr>
        <p:txBody>
          <a:bodyPr wrap="square" lIns="0" rIns="0" tIns="0" bIns="0" anchor="t">
            <a:spAutoFit/>
          </a:bodyPr>
          <a:lstStyle/>
          <a:p>
            <a:pPr algn="r">
              <a:lnSpc>
                <a:spcPct val="120000"/>
              </a:lnSpc>
            </a:pPr>
            <a:r>
              <a:rPr sz="800" b="1" i="0">
                <a:solidFill>
                  <a:srgbClr val="64748B"/>
                </a:solidFill>
                <a:latin typeface="Helvetica Neue"/>
              </a:rPr>
              <a:t>07</a:t>
            </a:r>
          </a:p>
        </p:txBody>
      </p:sp>
      <p:sp>
        <p:nvSpPr>
          <p:cNvPr id="5" name="TextBox 4"/>
          <p:cNvSpPr txBox="1"/>
          <p:nvPr/>
        </p:nvSpPr>
        <p:spPr>
          <a:xfrm>
            <a:off x="502920" y="457200"/>
            <a:ext cx="10972800" cy="274320"/>
          </a:xfrm>
          <a:prstGeom prst="rect">
            <a:avLst/>
          </a:prstGeom>
          <a:noFill/>
        </p:spPr>
        <p:txBody>
          <a:bodyPr wrap="square" lIns="0" rIns="0" tIns="0" bIns="0" anchor="t">
            <a:spAutoFit/>
          </a:bodyPr>
          <a:lstStyle/>
          <a:p>
            <a:pPr algn="l">
              <a:lnSpc>
                <a:spcPct val="120000"/>
              </a:lnSpc>
            </a:pPr>
            <a:r>
              <a:rPr sz="900" b="1" i="0">
                <a:solidFill>
                  <a:srgbClr val="1D4ED8"/>
                </a:solidFill>
                <a:latin typeface="Helvetica Neue"/>
              </a:rPr>
              <a:t>FILTER 4</a:t>
            </a:r>
          </a:p>
        </p:txBody>
      </p:sp>
      <p:sp>
        <p:nvSpPr>
          <p:cNvPr id="6" name="TextBox 5"/>
          <p:cNvSpPr txBox="1"/>
          <p:nvPr/>
        </p:nvSpPr>
        <p:spPr>
          <a:xfrm>
            <a:off x="502920" y="758952"/>
            <a:ext cx="11430000" cy="777240"/>
          </a:xfrm>
          <a:prstGeom prst="rect">
            <a:avLst/>
          </a:prstGeom>
          <a:noFill/>
        </p:spPr>
        <p:txBody>
          <a:bodyPr wrap="square" lIns="0" rIns="0" tIns="0" bIns="0" anchor="t">
            <a:spAutoFit/>
          </a:bodyPr>
          <a:lstStyle/>
          <a:p>
            <a:pPr algn="l">
              <a:lnSpc>
                <a:spcPct val="110000"/>
              </a:lnSpc>
            </a:pPr>
            <a:r>
              <a:rPr sz="3000" b="1" i="0">
                <a:solidFill>
                  <a:srgbClr val="111827"/>
                </a:solidFill>
                <a:latin typeface="Helvetica Neue"/>
              </a:rPr>
              <a:t>Flak fits best as anticipated cost.</a:t>
            </a:r>
          </a:p>
        </p:txBody>
      </p:sp>
      <p:sp>
        <p:nvSpPr>
          <p:cNvPr id="7" name="TextBox 6"/>
          <p:cNvSpPr txBox="1"/>
          <p:nvPr/>
        </p:nvSpPr>
        <p:spPr>
          <a:xfrm>
            <a:off x="502920" y="1627632"/>
            <a:ext cx="11430000" cy="411480"/>
          </a:xfrm>
          <a:prstGeom prst="rect">
            <a:avLst/>
          </a:prstGeom>
          <a:noFill/>
        </p:spPr>
        <p:txBody>
          <a:bodyPr wrap="square" lIns="0" rIns="0" tIns="0" bIns="0" anchor="t">
            <a:spAutoFit/>
          </a:bodyPr>
          <a:lstStyle/>
          <a:p>
            <a:pPr algn="l">
              <a:lnSpc>
                <a:spcPct val="130000"/>
              </a:lnSpc>
            </a:pPr>
            <a:r>
              <a:rPr sz="1300" b="0" i="0">
                <a:solidFill>
                  <a:srgbClr val="64748B"/>
                </a:solidFill>
                <a:latin typeface="Helvetica Neue"/>
              </a:rPr>
              <a:t>Do not argue Boeing threatened this article. Argue that certain frames were predictably expensive.</a:t>
            </a:r>
          </a:p>
        </p:txBody>
      </p:sp>
      <p:sp>
        <p:nvSpPr>
          <p:cNvPr id="8" name="Rectangle 7"/>
          <p:cNvSpPr/>
          <p:nvPr/>
        </p:nvSpPr>
        <p:spPr>
          <a:xfrm>
            <a:off x="502920" y="2194560"/>
            <a:ext cx="10058400" cy="731520"/>
          </a:xfrm>
          <a:prstGeom prst="rect">
            <a:avLst/>
          </a:prstGeom>
          <a:solidFill>
            <a:srgbClr val="ECFDF5"/>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2286000"/>
            <a:ext cx="1463040" cy="548640"/>
          </a:xfrm>
          <a:prstGeom prst="rect">
            <a:avLst/>
          </a:prstGeom>
          <a:noFill/>
        </p:spPr>
        <p:txBody>
          <a:bodyPr wrap="square" lIns="0" rIns="0" tIns="0" bIns="0" anchor="ctr">
            <a:spAutoFit/>
          </a:bodyPr>
          <a:lstStyle/>
          <a:p>
            <a:pPr algn="l">
              <a:lnSpc>
                <a:spcPct val="120000"/>
              </a:lnSpc>
            </a:pPr>
            <a:r>
              <a:rPr sz="1000" b="1" i="0">
                <a:solidFill>
                  <a:srgbClr val="059669"/>
                </a:solidFill>
                <a:latin typeface="Helvetica Neue"/>
              </a:rPr>
              <a:t>LOW COST</a:t>
            </a:r>
          </a:p>
        </p:txBody>
      </p:sp>
      <p:sp>
        <p:nvSpPr>
          <p:cNvPr id="10" name="TextBox 9"/>
          <p:cNvSpPr txBox="1"/>
          <p:nvPr/>
        </p:nvSpPr>
        <p:spPr>
          <a:xfrm>
            <a:off x="2286000" y="2194560"/>
            <a:ext cx="8046720" cy="731520"/>
          </a:xfrm>
          <a:prstGeom prst="rect">
            <a:avLst/>
          </a:prstGeom>
          <a:noFill/>
        </p:spPr>
        <p:txBody>
          <a:bodyPr wrap="square" lIns="0" rIns="0" tIns="0" bIns="0" anchor="ctr">
            <a:spAutoFit/>
          </a:bodyPr>
          <a:lstStyle/>
          <a:p>
            <a:pPr algn="l">
              <a:lnSpc>
                <a:spcPct val="120000"/>
              </a:lnSpc>
            </a:pPr>
            <a:r>
              <a:rPr sz="1400" b="1" i="0">
                <a:solidFill>
                  <a:srgbClr val="111827"/>
                </a:solidFill>
                <a:latin typeface="Helvetica Neue"/>
              </a:rPr>
              <a:t>FAA decision under scrutiny</a:t>
            </a:r>
          </a:p>
        </p:txBody>
      </p:sp>
      <p:sp>
        <p:nvSpPr>
          <p:cNvPr id="11" name="Rectangle 10"/>
          <p:cNvSpPr/>
          <p:nvPr/>
        </p:nvSpPr>
        <p:spPr>
          <a:xfrm>
            <a:off x="1097280" y="3090672"/>
            <a:ext cx="10058400" cy="731520"/>
          </a:xfrm>
          <a:prstGeom prst="rect">
            <a:avLst/>
          </a:prstGeom>
          <a:solidFill>
            <a:srgbClr val="FFF7ED"/>
          </a:solidFill>
          <a:ln w="12700">
            <a:solidFill>
              <a:srgbClr val="C241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325880" y="3182112"/>
            <a:ext cx="1463040" cy="548640"/>
          </a:xfrm>
          <a:prstGeom prst="rect">
            <a:avLst/>
          </a:prstGeom>
          <a:noFill/>
        </p:spPr>
        <p:txBody>
          <a:bodyPr wrap="square" lIns="0" rIns="0" tIns="0" bIns="0" anchor="ctr">
            <a:spAutoFit/>
          </a:bodyPr>
          <a:lstStyle/>
          <a:p>
            <a:pPr algn="l">
              <a:lnSpc>
                <a:spcPct val="120000"/>
              </a:lnSpc>
            </a:pPr>
            <a:r>
              <a:rPr sz="1000" b="1" i="0">
                <a:solidFill>
                  <a:srgbClr val="C2410C"/>
                </a:solidFill>
                <a:latin typeface="Helvetica Neue"/>
              </a:rPr>
              <a:t>MEDIUM COST</a:t>
            </a:r>
          </a:p>
        </p:txBody>
      </p:sp>
      <p:sp>
        <p:nvSpPr>
          <p:cNvPr id="13" name="TextBox 12"/>
          <p:cNvSpPr txBox="1"/>
          <p:nvPr/>
        </p:nvSpPr>
        <p:spPr>
          <a:xfrm>
            <a:off x="2880360" y="3090672"/>
            <a:ext cx="8046720" cy="731520"/>
          </a:xfrm>
          <a:prstGeom prst="rect">
            <a:avLst/>
          </a:prstGeom>
          <a:noFill/>
        </p:spPr>
        <p:txBody>
          <a:bodyPr wrap="square" lIns="0" rIns="0" tIns="0" bIns="0" anchor="ctr">
            <a:spAutoFit/>
          </a:bodyPr>
          <a:lstStyle/>
          <a:p>
            <a:pPr algn="l">
              <a:lnSpc>
                <a:spcPct val="120000"/>
              </a:lnSpc>
            </a:pPr>
            <a:r>
              <a:rPr sz="1400" b="1" i="0">
                <a:solidFill>
                  <a:srgbClr val="111827"/>
                </a:solidFill>
                <a:latin typeface="Helvetica Neue"/>
              </a:rPr>
              <a:t>Boeing design choices under scrutiny</a:t>
            </a:r>
          </a:p>
        </p:txBody>
      </p:sp>
      <p:sp>
        <p:nvSpPr>
          <p:cNvPr id="14" name="Rectangle 13"/>
          <p:cNvSpPr/>
          <p:nvPr/>
        </p:nvSpPr>
        <p:spPr>
          <a:xfrm>
            <a:off x="1691640" y="3986784"/>
            <a:ext cx="10058400" cy="731520"/>
          </a:xfrm>
          <a:prstGeom prst="rect">
            <a:avLst/>
          </a:prstGeom>
          <a:solidFill>
            <a:srgbClr val="FEF2F2"/>
          </a:solidFill>
          <a:ln w="12700">
            <a:solidFill>
              <a:srgbClr val="B91C1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920240" y="4078224"/>
            <a:ext cx="1463040" cy="548640"/>
          </a:xfrm>
          <a:prstGeom prst="rect">
            <a:avLst/>
          </a:prstGeom>
          <a:noFill/>
        </p:spPr>
        <p:txBody>
          <a:bodyPr wrap="square" lIns="0" rIns="0" tIns="0" bIns="0" anchor="ctr">
            <a:spAutoFit/>
          </a:bodyPr>
          <a:lstStyle/>
          <a:p>
            <a:pPr algn="l">
              <a:lnSpc>
                <a:spcPct val="120000"/>
              </a:lnSpc>
            </a:pPr>
            <a:r>
              <a:rPr sz="1000" b="1" i="0">
                <a:solidFill>
                  <a:srgbClr val="B91C1C"/>
                </a:solidFill>
                <a:latin typeface="Helvetica Neue"/>
              </a:rPr>
              <a:t>HIGH COST</a:t>
            </a:r>
          </a:p>
        </p:txBody>
      </p:sp>
      <p:sp>
        <p:nvSpPr>
          <p:cNvPr id="16" name="TextBox 15"/>
          <p:cNvSpPr txBox="1"/>
          <p:nvPr/>
        </p:nvSpPr>
        <p:spPr>
          <a:xfrm>
            <a:off x="3474720" y="3986784"/>
            <a:ext cx="8046720" cy="731520"/>
          </a:xfrm>
          <a:prstGeom prst="rect">
            <a:avLst/>
          </a:prstGeom>
          <a:noFill/>
        </p:spPr>
        <p:txBody>
          <a:bodyPr wrap="square" lIns="0" rIns="0" tIns="0" bIns="0" anchor="ctr">
            <a:spAutoFit/>
          </a:bodyPr>
          <a:lstStyle/>
          <a:p>
            <a:pPr algn="l">
              <a:lnSpc>
                <a:spcPct val="120000"/>
              </a:lnSpc>
            </a:pPr>
            <a:r>
              <a:rPr sz="1400" b="1" i="0">
                <a:solidFill>
                  <a:srgbClr val="111827"/>
                </a:solidFill>
                <a:latin typeface="Helvetica Neue"/>
              </a:rPr>
              <a:t>FAA captured by Boeing; certification failed</a:t>
            </a:r>
          </a:p>
        </p:txBody>
      </p:sp>
      <p:sp>
        <p:nvSpPr>
          <p:cNvPr id="17" name="Rectangle 16"/>
          <p:cNvSpPr/>
          <p:nvPr/>
        </p:nvSpPr>
        <p:spPr>
          <a:xfrm>
            <a:off x="502920" y="5166360"/>
            <a:ext cx="11155680" cy="868680"/>
          </a:xfrm>
          <a:prstGeom prst="rect">
            <a:avLst/>
          </a:prstGeom>
          <a:solidFill>
            <a:srgbClr val="F9FAFB"/>
          </a:solidFill>
          <a:ln w="9525">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5276088"/>
            <a:ext cx="11155680" cy="228600"/>
          </a:xfrm>
          <a:prstGeom prst="rect">
            <a:avLst/>
          </a:prstGeom>
          <a:noFill/>
        </p:spPr>
        <p:txBody>
          <a:bodyPr wrap="square" lIns="0" rIns="0" tIns="0" bIns="0" anchor="t">
            <a:spAutoFit/>
          </a:bodyPr>
          <a:lstStyle/>
          <a:p>
            <a:pPr algn="l">
              <a:lnSpc>
                <a:spcPct val="120000"/>
              </a:lnSpc>
            </a:pPr>
            <a:r>
              <a:rPr sz="800" b="1" i="0">
                <a:solidFill>
                  <a:srgbClr val="1D4ED8"/>
                </a:solidFill>
                <a:latin typeface="Helvetica Neue"/>
              </a:rPr>
              <a:t>MECHANISM</a:t>
            </a:r>
          </a:p>
        </p:txBody>
      </p:sp>
      <p:sp>
        <p:nvSpPr>
          <p:cNvPr id="19" name="TextBox 18"/>
          <p:cNvSpPr txBox="1"/>
          <p:nvPr/>
        </p:nvSpPr>
        <p:spPr>
          <a:xfrm>
            <a:off x="731520" y="5495544"/>
            <a:ext cx="10789920" cy="502920"/>
          </a:xfrm>
          <a:prstGeom prst="rect">
            <a:avLst/>
          </a:prstGeom>
          <a:noFill/>
        </p:spPr>
        <p:txBody>
          <a:bodyPr wrap="square" lIns="0" rIns="0" tIns="0" bIns="0" anchor="t">
            <a:spAutoFit/>
          </a:bodyPr>
          <a:lstStyle/>
          <a:p>
            <a:pPr algn="l">
              <a:lnSpc>
                <a:spcPct val="130000"/>
              </a:lnSpc>
            </a:pPr>
            <a:r>
              <a:rPr sz="1200" b="1" i="0">
                <a:solidFill>
                  <a:srgbClr val="111827"/>
                </a:solidFill>
                <a:latin typeface="Helvetica Neue"/>
              </a:rPr>
              <a:t>Access, PR response, legal complaint, editor pressure, and future sourcing all live in the reporter’s cost calculation. Acting Defense Secretary Patrick Shanahan was a 30-year Boeing executive.</a:t>
            </a:r>
          </a:p>
        </p:txBody>
      </p:sp>
      <p:sp>
        <p:nvSpPr>
          <p:cNvPr id="20" name="TextBox 19"/>
          <p:cNvSpPr txBox="1"/>
          <p:nvPr/>
        </p:nvSpPr>
        <p:spPr>
          <a:xfrm>
            <a:off x="502920" y="5806440"/>
            <a:ext cx="11155680" cy="594360"/>
          </a:xfrm>
          <a:prstGeom prst="rect">
            <a:avLst/>
          </a:prstGeom>
          <a:noFill/>
        </p:spPr>
        <p:txBody>
          <a:bodyPr wrap="square" lIns="0" rIns="0" tIns="0" bIns="0" anchor="t">
            <a:spAutoFit/>
          </a:bodyPr>
          <a:lstStyle/>
          <a:p>
            <a:pPr algn="l">
              <a:lnSpc>
                <a:spcPct val="120000"/>
              </a:lnSpc>
            </a:pPr>
            <a:r>
              <a:rPr sz="1100" b="0" i="1">
                <a:solidFill>
                  <a:srgbClr val="111827"/>
                </a:solidFill>
                <a:latin typeface="Georgia"/>
              </a:rPr>
              <a:t>“If certain kinds of fact, position, or program are thought likely to elicit flak, this prospect can be a deterrent.”   </a:t>
            </a:r>
            <a:r>
              <a:rPr sz="900" b="0" i="0">
                <a:solidFill>
                  <a:srgbClr val="64748B"/>
                </a:solidFill>
                <a:latin typeface="Helvetica Neue"/>
              </a:rPr>
              <a:t>— Herman &amp; Chomsky, p. 26</a:t>
            </a:r>
          </a:p>
        </p:txBody>
      </p:sp>
      <p:sp>
        <p:nvSpPr>
          <p:cNvPr id="21" name="TextBox 20"/>
          <p:cNvSpPr txBox="1"/>
          <p:nvPr/>
        </p:nvSpPr>
        <p:spPr>
          <a:xfrm>
            <a:off x="502920" y="6537960"/>
            <a:ext cx="10058400" cy="274320"/>
          </a:xfrm>
          <a:prstGeom prst="rect">
            <a:avLst/>
          </a:prstGeom>
          <a:noFill/>
        </p:spPr>
        <p:txBody>
          <a:bodyPr wrap="square" lIns="0" rIns="0" tIns="0" bIns="0" anchor="t">
            <a:spAutoFit/>
          </a:bodyPr>
          <a:lstStyle/>
          <a:p>
            <a:pPr algn="l">
              <a:lnSpc>
                <a:spcPct val="120000"/>
              </a:lnSpc>
            </a:pPr>
            <a:r>
              <a:rPr sz="700" b="0" i="0">
                <a:solidFill>
                  <a:srgbClr val="64748B"/>
                </a:solidFill>
                <a:latin typeface="Helvetica Neue"/>
              </a:rPr>
              <a:t>Filter 4 is presented as indirect / partial fit; stronger later evidence appears in Frontline / NYT 'Boeing’s Fatal Flaw' (2021) and post-2019 reporting on Boeing pressure.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8872" cy="685800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277295" y="6537960"/>
            <a:ext cx="457200" cy="274320"/>
          </a:xfrm>
          <a:prstGeom prst="rect">
            <a:avLst/>
          </a:prstGeom>
          <a:noFill/>
        </p:spPr>
        <p:txBody>
          <a:bodyPr wrap="square" lIns="0" rIns="0" tIns="0" bIns="0" anchor="t">
            <a:spAutoFit/>
          </a:bodyPr>
          <a:lstStyle/>
          <a:p>
            <a:pPr algn="r">
              <a:lnSpc>
                <a:spcPct val="120000"/>
              </a:lnSpc>
            </a:pPr>
            <a:r>
              <a:rPr sz="800" b="1" i="0">
                <a:solidFill>
                  <a:srgbClr val="64748B"/>
                </a:solidFill>
                <a:latin typeface="Helvetica Neue"/>
              </a:rPr>
              <a:t>08</a:t>
            </a:r>
          </a:p>
        </p:txBody>
      </p:sp>
      <p:sp>
        <p:nvSpPr>
          <p:cNvPr id="5" name="TextBox 4"/>
          <p:cNvSpPr txBox="1"/>
          <p:nvPr/>
        </p:nvSpPr>
        <p:spPr>
          <a:xfrm>
            <a:off x="502920" y="457200"/>
            <a:ext cx="10972800" cy="274320"/>
          </a:xfrm>
          <a:prstGeom prst="rect">
            <a:avLst/>
          </a:prstGeom>
          <a:noFill/>
        </p:spPr>
        <p:txBody>
          <a:bodyPr wrap="square" lIns="0" rIns="0" tIns="0" bIns="0" anchor="t">
            <a:spAutoFit/>
          </a:bodyPr>
          <a:lstStyle/>
          <a:p>
            <a:pPr algn="l">
              <a:lnSpc>
                <a:spcPct val="120000"/>
              </a:lnSpc>
            </a:pPr>
            <a:r>
              <a:rPr sz="900" b="1" i="0">
                <a:solidFill>
                  <a:srgbClr val="1D4ED8"/>
                </a:solidFill>
                <a:latin typeface="Helvetica Neue"/>
              </a:rPr>
              <a:t>FILTER 5</a:t>
            </a:r>
          </a:p>
        </p:txBody>
      </p:sp>
      <p:sp>
        <p:nvSpPr>
          <p:cNvPr id="6" name="TextBox 5"/>
          <p:cNvSpPr txBox="1"/>
          <p:nvPr/>
        </p:nvSpPr>
        <p:spPr>
          <a:xfrm>
            <a:off x="502920" y="758952"/>
            <a:ext cx="11430000" cy="777240"/>
          </a:xfrm>
          <a:prstGeom prst="rect">
            <a:avLst/>
          </a:prstGeom>
          <a:noFill/>
        </p:spPr>
        <p:txBody>
          <a:bodyPr wrap="square" lIns="0" rIns="0" tIns="0" bIns="0" anchor="t">
            <a:spAutoFit/>
          </a:bodyPr>
          <a:lstStyle/>
          <a:p>
            <a:pPr algn="l">
              <a:lnSpc>
                <a:spcPct val="110000"/>
              </a:lnSpc>
            </a:pPr>
            <a:r>
              <a:rPr sz="3000" b="1" i="0">
                <a:solidFill>
                  <a:srgbClr val="111827"/>
                </a:solidFill>
                <a:latin typeface="Helvetica Neue"/>
              </a:rPr>
              <a:t>The fifth filter is the analytical upgrade.</a:t>
            </a:r>
          </a:p>
        </p:txBody>
      </p:sp>
      <p:sp>
        <p:nvSpPr>
          <p:cNvPr id="7" name="TextBox 6"/>
          <p:cNvSpPr txBox="1"/>
          <p:nvPr/>
        </p:nvSpPr>
        <p:spPr>
          <a:xfrm>
            <a:off x="502920" y="1627632"/>
            <a:ext cx="11430000" cy="411480"/>
          </a:xfrm>
          <a:prstGeom prst="rect">
            <a:avLst/>
          </a:prstGeom>
          <a:noFill/>
        </p:spPr>
        <p:txBody>
          <a:bodyPr wrap="square" lIns="0" rIns="0" tIns="0" bIns="0" anchor="t">
            <a:spAutoFit/>
          </a:bodyPr>
          <a:lstStyle/>
          <a:p>
            <a:pPr algn="l">
              <a:lnSpc>
                <a:spcPct val="130000"/>
              </a:lnSpc>
            </a:pPr>
            <a:r>
              <a:rPr sz="1300" b="0" i="0">
                <a:solidFill>
                  <a:srgbClr val="64748B"/>
                </a:solidFill>
                <a:latin typeface="Helvetica Neue"/>
              </a:rPr>
              <a:t>The content changes from anticommunism to techno-industrial nationalism; the function stays the same.</a:t>
            </a:r>
          </a:p>
        </p:txBody>
      </p:sp>
      <p:sp>
        <p:nvSpPr>
          <p:cNvPr id="8" name="TextBox 7"/>
          <p:cNvSpPr txBox="1"/>
          <p:nvPr/>
        </p:nvSpPr>
        <p:spPr>
          <a:xfrm>
            <a:off x="502920" y="2240280"/>
            <a:ext cx="914400" cy="274320"/>
          </a:xfrm>
          <a:prstGeom prst="rect">
            <a:avLst/>
          </a:prstGeom>
          <a:noFill/>
        </p:spPr>
        <p:txBody>
          <a:bodyPr wrap="square" lIns="0" rIns="0" tIns="0" bIns="0" anchor="t">
            <a:spAutoFit/>
          </a:bodyPr>
          <a:lstStyle/>
          <a:p>
            <a:pPr algn="l">
              <a:lnSpc>
                <a:spcPct val="120000"/>
              </a:lnSpc>
            </a:pPr>
            <a:r>
              <a:rPr sz="1100" b="1" i="0">
                <a:solidFill>
                  <a:srgbClr val="64748B"/>
                </a:solidFill>
                <a:latin typeface="Helvetica Neue"/>
              </a:rPr>
              <a:t>1988</a:t>
            </a:r>
          </a:p>
        </p:txBody>
      </p:sp>
      <p:sp>
        <p:nvSpPr>
          <p:cNvPr id="9" name="TextBox 8"/>
          <p:cNvSpPr txBox="1"/>
          <p:nvPr/>
        </p:nvSpPr>
        <p:spPr>
          <a:xfrm>
            <a:off x="502920" y="2487168"/>
            <a:ext cx="5486400" cy="502920"/>
          </a:xfrm>
          <a:prstGeom prst="rect">
            <a:avLst/>
          </a:prstGeom>
          <a:noFill/>
        </p:spPr>
        <p:txBody>
          <a:bodyPr wrap="square" lIns="0" rIns="0" tIns="0" bIns="0" anchor="t">
            <a:spAutoFit/>
          </a:bodyPr>
          <a:lstStyle/>
          <a:p>
            <a:pPr algn="l">
              <a:lnSpc>
                <a:spcPct val="120000"/>
              </a:lnSpc>
            </a:pPr>
            <a:r>
              <a:rPr sz="2200" b="1" i="0">
                <a:solidFill>
                  <a:srgbClr val="111827"/>
                </a:solidFill>
                <a:latin typeface="Helvetica Neue"/>
              </a:rPr>
              <a:t>Anticommunism</a:t>
            </a:r>
          </a:p>
        </p:txBody>
      </p:sp>
      <p:sp>
        <p:nvSpPr>
          <p:cNvPr id="10" name="TextBox 9"/>
          <p:cNvSpPr txBox="1"/>
          <p:nvPr/>
        </p:nvSpPr>
        <p:spPr>
          <a:xfrm>
            <a:off x="502920" y="3017520"/>
            <a:ext cx="914400" cy="274320"/>
          </a:xfrm>
          <a:prstGeom prst="rect">
            <a:avLst/>
          </a:prstGeom>
          <a:noFill/>
        </p:spPr>
        <p:txBody>
          <a:bodyPr wrap="square" lIns="0" rIns="0" tIns="0" bIns="0" anchor="t">
            <a:spAutoFit/>
          </a:bodyPr>
          <a:lstStyle/>
          <a:p>
            <a:pPr algn="l">
              <a:lnSpc>
                <a:spcPct val="120000"/>
              </a:lnSpc>
            </a:pPr>
            <a:r>
              <a:rPr sz="1100" b="1" i="0">
                <a:solidFill>
                  <a:srgbClr val="64748B"/>
                </a:solidFill>
                <a:latin typeface="Helvetica Neue"/>
              </a:rPr>
              <a:t>2002</a:t>
            </a:r>
          </a:p>
        </p:txBody>
      </p:sp>
      <p:sp>
        <p:nvSpPr>
          <p:cNvPr id="11" name="TextBox 10"/>
          <p:cNvSpPr txBox="1"/>
          <p:nvPr/>
        </p:nvSpPr>
        <p:spPr>
          <a:xfrm>
            <a:off x="502920" y="3264408"/>
            <a:ext cx="5486400" cy="502920"/>
          </a:xfrm>
          <a:prstGeom prst="rect">
            <a:avLst/>
          </a:prstGeom>
          <a:noFill/>
        </p:spPr>
        <p:txBody>
          <a:bodyPr wrap="square" lIns="0" rIns="0" tIns="0" bIns="0" anchor="t">
            <a:spAutoFit/>
          </a:bodyPr>
          <a:lstStyle/>
          <a:p>
            <a:pPr algn="l">
              <a:lnSpc>
                <a:spcPct val="120000"/>
              </a:lnSpc>
            </a:pPr>
            <a:r>
              <a:rPr sz="2200" b="1" i="0">
                <a:solidFill>
                  <a:srgbClr val="111827"/>
                </a:solidFill>
                <a:latin typeface="Helvetica Neue"/>
              </a:rPr>
              <a:t>Religion of the market</a:t>
            </a:r>
          </a:p>
        </p:txBody>
      </p:sp>
      <p:sp>
        <p:nvSpPr>
          <p:cNvPr id="12" name="TextBox 11"/>
          <p:cNvSpPr txBox="1"/>
          <p:nvPr/>
        </p:nvSpPr>
        <p:spPr>
          <a:xfrm>
            <a:off x="502920" y="3794760"/>
            <a:ext cx="914400" cy="274320"/>
          </a:xfrm>
          <a:prstGeom prst="rect">
            <a:avLst/>
          </a:prstGeom>
          <a:noFill/>
        </p:spPr>
        <p:txBody>
          <a:bodyPr wrap="square" lIns="0" rIns="0" tIns="0" bIns="0" anchor="t">
            <a:spAutoFit/>
          </a:bodyPr>
          <a:lstStyle/>
          <a:p>
            <a:pPr algn="l">
              <a:lnSpc>
                <a:spcPct val="120000"/>
              </a:lnSpc>
            </a:pPr>
            <a:r>
              <a:rPr sz="1100" b="1" i="0">
                <a:solidFill>
                  <a:srgbClr val="64748B"/>
                </a:solidFill>
                <a:latin typeface="Helvetica Neue"/>
              </a:rPr>
              <a:t>2019</a:t>
            </a:r>
          </a:p>
        </p:txBody>
      </p:sp>
      <p:sp>
        <p:nvSpPr>
          <p:cNvPr id="13" name="TextBox 12"/>
          <p:cNvSpPr txBox="1"/>
          <p:nvPr/>
        </p:nvSpPr>
        <p:spPr>
          <a:xfrm>
            <a:off x="502920" y="4041648"/>
            <a:ext cx="5486400" cy="502920"/>
          </a:xfrm>
          <a:prstGeom prst="rect">
            <a:avLst/>
          </a:prstGeom>
          <a:noFill/>
        </p:spPr>
        <p:txBody>
          <a:bodyPr wrap="square" lIns="0" rIns="0" tIns="0" bIns="0" anchor="t">
            <a:spAutoFit/>
          </a:bodyPr>
          <a:lstStyle/>
          <a:p>
            <a:pPr algn="l">
              <a:lnSpc>
                <a:spcPct val="120000"/>
              </a:lnSpc>
            </a:pPr>
            <a:r>
              <a:rPr sz="2200" b="1" i="0">
                <a:solidFill>
                  <a:srgbClr val="B91C1C"/>
                </a:solidFill>
                <a:latin typeface="Helvetica Neue"/>
              </a:rPr>
              <a:t>Techno-industrial nationalism</a:t>
            </a:r>
          </a:p>
        </p:txBody>
      </p:sp>
      <p:sp>
        <p:nvSpPr>
          <p:cNvPr id="14" name="Rectangle 13"/>
          <p:cNvSpPr/>
          <p:nvPr/>
        </p:nvSpPr>
        <p:spPr>
          <a:xfrm>
            <a:off x="6766560" y="2194560"/>
            <a:ext cx="4937760" cy="502920"/>
          </a:xfrm>
          <a:prstGeom prst="rect">
            <a:avLst/>
          </a:prstGeom>
          <a:solidFill>
            <a:srgbClr val="F8FAFC"/>
          </a:solidFill>
          <a:ln w="9525">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66560" y="2194560"/>
            <a:ext cx="4937760" cy="502920"/>
          </a:xfrm>
          <a:prstGeom prst="rect">
            <a:avLst/>
          </a:prstGeom>
          <a:noFill/>
        </p:spPr>
        <p:txBody>
          <a:bodyPr wrap="square" lIns="0" rIns="0" tIns="0" bIns="0" anchor="ctr">
            <a:spAutoFit/>
          </a:bodyPr>
          <a:lstStyle/>
          <a:p>
            <a:pPr algn="ctr">
              <a:lnSpc>
                <a:spcPct val="120000"/>
              </a:lnSpc>
            </a:pPr>
            <a:r>
              <a:rPr sz="900" b="1" i="0">
                <a:solidFill>
                  <a:srgbClr val="1D4ED8"/>
                </a:solidFill>
                <a:latin typeface="Helvetica Neue"/>
              </a:rPr>
              <a:t>WORTHY  /  UNWORTHY  VICTIMS — CHOMSKY’S CANONICAL TEST</a:t>
            </a:r>
          </a:p>
        </p:txBody>
      </p:sp>
      <p:sp>
        <p:nvSpPr>
          <p:cNvPr id="16" name="Rectangle 15"/>
          <p:cNvSpPr/>
          <p:nvPr/>
        </p:nvSpPr>
        <p:spPr>
          <a:xfrm>
            <a:off x="6766560" y="2770632"/>
            <a:ext cx="2423160" cy="411480"/>
          </a:xfrm>
          <a:prstGeom prst="rect">
            <a:avLst/>
          </a:prstGeom>
          <a:solidFill>
            <a:srgbClr val="F9FAFB"/>
          </a:solidFill>
          <a:ln w="9525">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9235440" y="2770632"/>
            <a:ext cx="2468880" cy="411480"/>
          </a:xfrm>
          <a:prstGeom prst="rect">
            <a:avLst/>
          </a:prstGeom>
          <a:solidFill>
            <a:srgbClr val="FEF2F2"/>
          </a:solidFill>
          <a:ln w="9525">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903720" y="2770632"/>
            <a:ext cx="2286000" cy="411480"/>
          </a:xfrm>
          <a:prstGeom prst="rect">
            <a:avLst/>
          </a:prstGeom>
          <a:noFill/>
        </p:spPr>
        <p:txBody>
          <a:bodyPr wrap="square" lIns="0" rIns="0" tIns="0" bIns="0" anchor="ctr">
            <a:spAutoFit/>
          </a:bodyPr>
          <a:lstStyle/>
          <a:p>
            <a:pPr algn="l">
              <a:lnSpc>
                <a:spcPct val="120000"/>
              </a:lnSpc>
            </a:pPr>
            <a:r>
              <a:rPr sz="1000" b="0" i="0">
                <a:solidFill>
                  <a:srgbClr val="111827"/>
                </a:solidFill>
                <a:latin typeface="Helvetica Neue"/>
              </a:rPr>
              <a:t>KAL 007 (1983)</a:t>
            </a:r>
          </a:p>
        </p:txBody>
      </p:sp>
      <p:sp>
        <p:nvSpPr>
          <p:cNvPr id="19" name="TextBox 18"/>
          <p:cNvSpPr txBox="1"/>
          <p:nvPr/>
        </p:nvSpPr>
        <p:spPr>
          <a:xfrm>
            <a:off x="9372600" y="2770632"/>
            <a:ext cx="2286000" cy="411480"/>
          </a:xfrm>
          <a:prstGeom prst="rect">
            <a:avLst/>
          </a:prstGeom>
          <a:noFill/>
        </p:spPr>
        <p:txBody>
          <a:bodyPr wrap="square" lIns="0" rIns="0" tIns="0" bIns="0" anchor="ctr">
            <a:spAutoFit/>
          </a:bodyPr>
          <a:lstStyle/>
          <a:p>
            <a:pPr algn="l">
              <a:lnSpc>
                <a:spcPct val="120000"/>
              </a:lnSpc>
            </a:pPr>
            <a:r>
              <a:rPr sz="1000" b="0" i="0">
                <a:solidFill>
                  <a:srgbClr val="B91C1C"/>
                </a:solidFill>
                <a:latin typeface="Helvetica Neue"/>
              </a:rPr>
              <a:t>Lion Air + Ethiopian (2018-19)</a:t>
            </a:r>
          </a:p>
        </p:txBody>
      </p:sp>
      <p:sp>
        <p:nvSpPr>
          <p:cNvPr id="20" name="Rectangle 19"/>
          <p:cNvSpPr/>
          <p:nvPr/>
        </p:nvSpPr>
        <p:spPr>
          <a:xfrm>
            <a:off x="6766560" y="3227832"/>
            <a:ext cx="2423160" cy="411480"/>
          </a:xfrm>
          <a:prstGeom prst="rect">
            <a:avLst/>
          </a:prstGeom>
          <a:solidFill>
            <a:srgbClr val="F9FAFB"/>
          </a:solidFill>
          <a:ln w="9525">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235440" y="3227832"/>
            <a:ext cx="2468880" cy="411480"/>
          </a:xfrm>
          <a:prstGeom prst="rect">
            <a:avLst/>
          </a:prstGeom>
          <a:solidFill>
            <a:srgbClr val="FEF2F2"/>
          </a:solidFill>
          <a:ln w="9525">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903720" y="3227832"/>
            <a:ext cx="2286000" cy="411480"/>
          </a:xfrm>
          <a:prstGeom prst="rect">
            <a:avLst/>
          </a:prstGeom>
          <a:noFill/>
        </p:spPr>
        <p:txBody>
          <a:bodyPr wrap="square" lIns="0" rIns="0" tIns="0" bIns="0" anchor="ctr">
            <a:spAutoFit/>
          </a:bodyPr>
          <a:lstStyle/>
          <a:p>
            <a:pPr algn="l">
              <a:lnSpc>
                <a:spcPct val="120000"/>
              </a:lnSpc>
            </a:pPr>
            <a:r>
              <a:rPr sz="1000" b="0" i="0">
                <a:solidFill>
                  <a:srgbClr val="111827"/>
                </a:solidFill>
                <a:latin typeface="Helvetica Neue"/>
              </a:rPr>
              <a:t>Sustained moral outrage</a:t>
            </a:r>
          </a:p>
        </p:txBody>
      </p:sp>
      <p:sp>
        <p:nvSpPr>
          <p:cNvPr id="23" name="TextBox 22"/>
          <p:cNvSpPr txBox="1"/>
          <p:nvPr/>
        </p:nvSpPr>
        <p:spPr>
          <a:xfrm>
            <a:off x="9372600" y="3227832"/>
            <a:ext cx="2286000" cy="411480"/>
          </a:xfrm>
          <a:prstGeom prst="rect">
            <a:avLst/>
          </a:prstGeom>
          <a:noFill/>
        </p:spPr>
        <p:txBody>
          <a:bodyPr wrap="square" lIns="0" rIns="0" tIns="0" bIns="0" anchor="ctr">
            <a:spAutoFit/>
          </a:bodyPr>
          <a:lstStyle/>
          <a:p>
            <a:pPr algn="l">
              <a:lnSpc>
                <a:spcPct val="120000"/>
              </a:lnSpc>
            </a:pPr>
            <a:r>
              <a:rPr sz="1000" b="0" i="0">
                <a:solidFill>
                  <a:srgbClr val="B91C1C"/>
                </a:solidFill>
                <a:latin typeface="Helvetica Neue"/>
              </a:rPr>
              <a:t>“Pilot training” framing</a:t>
            </a:r>
          </a:p>
        </p:txBody>
      </p:sp>
      <p:sp>
        <p:nvSpPr>
          <p:cNvPr id="24" name="Rectangle 23"/>
          <p:cNvSpPr/>
          <p:nvPr/>
        </p:nvSpPr>
        <p:spPr>
          <a:xfrm>
            <a:off x="6766560" y="3685032"/>
            <a:ext cx="2423160" cy="411480"/>
          </a:xfrm>
          <a:prstGeom prst="rect">
            <a:avLst/>
          </a:prstGeom>
          <a:solidFill>
            <a:srgbClr val="F9FAFB"/>
          </a:solidFill>
          <a:ln w="9525">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235440" y="3685032"/>
            <a:ext cx="2468880" cy="411480"/>
          </a:xfrm>
          <a:prstGeom prst="rect">
            <a:avLst/>
          </a:prstGeom>
          <a:solidFill>
            <a:srgbClr val="FEF2F2"/>
          </a:solidFill>
          <a:ln w="9525">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903720" y="3685032"/>
            <a:ext cx="2286000" cy="411480"/>
          </a:xfrm>
          <a:prstGeom prst="rect">
            <a:avLst/>
          </a:prstGeom>
          <a:noFill/>
        </p:spPr>
        <p:txBody>
          <a:bodyPr wrap="square" lIns="0" rIns="0" tIns="0" bIns="0" anchor="ctr">
            <a:spAutoFit/>
          </a:bodyPr>
          <a:lstStyle/>
          <a:p>
            <a:pPr algn="l">
              <a:lnSpc>
                <a:spcPct val="120000"/>
              </a:lnSpc>
            </a:pPr>
            <a:r>
              <a:rPr sz="1000" b="0" i="0">
                <a:solidFill>
                  <a:srgbClr val="111827"/>
                </a:solidFill>
                <a:latin typeface="Helvetica Neue"/>
              </a:rPr>
              <a:t>Reagan: “cold-blooded murder”</a:t>
            </a:r>
          </a:p>
        </p:txBody>
      </p:sp>
      <p:sp>
        <p:nvSpPr>
          <p:cNvPr id="27" name="TextBox 26"/>
          <p:cNvSpPr txBox="1"/>
          <p:nvPr/>
        </p:nvSpPr>
        <p:spPr>
          <a:xfrm>
            <a:off x="9372600" y="3685032"/>
            <a:ext cx="2286000" cy="411480"/>
          </a:xfrm>
          <a:prstGeom prst="rect">
            <a:avLst/>
          </a:prstGeom>
          <a:noFill/>
        </p:spPr>
        <p:txBody>
          <a:bodyPr wrap="square" lIns="0" rIns="0" tIns="0" bIns="0" anchor="ctr">
            <a:spAutoFit/>
          </a:bodyPr>
          <a:lstStyle/>
          <a:p>
            <a:pPr algn="l">
              <a:lnSpc>
                <a:spcPct val="120000"/>
              </a:lnSpc>
            </a:pPr>
            <a:r>
              <a:rPr sz="1000" b="0" i="0">
                <a:solidFill>
                  <a:srgbClr val="B91C1C"/>
                </a:solidFill>
                <a:latin typeface="Helvetica Neue"/>
              </a:rPr>
              <a:t>132 days before grounding</a:t>
            </a:r>
          </a:p>
        </p:txBody>
      </p:sp>
      <p:sp>
        <p:nvSpPr>
          <p:cNvPr id="28" name="Rectangle 27"/>
          <p:cNvSpPr/>
          <p:nvPr/>
        </p:nvSpPr>
        <p:spPr>
          <a:xfrm>
            <a:off x="6766560" y="5166360"/>
            <a:ext cx="4937760" cy="868680"/>
          </a:xfrm>
          <a:prstGeom prst="rect">
            <a:avLst/>
          </a:prstGeom>
          <a:solidFill>
            <a:srgbClr val="F9FAFB"/>
          </a:solidFill>
          <a:ln w="9525">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949440" y="5276088"/>
            <a:ext cx="4937760" cy="228600"/>
          </a:xfrm>
          <a:prstGeom prst="rect">
            <a:avLst/>
          </a:prstGeom>
          <a:noFill/>
        </p:spPr>
        <p:txBody>
          <a:bodyPr wrap="square" lIns="0" rIns="0" tIns="0" bIns="0" anchor="t">
            <a:spAutoFit/>
          </a:bodyPr>
          <a:lstStyle/>
          <a:p>
            <a:pPr algn="l">
              <a:lnSpc>
                <a:spcPct val="120000"/>
              </a:lnSpc>
            </a:pPr>
            <a:r>
              <a:rPr sz="800" b="1" i="0">
                <a:solidFill>
                  <a:srgbClr val="1D4ED8"/>
                </a:solidFill>
                <a:latin typeface="Helvetica Neue"/>
              </a:rPr>
              <a:t>FRAME EFFECT</a:t>
            </a:r>
          </a:p>
        </p:txBody>
      </p:sp>
      <p:sp>
        <p:nvSpPr>
          <p:cNvPr id="30" name="TextBox 29"/>
          <p:cNvSpPr txBox="1"/>
          <p:nvPr/>
        </p:nvSpPr>
        <p:spPr>
          <a:xfrm>
            <a:off x="6949440" y="5477256"/>
            <a:ext cx="4572000" cy="502920"/>
          </a:xfrm>
          <a:prstGeom prst="rect">
            <a:avLst/>
          </a:prstGeom>
          <a:noFill/>
        </p:spPr>
        <p:txBody>
          <a:bodyPr wrap="square" lIns="0" rIns="0" tIns="0" bIns="0" anchor="t">
            <a:spAutoFit/>
          </a:bodyPr>
          <a:lstStyle/>
          <a:p>
            <a:pPr algn="l">
              <a:lnSpc>
                <a:spcPct val="130000"/>
              </a:lnSpc>
            </a:pPr>
            <a:r>
              <a:rPr sz="1200" b="1" i="0">
                <a:solidFill>
                  <a:srgbClr val="111827"/>
                </a:solidFill>
                <a:latin typeface="Helvetica Neue"/>
              </a:rPr>
              <a:t>FAA reads as default authority. Foreign regulators read as pressure, reaction, or politics.</a:t>
            </a:r>
          </a:p>
        </p:txBody>
      </p:sp>
      <p:sp>
        <p:nvSpPr>
          <p:cNvPr id="31" name="Rectangle 30"/>
          <p:cNvSpPr/>
          <p:nvPr/>
        </p:nvSpPr>
        <p:spPr>
          <a:xfrm>
            <a:off x="502920" y="5166360"/>
            <a:ext cx="5897880" cy="868680"/>
          </a:xfrm>
          <a:prstGeom prst="rect">
            <a:avLst/>
          </a:prstGeom>
          <a:solidFill>
            <a:srgbClr val="F9FAFB"/>
          </a:solidFill>
          <a:ln w="9525">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31520" y="5276088"/>
            <a:ext cx="5897880" cy="228600"/>
          </a:xfrm>
          <a:prstGeom prst="rect">
            <a:avLst/>
          </a:prstGeom>
          <a:noFill/>
        </p:spPr>
        <p:txBody>
          <a:bodyPr wrap="square" lIns="0" rIns="0" tIns="0" bIns="0" anchor="t">
            <a:spAutoFit/>
          </a:bodyPr>
          <a:lstStyle/>
          <a:p>
            <a:pPr algn="l">
              <a:lnSpc>
                <a:spcPct val="120000"/>
              </a:lnSpc>
            </a:pPr>
            <a:r>
              <a:rPr sz="800" b="1" i="0">
                <a:solidFill>
                  <a:srgbClr val="B91C1C"/>
                </a:solidFill>
                <a:latin typeface="Helvetica Neue"/>
              </a:rPr>
              <a:t>HOW IT WORKS HERE</a:t>
            </a:r>
          </a:p>
        </p:txBody>
      </p:sp>
      <p:sp>
        <p:nvSpPr>
          <p:cNvPr id="33" name="TextBox 32"/>
          <p:cNvSpPr txBox="1"/>
          <p:nvPr/>
        </p:nvSpPr>
        <p:spPr>
          <a:xfrm>
            <a:off x="731520" y="5477256"/>
            <a:ext cx="5532120" cy="502920"/>
          </a:xfrm>
          <a:prstGeom prst="rect">
            <a:avLst/>
          </a:prstGeom>
          <a:noFill/>
        </p:spPr>
        <p:txBody>
          <a:bodyPr wrap="square" lIns="0" rIns="0" tIns="0" bIns="0" anchor="t">
            <a:spAutoFit/>
          </a:bodyPr>
          <a:lstStyle/>
          <a:p>
            <a:pPr algn="l">
              <a:lnSpc>
                <a:spcPct val="130000"/>
              </a:lnSpc>
            </a:pPr>
            <a:r>
              <a:rPr sz="1200" b="1" i="0">
                <a:solidFill>
                  <a:srgbClr val="111827"/>
                </a:solidFill>
                <a:latin typeface="Helvetica Neue"/>
              </a:rPr>
              <a:t>Boeing stands in for U.S. aviation, manufacturing, exports, defense, jobs, and national prestige.</a:t>
            </a:r>
          </a:p>
        </p:txBody>
      </p:sp>
      <p:sp>
        <p:nvSpPr>
          <p:cNvPr id="34" name="TextBox 33"/>
          <p:cNvSpPr txBox="1"/>
          <p:nvPr/>
        </p:nvSpPr>
        <p:spPr>
          <a:xfrm>
            <a:off x="502920" y="5806440"/>
            <a:ext cx="11155680" cy="594360"/>
          </a:xfrm>
          <a:prstGeom prst="rect">
            <a:avLst/>
          </a:prstGeom>
          <a:noFill/>
        </p:spPr>
        <p:txBody>
          <a:bodyPr wrap="square" lIns="0" rIns="0" tIns="0" bIns="0" anchor="t">
            <a:spAutoFit/>
          </a:bodyPr>
          <a:lstStyle/>
          <a:p>
            <a:pPr algn="l">
              <a:lnSpc>
                <a:spcPct val="120000"/>
              </a:lnSpc>
            </a:pPr>
            <a:r>
              <a:rPr sz="1100" b="0" i="1">
                <a:solidFill>
                  <a:srgbClr val="111827"/>
                </a:solidFill>
                <a:latin typeface="Georgia"/>
              </a:rPr>
              <a:t>“Concentrate on the victims of enemy powers and forget about the victims of friends.”   </a:t>
            </a:r>
            <a:r>
              <a:rPr sz="900" b="0" i="0">
                <a:solidFill>
                  <a:srgbClr val="64748B"/>
                </a:solidFill>
                <a:latin typeface="Helvetica Neue"/>
              </a:rPr>
              <a:t>— Herman &amp; Chomsky, p. 32  (paraphrasing the structural function)</a:t>
            </a:r>
          </a:p>
        </p:txBody>
      </p:sp>
      <p:sp>
        <p:nvSpPr>
          <p:cNvPr id="35" name="TextBox 34"/>
          <p:cNvSpPr txBox="1"/>
          <p:nvPr/>
        </p:nvSpPr>
        <p:spPr>
          <a:xfrm>
            <a:off x="502920" y="6537960"/>
            <a:ext cx="10058400" cy="274320"/>
          </a:xfrm>
          <a:prstGeom prst="rect">
            <a:avLst/>
          </a:prstGeom>
          <a:noFill/>
        </p:spPr>
        <p:txBody>
          <a:bodyPr wrap="square" lIns="0" rIns="0" tIns="0" bIns="0" anchor="t">
            <a:spAutoFit/>
          </a:bodyPr>
          <a:lstStyle/>
          <a:p>
            <a:pPr algn="l">
              <a:lnSpc>
                <a:spcPct val="120000"/>
              </a:lnSpc>
            </a:pPr>
            <a:r>
              <a:rPr sz="700" b="0" i="0">
                <a:solidFill>
                  <a:srgbClr val="64748B"/>
                </a:solidFill>
                <a:latin typeface="Helvetica Neue"/>
              </a:rPr>
              <a:t>Herman &amp; Chomsky on filter 5; Boeing status from House report and public record.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8872" cy="685800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277295" y="6537960"/>
            <a:ext cx="457200" cy="274320"/>
          </a:xfrm>
          <a:prstGeom prst="rect">
            <a:avLst/>
          </a:prstGeom>
          <a:noFill/>
        </p:spPr>
        <p:txBody>
          <a:bodyPr wrap="square" lIns="0" rIns="0" tIns="0" bIns="0" anchor="t">
            <a:spAutoFit/>
          </a:bodyPr>
          <a:lstStyle/>
          <a:p>
            <a:pPr algn="r">
              <a:lnSpc>
                <a:spcPct val="120000"/>
              </a:lnSpc>
            </a:pPr>
            <a:r>
              <a:rPr sz="800" b="1" i="0">
                <a:solidFill>
                  <a:srgbClr val="64748B"/>
                </a:solidFill>
                <a:latin typeface="Helvetica Neue"/>
              </a:rPr>
              <a:t>09</a:t>
            </a:r>
          </a:p>
        </p:txBody>
      </p:sp>
      <p:sp>
        <p:nvSpPr>
          <p:cNvPr id="5" name="TextBox 4"/>
          <p:cNvSpPr txBox="1"/>
          <p:nvPr/>
        </p:nvSpPr>
        <p:spPr>
          <a:xfrm>
            <a:off x="502920" y="457200"/>
            <a:ext cx="10972800" cy="274320"/>
          </a:xfrm>
          <a:prstGeom prst="rect">
            <a:avLst/>
          </a:prstGeom>
          <a:noFill/>
        </p:spPr>
        <p:txBody>
          <a:bodyPr wrap="square" lIns="0" rIns="0" tIns="0" bIns="0" anchor="t">
            <a:spAutoFit/>
          </a:bodyPr>
          <a:lstStyle/>
          <a:p>
            <a:pPr algn="l">
              <a:lnSpc>
                <a:spcPct val="120000"/>
              </a:lnSpc>
            </a:pPr>
            <a:r>
              <a:rPr sz="900" b="1" i="0">
                <a:solidFill>
                  <a:srgbClr val="1D4ED8"/>
                </a:solidFill>
                <a:latin typeface="Helvetica Neue"/>
              </a:rPr>
              <a:t>THE VICTIM TEST</a:t>
            </a:r>
          </a:p>
        </p:txBody>
      </p:sp>
      <p:sp>
        <p:nvSpPr>
          <p:cNvPr id="6" name="TextBox 5"/>
          <p:cNvSpPr txBox="1"/>
          <p:nvPr/>
        </p:nvSpPr>
        <p:spPr>
          <a:xfrm>
            <a:off x="502920" y="758952"/>
            <a:ext cx="11430000" cy="777240"/>
          </a:xfrm>
          <a:prstGeom prst="rect">
            <a:avLst/>
          </a:prstGeom>
          <a:noFill/>
        </p:spPr>
        <p:txBody>
          <a:bodyPr wrap="square" lIns="0" rIns="0" tIns="0" bIns="0" anchor="t">
            <a:spAutoFit/>
          </a:bodyPr>
          <a:lstStyle/>
          <a:p>
            <a:pPr algn="l">
              <a:lnSpc>
                <a:spcPct val="110000"/>
              </a:lnSpc>
            </a:pPr>
            <a:r>
              <a:rPr sz="3000" b="1" i="0">
                <a:solidFill>
                  <a:srgbClr val="111827"/>
                </a:solidFill>
                <a:latin typeface="Helvetica Neue"/>
              </a:rPr>
              <a:t>Same facts, different victims, different output.</a:t>
            </a:r>
          </a:p>
        </p:txBody>
      </p:sp>
      <p:sp>
        <p:nvSpPr>
          <p:cNvPr id="7" name="TextBox 6"/>
          <p:cNvSpPr txBox="1"/>
          <p:nvPr/>
        </p:nvSpPr>
        <p:spPr>
          <a:xfrm>
            <a:off x="502920" y="1627632"/>
            <a:ext cx="11430000" cy="411480"/>
          </a:xfrm>
          <a:prstGeom prst="rect">
            <a:avLst/>
          </a:prstGeom>
          <a:noFill/>
        </p:spPr>
        <p:txBody>
          <a:bodyPr wrap="square" lIns="0" rIns="0" tIns="0" bIns="0" anchor="t">
            <a:spAutoFit/>
          </a:bodyPr>
          <a:lstStyle/>
          <a:p>
            <a:pPr algn="l">
              <a:lnSpc>
                <a:spcPct val="130000"/>
              </a:lnSpc>
            </a:pPr>
            <a:r>
              <a:rPr sz="1300" b="0" i="0">
                <a:solidFill>
                  <a:srgbClr val="64748B"/>
                </a:solidFill>
                <a:latin typeface="Helvetica Neue"/>
              </a:rPr>
              <a:t>This counterfactual tests the model without needing to prove author intent.</a:t>
            </a:r>
          </a:p>
        </p:txBody>
      </p:sp>
      <p:sp>
        <p:nvSpPr>
          <p:cNvPr id="8" name="Rectangle 7"/>
          <p:cNvSpPr/>
          <p:nvPr/>
        </p:nvSpPr>
        <p:spPr>
          <a:xfrm>
            <a:off x="502920" y="2331720"/>
            <a:ext cx="5486400" cy="2971800"/>
          </a:xfrm>
          <a:prstGeom prst="rect">
            <a:avLst/>
          </a:prstGeom>
          <a:solidFill>
            <a:srgbClr val="F9FAFB"/>
          </a:solidFill>
          <a:ln w="9525">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514600"/>
            <a:ext cx="5486400" cy="274320"/>
          </a:xfrm>
          <a:prstGeom prst="rect">
            <a:avLst/>
          </a:prstGeom>
          <a:noFill/>
        </p:spPr>
        <p:txBody>
          <a:bodyPr wrap="square" lIns="0" rIns="0" tIns="0" bIns="0" anchor="t">
            <a:spAutoFit/>
          </a:bodyPr>
          <a:lstStyle/>
          <a:p>
            <a:pPr algn="l">
              <a:lnSpc>
                <a:spcPct val="120000"/>
              </a:lnSpc>
            </a:pPr>
            <a:r>
              <a:rPr sz="1000" b="1" i="0">
                <a:solidFill>
                  <a:srgbClr val="1D4ED8"/>
                </a:solidFill>
                <a:latin typeface="Helvetica Neue"/>
              </a:rPr>
              <a:t>ACTUAL FRAME</a:t>
            </a:r>
          </a:p>
        </p:txBody>
      </p:sp>
      <p:sp>
        <p:nvSpPr>
          <p:cNvPr id="10" name="TextBox 9"/>
          <p:cNvSpPr txBox="1"/>
          <p:nvPr/>
        </p:nvSpPr>
        <p:spPr>
          <a:xfrm>
            <a:off x="777240" y="2880360"/>
            <a:ext cx="4983480" cy="1691640"/>
          </a:xfrm>
          <a:prstGeom prst="rect">
            <a:avLst/>
          </a:prstGeom>
          <a:noFill/>
        </p:spPr>
        <p:txBody>
          <a:bodyPr wrap="square" lIns="0" rIns="0" tIns="0" bIns="0" anchor="t">
            <a:spAutoFit/>
          </a:bodyPr>
          <a:lstStyle/>
          <a:p>
            <a:pPr algn="l">
              <a:lnSpc>
                <a:spcPct val="120000"/>
              </a:lnSpc>
            </a:pPr>
            <a:r>
              <a:rPr sz="2200" b="1" i="0">
                <a:solidFill>
                  <a:srgbClr val="111827"/>
                </a:solidFill>
                <a:latin typeface="Georgia"/>
              </a:rPr>
              <a:t>FAA has no current plans to ground Boeing’s 737 MAX after deadly crash</a:t>
            </a:r>
          </a:p>
        </p:txBody>
      </p:sp>
      <p:sp>
        <p:nvSpPr>
          <p:cNvPr id="11" name="TextBox 10"/>
          <p:cNvSpPr txBox="1"/>
          <p:nvPr/>
        </p:nvSpPr>
        <p:spPr>
          <a:xfrm>
            <a:off x="777240" y="4800600"/>
            <a:ext cx="4983480" cy="365760"/>
          </a:xfrm>
          <a:prstGeom prst="rect">
            <a:avLst/>
          </a:prstGeom>
          <a:noFill/>
        </p:spPr>
        <p:txBody>
          <a:bodyPr wrap="square" lIns="0" rIns="0" tIns="0" bIns="0" anchor="t">
            <a:spAutoFit/>
          </a:bodyPr>
          <a:lstStyle/>
          <a:p>
            <a:pPr algn="l">
              <a:lnSpc>
                <a:spcPct val="120000"/>
              </a:lnSpc>
            </a:pPr>
            <a:r>
              <a:rPr sz="1100" b="0" i="1">
                <a:solidFill>
                  <a:srgbClr val="64748B"/>
                </a:solidFill>
                <a:latin typeface="Helvetica Neue"/>
              </a:rPr>
              <a:t>Authority first.  Victims unnamed.  Global alarm secondary.</a:t>
            </a:r>
          </a:p>
        </p:txBody>
      </p:sp>
      <p:sp>
        <p:nvSpPr>
          <p:cNvPr id="12" name="Rectangle 11"/>
          <p:cNvSpPr/>
          <p:nvPr/>
        </p:nvSpPr>
        <p:spPr>
          <a:xfrm>
            <a:off x="6172200" y="2331720"/>
            <a:ext cx="5486400" cy="2971800"/>
          </a:xfrm>
          <a:prstGeom prst="rect">
            <a:avLst/>
          </a:prstGeom>
          <a:solidFill>
            <a:srgbClr val="FEF2F2"/>
          </a:solidFill>
          <a:ln w="12700">
            <a:solidFill>
              <a:srgbClr val="B91C1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6520" y="2514600"/>
            <a:ext cx="5486400" cy="274320"/>
          </a:xfrm>
          <a:prstGeom prst="rect">
            <a:avLst/>
          </a:prstGeom>
          <a:noFill/>
        </p:spPr>
        <p:txBody>
          <a:bodyPr wrap="square" lIns="0" rIns="0" tIns="0" bIns="0" anchor="t">
            <a:spAutoFit/>
          </a:bodyPr>
          <a:lstStyle/>
          <a:p>
            <a:pPr algn="l">
              <a:lnSpc>
                <a:spcPct val="120000"/>
              </a:lnSpc>
            </a:pPr>
            <a:r>
              <a:rPr sz="1000" b="1" i="0">
                <a:solidFill>
                  <a:srgbClr val="B91C1C"/>
                </a:solidFill>
                <a:latin typeface="Helvetica Neue"/>
              </a:rPr>
              <a:t>COUNTERFACTUAL FRAME</a:t>
            </a:r>
          </a:p>
        </p:txBody>
      </p:sp>
      <p:sp>
        <p:nvSpPr>
          <p:cNvPr id="14" name="TextBox 13"/>
          <p:cNvSpPr txBox="1"/>
          <p:nvPr/>
        </p:nvSpPr>
        <p:spPr>
          <a:xfrm>
            <a:off x="6446520" y="2880360"/>
            <a:ext cx="4983480" cy="1691640"/>
          </a:xfrm>
          <a:prstGeom prst="rect">
            <a:avLst/>
          </a:prstGeom>
          <a:noFill/>
        </p:spPr>
        <p:txBody>
          <a:bodyPr wrap="square" lIns="0" rIns="0" tIns="0" bIns="0" anchor="t">
            <a:spAutoFit/>
          </a:bodyPr>
          <a:lstStyle/>
          <a:p>
            <a:pPr algn="l">
              <a:lnSpc>
                <a:spcPct val="120000"/>
              </a:lnSpc>
            </a:pPr>
            <a:r>
              <a:rPr sz="2200" b="1" i="0">
                <a:solidFill>
                  <a:srgbClr val="111827"/>
                </a:solidFill>
                <a:latin typeface="Georgia"/>
              </a:rPr>
              <a:t>Pressure mounts on FAA to ground 737 MAX after second crash kills 157 Americans</a:t>
            </a:r>
          </a:p>
        </p:txBody>
      </p:sp>
      <p:sp>
        <p:nvSpPr>
          <p:cNvPr id="15" name="TextBox 14"/>
          <p:cNvSpPr txBox="1"/>
          <p:nvPr/>
        </p:nvSpPr>
        <p:spPr>
          <a:xfrm>
            <a:off x="6446520" y="4800600"/>
            <a:ext cx="4983480" cy="365760"/>
          </a:xfrm>
          <a:prstGeom prst="rect">
            <a:avLst/>
          </a:prstGeom>
          <a:noFill/>
        </p:spPr>
        <p:txBody>
          <a:bodyPr wrap="square" lIns="0" rIns="0" tIns="0" bIns="0" anchor="t">
            <a:spAutoFit/>
          </a:bodyPr>
          <a:lstStyle/>
          <a:p>
            <a:pPr algn="l">
              <a:lnSpc>
                <a:spcPct val="120000"/>
              </a:lnSpc>
            </a:pPr>
            <a:r>
              <a:rPr sz="1100" b="0" i="1">
                <a:solidFill>
                  <a:srgbClr val="B91C1C"/>
                </a:solidFill>
                <a:latin typeface="Helvetica Neue"/>
              </a:rPr>
              <a:t>Victims first.  Outrage visible.  FAA under indictment.</a:t>
            </a:r>
          </a:p>
        </p:txBody>
      </p:sp>
      <p:sp>
        <p:nvSpPr>
          <p:cNvPr id="16" name="Rectangle 15"/>
          <p:cNvSpPr/>
          <p:nvPr/>
        </p:nvSpPr>
        <p:spPr>
          <a:xfrm>
            <a:off x="502920" y="5669280"/>
            <a:ext cx="11155680" cy="594360"/>
          </a:xfrm>
          <a:prstGeom prst="rect">
            <a:avLst/>
          </a:prstGeom>
          <a:solidFill>
            <a:srgbClr val="F9FAFB"/>
          </a:solidFill>
          <a:ln w="9525">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5742432"/>
            <a:ext cx="11155680" cy="228600"/>
          </a:xfrm>
          <a:prstGeom prst="rect">
            <a:avLst/>
          </a:prstGeom>
          <a:noFill/>
        </p:spPr>
        <p:txBody>
          <a:bodyPr wrap="square" lIns="0" rIns="0" tIns="0" bIns="0" anchor="t">
            <a:spAutoFit/>
          </a:bodyPr>
          <a:lstStyle/>
          <a:p>
            <a:pPr algn="l">
              <a:lnSpc>
                <a:spcPct val="120000"/>
              </a:lnSpc>
            </a:pPr>
            <a:r>
              <a:rPr sz="800" b="1" i="0">
                <a:solidFill>
                  <a:srgbClr val="B91C1C"/>
                </a:solidFill>
                <a:latin typeface="Helvetica Neue"/>
              </a:rPr>
              <a:t>FINDING</a:t>
            </a:r>
          </a:p>
        </p:txBody>
      </p:sp>
      <p:sp>
        <p:nvSpPr>
          <p:cNvPr id="18" name="TextBox 17"/>
          <p:cNvSpPr txBox="1"/>
          <p:nvPr/>
        </p:nvSpPr>
        <p:spPr>
          <a:xfrm>
            <a:off x="731520" y="5943600"/>
            <a:ext cx="10789920" cy="320040"/>
          </a:xfrm>
          <a:prstGeom prst="rect">
            <a:avLst/>
          </a:prstGeom>
          <a:noFill/>
        </p:spPr>
        <p:txBody>
          <a:bodyPr wrap="square" lIns="0" rIns="0" tIns="0" bIns="0" anchor="t">
            <a:spAutoFit/>
          </a:bodyPr>
          <a:lstStyle/>
          <a:p>
            <a:pPr algn="l">
              <a:lnSpc>
                <a:spcPct val="120000"/>
              </a:lnSpc>
            </a:pPr>
            <a:r>
              <a:rPr sz="1300" b="1" i="0">
                <a:solidFill>
                  <a:srgbClr val="111827"/>
                </a:solidFill>
                <a:latin typeface="Helvetica Neue"/>
              </a:rPr>
              <a:t>The model fits if victim status changes the natural frame. That is the worthy/unworthy victim logic.</a:t>
            </a:r>
          </a:p>
        </p:txBody>
      </p:sp>
      <p:sp>
        <p:nvSpPr>
          <p:cNvPr id="19" name="TextBox 18"/>
          <p:cNvSpPr txBox="1"/>
          <p:nvPr/>
        </p:nvSpPr>
        <p:spPr>
          <a:xfrm>
            <a:off x="502920" y="6537960"/>
            <a:ext cx="10058400" cy="274320"/>
          </a:xfrm>
          <a:prstGeom prst="rect">
            <a:avLst/>
          </a:prstGeom>
          <a:noFill/>
        </p:spPr>
        <p:txBody>
          <a:bodyPr wrap="square" lIns="0" rIns="0" tIns="0" bIns="0" anchor="t">
            <a:spAutoFit/>
          </a:bodyPr>
          <a:lstStyle/>
          <a:p>
            <a:pPr algn="l">
              <a:lnSpc>
                <a:spcPct val="120000"/>
              </a:lnSpc>
            </a:pPr>
            <a:r>
              <a:rPr sz="700" b="0" i="0">
                <a:solidFill>
                  <a:srgbClr val="64748B"/>
                </a:solidFill>
                <a:latin typeface="Helvetica Neue"/>
              </a:rPr>
              <a:t>Counterfactual based on Chomsky’s worthy/unworthy victim distinction and the Boeing crash timeline.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8872" cy="685800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277295" y="6537960"/>
            <a:ext cx="457200" cy="274320"/>
          </a:xfrm>
          <a:prstGeom prst="rect">
            <a:avLst/>
          </a:prstGeom>
          <a:noFill/>
        </p:spPr>
        <p:txBody>
          <a:bodyPr wrap="square" lIns="0" rIns="0" tIns="0" bIns="0" anchor="t">
            <a:spAutoFit/>
          </a:bodyPr>
          <a:lstStyle/>
          <a:p>
            <a:pPr algn="r">
              <a:lnSpc>
                <a:spcPct val="120000"/>
              </a:lnSpc>
            </a:pPr>
            <a:r>
              <a:rPr sz="800" b="1" i="0">
                <a:solidFill>
                  <a:srgbClr val="64748B"/>
                </a:solidFill>
                <a:latin typeface="Helvetica Neue"/>
              </a:rPr>
              <a:t>10</a:t>
            </a:r>
          </a:p>
        </p:txBody>
      </p:sp>
      <p:sp>
        <p:nvSpPr>
          <p:cNvPr id="5" name="TextBox 4"/>
          <p:cNvSpPr txBox="1"/>
          <p:nvPr/>
        </p:nvSpPr>
        <p:spPr>
          <a:xfrm>
            <a:off x="502920" y="457200"/>
            <a:ext cx="10972800" cy="274320"/>
          </a:xfrm>
          <a:prstGeom prst="rect">
            <a:avLst/>
          </a:prstGeom>
          <a:noFill/>
        </p:spPr>
        <p:txBody>
          <a:bodyPr wrap="square" lIns="0" rIns="0" tIns="0" bIns="0" anchor="t">
            <a:spAutoFit/>
          </a:bodyPr>
          <a:lstStyle/>
          <a:p>
            <a:pPr algn="l">
              <a:lnSpc>
                <a:spcPct val="120000"/>
              </a:lnSpc>
            </a:pPr>
            <a:r>
              <a:rPr sz="900" b="1" i="0">
                <a:solidFill>
                  <a:srgbClr val="1D4ED8"/>
                </a:solidFill>
                <a:latin typeface="Helvetica Neue"/>
              </a:rPr>
              <a:t>FINAL FINDING</a:t>
            </a:r>
          </a:p>
        </p:txBody>
      </p:sp>
      <p:sp>
        <p:nvSpPr>
          <p:cNvPr id="6" name="TextBox 5"/>
          <p:cNvSpPr txBox="1"/>
          <p:nvPr/>
        </p:nvSpPr>
        <p:spPr>
          <a:xfrm>
            <a:off x="502920" y="758952"/>
            <a:ext cx="11430000" cy="777240"/>
          </a:xfrm>
          <a:prstGeom prst="rect">
            <a:avLst/>
          </a:prstGeom>
          <a:noFill/>
        </p:spPr>
        <p:txBody>
          <a:bodyPr wrap="square" lIns="0" rIns="0" tIns="0" bIns="0" anchor="t">
            <a:spAutoFit/>
          </a:bodyPr>
          <a:lstStyle/>
          <a:p>
            <a:pPr algn="l">
              <a:lnSpc>
                <a:spcPct val="110000"/>
              </a:lnSpc>
            </a:pPr>
            <a:r>
              <a:rPr sz="3000" b="1" i="0">
                <a:solidFill>
                  <a:srgbClr val="111827"/>
                </a:solidFill>
                <a:latin typeface="Helvetica Neue"/>
              </a:rPr>
              <a:t>The model applies substantially, but unevenly.</a:t>
            </a:r>
          </a:p>
        </p:txBody>
      </p:sp>
      <p:sp>
        <p:nvSpPr>
          <p:cNvPr id="7" name="TextBox 6"/>
          <p:cNvSpPr txBox="1"/>
          <p:nvPr/>
        </p:nvSpPr>
        <p:spPr>
          <a:xfrm>
            <a:off x="502920" y="1627632"/>
            <a:ext cx="11430000" cy="411480"/>
          </a:xfrm>
          <a:prstGeom prst="rect">
            <a:avLst/>
          </a:prstGeom>
          <a:noFill/>
        </p:spPr>
        <p:txBody>
          <a:bodyPr wrap="square" lIns="0" rIns="0" tIns="0" bIns="0" anchor="t">
            <a:spAutoFit/>
          </a:bodyPr>
          <a:lstStyle/>
          <a:p>
            <a:pPr algn="l">
              <a:lnSpc>
                <a:spcPct val="130000"/>
              </a:lnSpc>
            </a:pPr>
            <a:r>
              <a:rPr sz="1300" b="0" i="0">
                <a:solidFill>
                  <a:srgbClr val="64748B"/>
                </a:solidFill>
                <a:latin typeface="Helvetica Neue"/>
              </a:rPr>
              <a:t>That unevenness makes the argument stronger: it separates proof from context.</a:t>
            </a:r>
          </a:p>
        </p:txBody>
      </p:sp>
      <p:sp>
        <p:nvSpPr>
          <p:cNvPr id="8" name="Rectangle 7"/>
          <p:cNvSpPr/>
          <p:nvPr/>
        </p:nvSpPr>
        <p:spPr>
          <a:xfrm>
            <a:off x="502920" y="2286000"/>
            <a:ext cx="11155680" cy="594360"/>
          </a:xfrm>
          <a:prstGeom prst="rect">
            <a:avLst/>
          </a:prstGeom>
          <a:solidFill>
            <a:srgbClr val="F9FAFB"/>
          </a:solidFill>
          <a:ln w="9525">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286000"/>
            <a:ext cx="1828800" cy="594360"/>
          </a:xfrm>
          <a:prstGeom prst="rect">
            <a:avLst/>
          </a:prstGeom>
          <a:noFill/>
        </p:spPr>
        <p:txBody>
          <a:bodyPr wrap="square" lIns="0" rIns="0" tIns="0" bIns="0" anchor="ctr">
            <a:spAutoFit/>
          </a:bodyPr>
          <a:lstStyle/>
          <a:p>
            <a:pPr algn="l">
              <a:lnSpc>
                <a:spcPct val="120000"/>
              </a:lnSpc>
            </a:pPr>
            <a:r>
              <a:rPr sz="1300" b="1" i="0">
                <a:solidFill>
                  <a:srgbClr val="111827"/>
                </a:solidFill>
                <a:latin typeface="Helvetica Neue"/>
              </a:rPr>
              <a:t>Filters 1 + 2</a:t>
            </a:r>
          </a:p>
        </p:txBody>
      </p:sp>
      <p:sp>
        <p:nvSpPr>
          <p:cNvPr id="10" name="TextBox 9"/>
          <p:cNvSpPr txBox="1"/>
          <p:nvPr/>
        </p:nvSpPr>
        <p:spPr>
          <a:xfrm>
            <a:off x="2606040" y="2286000"/>
            <a:ext cx="2011680" cy="594360"/>
          </a:xfrm>
          <a:prstGeom prst="rect">
            <a:avLst/>
          </a:prstGeom>
          <a:noFill/>
        </p:spPr>
        <p:txBody>
          <a:bodyPr wrap="square" lIns="0" rIns="0" tIns="0" bIns="0" anchor="ctr">
            <a:spAutoFit/>
          </a:bodyPr>
          <a:lstStyle/>
          <a:p>
            <a:pPr algn="l">
              <a:lnSpc>
                <a:spcPct val="120000"/>
              </a:lnSpc>
            </a:pPr>
            <a:r>
              <a:rPr sz="1200" b="1" i="0">
                <a:solidFill>
                  <a:srgbClr val="64748B"/>
                </a:solidFill>
                <a:latin typeface="Helvetica Neue"/>
              </a:rPr>
              <a:t>MODERATE FIT</a:t>
            </a:r>
          </a:p>
        </p:txBody>
      </p:sp>
      <p:sp>
        <p:nvSpPr>
          <p:cNvPr id="11" name="TextBox 10"/>
          <p:cNvSpPr txBox="1"/>
          <p:nvPr/>
        </p:nvSpPr>
        <p:spPr>
          <a:xfrm>
            <a:off x="4709160" y="2286000"/>
            <a:ext cx="6720840" cy="594360"/>
          </a:xfrm>
          <a:prstGeom prst="rect">
            <a:avLst/>
          </a:prstGeom>
          <a:noFill/>
        </p:spPr>
        <p:txBody>
          <a:bodyPr wrap="square" lIns="0" rIns="0" tIns="0" bIns="0" anchor="ctr">
            <a:spAutoFit/>
          </a:bodyPr>
          <a:lstStyle/>
          <a:p>
            <a:pPr algn="l">
              <a:lnSpc>
                <a:spcPct val="120000"/>
              </a:lnSpc>
            </a:pPr>
            <a:r>
              <a:rPr sz="1200" b="0" i="0">
                <a:solidFill>
                  <a:srgbClr val="111827"/>
                </a:solidFill>
                <a:latin typeface="Helvetica Neue"/>
              </a:rPr>
              <a:t>Structural background: class and commercial ecology</a:t>
            </a:r>
          </a:p>
        </p:txBody>
      </p:sp>
      <p:sp>
        <p:nvSpPr>
          <p:cNvPr id="12" name="Rectangle 11"/>
          <p:cNvSpPr/>
          <p:nvPr/>
        </p:nvSpPr>
        <p:spPr>
          <a:xfrm>
            <a:off x="502920" y="2971800"/>
            <a:ext cx="11155680" cy="594360"/>
          </a:xfrm>
          <a:prstGeom prst="rect">
            <a:avLst/>
          </a:prstGeom>
          <a:solidFill>
            <a:srgbClr val="F8FAFC"/>
          </a:solidFill>
          <a:ln w="9525">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2971800"/>
            <a:ext cx="1828800" cy="594360"/>
          </a:xfrm>
          <a:prstGeom prst="rect">
            <a:avLst/>
          </a:prstGeom>
          <a:noFill/>
        </p:spPr>
        <p:txBody>
          <a:bodyPr wrap="square" lIns="0" rIns="0" tIns="0" bIns="0" anchor="ctr">
            <a:spAutoFit/>
          </a:bodyPr>
          <a:lstStyle/>
          <a:p>
            <a:pPr algn="l">
              <a:lnSpc>
                <a:spcPct val="120000"/>
              </a:lnSpc>
            </a:pPr>
            <a:r>
              <a:rPr sz="1300" b="1" i="0">
                <a:solidFill>
                  <a:srgbClr val="111827"/>
                </a:solidFill>
                <a:latin typeface="Helvetica Neue"/>
              </a:rPr>
              <a:t>Filter 3</a:t>
            </a:r>
          </a:p>
        </p:txBody>
      </p:sp>
      <p:sp>
        <p:nvSpPr>
          <p:cNvPr id="14" name="TextBox 13"/>
          <p:cNvSpPr txBox="1"/>
          <p:nvPr/>
        </p:nvSpPr>
        <p:spPr>
          <a:xfrm>
            <a:off x="2606040" y="2971800"/>
            <a:ext cx="2011680" cy="594360"/>
          </a:xfrm>
          <a:prstGeom prst="rect">
            <a:avLst/>
          </a:prstGeom>
          <a:noFill/>
        </p:spPr>
        <p:txBody>
          <a:bodyPr wrap="square" lIns="0" rIns="0" tIns="0" bIns="0" anchor="ctr">
            <a:spAutoFit/>
          </a:bodyPr>
          <a:lstStyle/>
          <a:p>
            <a:pPr algn="l">
              <a:lnSpc>
                <a:spcPct val="120000"/>
              </a:lnSpc>
            </a:pPr>
            <a:r>
              <a:rPr sz="1200" b="1" i="0">
                <a:solidFill>
                  <a:srgbClr val="1D4ED8"/>
                </a:solidFill>
                <a:latin typeface="Helvetica Neue"/>
              </a:rPr>
              <a:t>STRONG FIT</a:t>
            </a:r>
          </a:p>
        </p:txBody>
      </p:sp>
      <p:sp>
        <p:nvSpPr>
          <p:cNvPr id="15" name="TextBox 14"/>
          <p:cNvSpPr txBox="1"/>
          <p:nvPr/>
        </p:nvSpPr>
        <p:spPr>
          <a:xfrm>
            <a:off x="4709160" y="2971800"/>
            <a:ext cx="6720840" cy="594360"/>
          </a:xfrm>
          <a:prstGeom prst="rect">
            <a:avLst/>
          </a:prstGeom>
          <a:noFill/>
        </p:spPr>
        <p:txBody>
          <a:bodyPr wrap="square" lIns="0" rIns="0" tIns="0" bIns="0" anchor="ctr">
            <a:spAutoFit/>
          </a:bodyPr>
          <a:lstStyle/>
          <a:p>
            <a:pPr algn="l">
              <a:lnSpc>
                <a:spcPct val="120000"/>
              </a:lnSpc>
            </a:pPr>
            <a:r>
              <a:rPr sz="1200" b="0" i="0">
                <a:solidFill>
                  <a:srgbClr val="111827"/>
                </a:solidFill>
                <a:latin typeface="Helvetica Neue"/>
              </a:rPr>
              <a:t>Article-level proof: source architecture makes FAA authoritative</a:t>
            </a:r>
          </a:p>
        </p:txBody>
      </p:sp>
      <p:sp>
        <p:nvSpPr>
          <p:cNvPr id="16" name="Rectangle 15"/>
          <p:cNvSpPr/>
          <p:nvPr/>
        </p:nvSpPr>
        <p:spPr>
          <a:xfrm>
            <a:off x="502920" y="3657600"/>
            <a:ext cx="11155680" cy="594360"/>
          </a:xfrm>
          <a:prstGeom prst="rect">
            <a:avLst/>
          </a:prstGeom>
          <a:solidFill>
            <a:srgbClr val="F9FAFB"/>
          </a:solidFill>
          <a:ln w="9525">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3657600"/>
            <a:ext cx="1828800" cy="594360"/>
          </a:xfrm>
          <a:prstGeom prst="rect">
            <a:avLst/>
          </a:prstGeom>
          <a:noFill/>
        </p:spPr>
        <p:txBody>
          <a:bodyPr wrap="square" lIns="0" rIns="0" tIns="0" bIns="0" anchor="ctr">
            <a:spAutoFit/>
          </a:bodyPr>
          <a:lstStyle/>
          <a:p>
            <a:pPr algn="l">
              <a:lnSpc>
                <a:spcPct val="120000"/>
              </a:lnSpc>
            </a:pPr>
            <a:r>
              <a:rPr sz="1300" b="1" i="0">
                <a:solidFill>
                  <a:srgbClr val="111827"/>
                </a:solidFill>
                <a:latin typeface="Helvetica Neue"/>
              </a:rPr>
              <a:t>Filter 4</a:t>
            </a:r>
          </a:p>
        </p:txBody>
      </p:sp>
      <p:sp>
        <p:nvSpPr>
          <p:cNvPr id="18" name="TextBox 17"/>
          <p:cNvSpPr txBox="1"/>
          <p:nvPr/>
        </p:nvSpPr>
        <p:spPr>
          <a:xfrm>
            <a:off x="2606040" y="3657600"/>
            <a:ext cx="2011680" cy="594360"/>
          </a:xfrm>
          <a:prstGeom prst="rect">
            <a:avLst/>
          </a:prstGeom>
          <a:noFill/>
        </p:spPr>
        <p:txBody>
          <a:bodyPr wrap="square" lIns="0" rIns="0" tIns="0" bIns="0" anchor="ctr">
            <a:spAutoFit/>
          </a:bodyPr>
          <a:lstStyle/>
          <a:p>
            <a:pPr algn="l">
              <a:lnSpc>
                <a:spcPct val="120000"/>
              </a:lnSpc>
            </a:pPr>
            <a:r>
              <a:rPr sz="1200" b="1" i="0">
                <a:solidFill>
                  <a:srgbClr val="C2410C"/>
                </a:solidFill>
                <a:latin typeface="Helvetica Neue"/>
              </a:rPr>
              <a:t>PARTIAL FIT</a:t>
            </a:r>
          </a:p>
        </p:txBody>
      </p:sp>
      <p:sp>
        <p:nvSpPr>
          <p:cNvPr id="19" name="TextBox 18"/>
          <p:cNvSpPr txBox="1"/>
          <p:nvPr/>
        </p:nvSpPr>
        <p:spPr>
          <a:xfrm>
            <a:off x="4709160" y="3657600"/>
            <a:ext cx="6720840" cy="594360"/>
          </a:xfrm>
          <a:prstGeom prst="rect">
            <a:avLst/>
          </a:prstGeom>
          <a:noFill/>
        </p:spPr>
        <p:txBody>
          <a:bodyPr wrap="square" lIns="0" rIns="0" tIns="0" bIns="0" anchor="ctr">
            <a:spAutoFit/>
          </a:bodyPr>
          <a:lstStyle/>
          <a:p>
            <a:pPr algn="l">
              <a:lnSpc>
                <a:spcPct val="120000"/>
              </a:lnSpc>
            </a:pPr>
            <a:r>
              <a:rPr sz="1200" b="0" i="0">
                <a:solidFill>
                  <a:srgbClr val="111827"/>
                </a:solidFill>
                <a:latin typeface="Helvetica Neue"/>
              </a:rPr>
              <a:t>Anticipated cost: expensive frames discipline the beat</a:t>
            </a:r>
          </a:p>
        </p:txBody>
      </p:sp>
      <p:sp>
        <p:nvSpPr>
          <p:cNvPr id="20" name="Rectangle 19"/>
          <p:cNvSpPr/>
          <p:nvPr/>
        </p:nvSpPr>
        <p:spPr>
          <a:xfrm>
            <a:off x="502920" y="4343400"/>
            <a:ext cx="11155680" cy="594360"/>
          </a:xfrm>
          <a:prstGeom prst="rect">
            <a:avLst/>
          </a:prstGeom>
          <a:solidFill>
            <a:srgbClr val="F8FAFC"/>
          </a:solidFill>
          <a:ln w="9525">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4343400"/>
            <a:ext cx="1828800" cy="594360"/>
          </a:xfrm>
          <a:prstGeom prst="rect">
            <a:avLst/>
          </a:prstGeom>
          <a:noFill/>
        </p:spPr>
        <p:txBody>
          <a:bodyPr wrap="square" lIns="0" rIns="0" tIns="0" bIns="0" anchor="ctr">
            <a:spAutoFit/>
          </a:bodyPr>
          <a:lstStyle/>
          <a:p>
            <a:pPr algn="l">
              <a:lnSpc>
                <a:spcPct val="120000"/>
              </a:lnSpc>
            </a:pPr>
            <a:r>
              <a:rPr sz="1300" b="1" i="0">
                <a:solidFill>
                  <a:srgbClr val="111827"/>
                </a:solidFill>
                <a:latin typeface="Helvetica Neue"/>
              </a:rPr>
              <a:t>Filter 5</a:t>
            </a:r>
          </a:p>
        </p:txBody>
      </p:sp>
      <p:sp>
        <p:nvSpPr>
          <p:cNvPr id="22" name="TextBox 21"/>
          <p:cNvSpPr txBox="1"/>
          <p:nvPr/>
        </p:nvSpPr>
        <p:spPr>
          <a:xfrm>
            <a:off x="2606040" y="4343400"/>
            <a:ext cx="2011680" cy="594360"/>
          </a:xfrm>
          <a:prstGeom prst="rect">
            <a:avLst/>
          </a:prstGeom>
          <a:noFill/>
        </p:spPr>
        <p:txBody>
          <a:bodyPr wrap="square" lIns="0" rIns="0" tIns="0" bIns="0" anchor="ctr">
            <a:spAutoFit/>
          </a:bodyPr>
          <a:lstStyle/>
          <a:p>
            <a:pPr algn="l">
              <a:lnSpc>
                <a:spcPct val="120000"/>
              </a:lnSpc>
            </a:pPr>
            <a:r>
              <a:rPr sz="1200" b="1" i="0">
                <a:solidFill>
                  <a:srgbClr val="1D4ED8"/>
                </a:solidFill>
                <a:latin typeface="Helvetica Neue"/>
              </a:rPr>
              <a:t>STRONG FIT</a:t>
            </a:r>
          </a:p>
        </p:txBody>
      </p:sp>
      <p:sp>
        <p:nvSpPr>
          <p:cNvPr id="23" name="TextBox 22"/>
          <p:cNvSpPr txBox="1"/>
          <p:nvPr/>
        </p:nvSpPr>
        <p:spPr>
          <a:xfrm>
            <a:off x="4709160" y="4343400"/>
            <a:ext cx="6720840" cy="594360"/>
          </a:xfrm>
          <a:prstGeom prst="rect">
            <a:avLst/>
          </a:prstGeom>
          <a:noFill/>
        </p:spPr>
        <p:txBody>
          <a:bodyPr wrap="square" lIns="0" rIns="0" tIns="0" bIns="0" anchor="ctr">
            <a:spAutoFit/>
          </a:bodyPr>
          <a:lstStyle/>
          <a:p>
            <a:pPr algn="l">
              <a:lnSpc>
                <a:spcPct val="120000"/>
              </a:lnSpc>
            </a:pPr>
            <a:r>
              <a:rPr sz="1200" b="0" i="0">
                <a:solidFill>
                  <a:srgbClr val="111827"/>
                </a:solidFill>
                <a:latin typeface="Helvetica Neue"/>
              </a:rPr>
              <a:t>Ideological proof: foreign victims remain morally peripheral to the frame</a:t>
            </a:r>
          </a:p>
        </p:txBody>
      </p:sp>
      <p:sp>
        <p:nvSpPr>
          <p:cNvPr id="24" name="TextBox 23"/>
          <p:cNvSpPr txBox="1"/>
          <p:nvPr/>
        </p:nvSpPr>
        <p:spPr>
          <a:xfrm>
            <a:off x="502920" y="5349240"/>
            <a:ext cx="11155680" cy="960120"/>
          </a:xfrm>
          <a:prstGeom prst="rect">
            <a:avLst/>
          </a:prstGeom>
          <a:noFill/>
        </p:spPr>
        <p:txBody>
          <a:bodyPr wrap="square" lIns="0" rIns="0" tIns="0" bIns="0" anchor="t">
            <a:spAutoFit/>
          </a:bodyPr>
          <a:lstStyle/>
          <a:p>
            <a:pPr algn="l">
              <a:lnSpc>
                <a:spcPct val="130000"/>
              </a:lnSpc>
            </a:pPr>
            <a:r>
              <a:rPr sz="1800" b="1" i="0">
                <a:solidFill>
                  <a:srgbClr val="111827"/>
                </a:solidFill>
                <a:latin typeface="Helvetica Neue"/>
              </a:rPr>
              <a:t>The article is not propaganda-model evidence because it lies.</a:t>
            </a:r>
          </a:p>
          <a:p>
            <a:pPr algn="l">
              <a:lnSpc>
                <a:spcPct val="130000"/>
              </a:lnSpc>
            </a:pPr>
            <a:r>
              <a:rPr sz="1800" b="1" i="0">
                <a:solidFill>
                  <a:srgbClr val="B91C1C"/>
                </a:solidFill>
                <a:latin typeface="Helvetica Neue"/>
              </a:rPr>
              <a:t>It is propaganda-model evidence because normal journalism selected the institutionally comfortable frame.</a:t>
            </a:r>
          </a:p>
        </p:txBody>
      </p:sp>
      <p:sp>
        <p:nvSpPr>
          <p:cNvPr id="25" name="TextBox 24"/>
          <p:cNvSpPr txBox="1"/>
          <p:nvPr/>
        </p:nvSpPr>
        <p:spPr>
          <a:xfrm>
            <a:off x="502920" y="6537960"/>
            <a:ext cx="10058400" cy="274320"/>
          </a:xfrm>
          <a:prstGeom prst="rect">
            <a:avLst/>
          </a:prstGeom>
          <a:noFill/>
        </p:spPr>
        <p:txBody>
          <a:bodyPr wrap="square" lIns="0" rIns="0" tIns="0" bIns="0" anchor="t">
            <a:spAutoFit/>
          </a:bodyPr>
          <a:lstStyle/>
          <a:p>
            <a:pPr algn="l">
              <a:lnSpc>
                <a:spcPct val="120000"/>
              </a:lnSpc>
            </a:pPr>
            <a:r>
              <a:rPr sz="700" b="0" i="0">
                <a:solidFill>
                  <a:srgbClr val="64748B"/>
                </a:solidFill>
                <a:latin typeface="Helvetica Neue"/>
              </a:rPr>
              <a:t>Close line: the filters did not fabricate the news; they selected the version fit to print.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