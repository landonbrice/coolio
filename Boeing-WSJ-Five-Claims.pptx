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65760"/>
            <a:ext cx="11185855" cy="713232"/>
          </a:xfrm>
          <a:prstGeom prst="rect">
            <a:avLst/>
          </a:prstGeom>
          <a:noFill/>
        </p:spPr>
        <p:txBody>
          <a:bodyPr wrap="square" lIns="0" rIns="0" tIns="0" bIns="0" anchor="t">
            <a:spAutoFit/>
          </a:bodyPr>
          <a:lstStyle/>
          <a:p>
            <a:pPr algn="l">
              <a:lnSpc>
                <a:spcPct val="105000"/>
              </a:lnSpc>
            </a:pPr>
            <a:r>
              <a:rPr sz="3400" b="1" i="0">
                <a:solidFill>
                  <a:srgbClr val="111111"/>
                </a:solidFill>
                <a:latin typeface="Aptos Display"/>
              </a:rPr>
              <a:t>Five claims hold up the paper</a:t>
            </a:r>
            <a:r>
              <a:rPr sz="3400" b="1" i="0">
                <a:solidFill>
                  <a:srgbClr val="C00000"/>
                </a:solidFill>
                <a:latin typeface="Aptos Display"/>
              </a:rPr>
              <a:t>.</a:t>
            </a:r>
          </a:p>
        </p:txBody>
      </p:sp>
      <p:sp>
        <p:nvSpPr>
          <p:cNvPr id="3" name="TextBox 2"/>
          <p:cNvSpPr txBox="1"/>
          <p:nvPr/>
        </p:nvSpPr>
        <p:spPr>
          <a:xfrm>
            <a:off x="502920" y="932688"/>
            <a:ext cx="11185855" cy="274320"/>
          </a:xfrm>
          <a:prstGeom prst="rect">
            <a:avLst/>
          </a:prstGeom>
          <a:noFill/>
        </p:spPr>
        <p:txBody>
          <a:bodyPr wrap="square" lIns="0" rIns="0" tIns="0" bIns="0" anchor="t">
            <a:spAutoFit/>
          </a:bodyPr>
          <a:lstStyle/>
          <a:p>
            <a:pPr algn="l"/>
            <a:r>
              <a:rPr sz="1400" b="0" i="1">
                <a:solidFill>
                  <a:srgbClr val="4F4F4F"/>
                </a:solidFill>
                <a:latin typeface="Aptos"/>
              </a:rPr>
              <a:t>descriptive, structural, analytical, update, proof.</a:t>
            </a:r>
          </a:p>
        </p:txBody>
      </p:sp>
      <p:cxnSp>
        <p:nvCxnSpPr>
          <p:cNvPr id="4" name="Connector 3"/>
          <p:cNvCxnSpPr/>
          <p:nvPr/>
        </p:nvCxnSpPr>
        <p:spPr>
          <a:xfrm>
            <a:off x="502920" y="1243584"/>
            <a:ext cx="11185855" cy="0"/>
          </a:xfrm>
          <a:prstGeom prst="line">
            <a:avLst/>
          </a:prstGeom>
          <a:ln w="22225">
            <a:solidFill>
              <a:srgbClr val="9DC3E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1371600"/>
            <a:ext cx="11185855" cy="868680"/>
          </a:xfrm>
          <a:prstGeom prst="rect">
            <a:avLst/>
          </a:prstGeom>
          <a:noFill/>
        </p:spPr>
        <p:txBody>
          <a:bodyPr wrap="square" lIns="0" rIns="0" tIns="0" bIns="0" anchor="t">
            <a:spAutoFit/>
          </a:bodyPr>
          <a:lstStyle/>
          <a:p>
            <a:pPr algn="l">
              <a:lnSpc>
                <a:spcPct val="130000"/>
              </a:lnSpc>
            </a:pPr>
            <a:r>
              <a:rPr sz="1300" b="0" i="0">
                <a:solidFill>
                  <a:srgbClr val="111111"/>
                </a:solidFill>
                <a:latin typeface="Aptos"/>
              </a:rPr>
              <a:t>The paper makes five claims. Each is independently defensible from the article text and from public structural facts about the WSJ, Boeing, and the aviation reporting beat. Together they make the propaganda model a sufficient explanation of the March 11, 2019 frame.</a:t>
            </a:r>
          </a:p>
        </p:txBody>
      </p:sp>
      <p:sp>
        <p:nvSpPr>
          <p:cNvPr id="6" name="TextBox 5"/>
          <p:cNvSpPr txBox="1"/>
          <p:nvPr/>
        </p:nvSpPr>
        <p:spPr>
          <a:xfrm>
            <a:off x="502920" y="2304288"/>
            <a:ext cx="1828800" cy="658368"/>
          </a:xfrm>
          <a:prstGeom prst="rect">
            <a:avLst/>
          </a:prstGeom>
          <a:noFill/>
        </p:spPr>
        <p:txBody>
          <a:bodyPr wrap="square" lIns="0" rIns="0" tIns="0" bIns="0" anchor="t">
            <a:spAutoFit/>
          </a:bodyPr>
          <a:lstStyle/>
          <a:p>
            <a:pPr algn="l"/>
            <a:r>
              <a:rPr sz="1000" b="1" i="0">
                <a:solidFill>
                  <a:srgbClr val="C00000"/>
                </a:solidFill>
                <a:latin typeface="Aptos"/>
              </a:rPr>
              <a:t>I — DESCRIPTIVE</a:t>
            </a:r>
          </a:p>
        </p:txBody>
      </p:sp>
      <p:sp>
        <p:nvSpPr>
          <p:cNvPr id="7" name="TextBox 6"/>
          <p:cNvSpPr txBox="1"/>
          <p:nvPr/>
        </p:nvSpPr>
        <p:spPr>
          <a:xfrm>
            <a:off x="2532888" y="2304288"/>
            <a:ext cx="9155887" cy="658368"/>
          </a:xfrm>
          <a:prstGeom prst="rect">
            <a:avLst/>
          </a:prstGeom>
          <a:noFill/>
        </p:spPr>
        <p:txBody>
          <a:bodyPr wrap="square" lIns="0" rIns="0" tIns="0" bIns="0" anchor="t">
            <a:spAutoFit/>
          </a:bodyPr>
          <a:lstStyle/>
          <a:p>
            <a:pPr algn="l">
              <a:lnSpc>
                <a:spcPct val="128000"/>
              </a:lnSpc>
            </a:pPr>
            <a:r>
              <a:rPr sz="1300" b="1" i="0">
                <a:solidFill>
                  <a:srgbClr val="111111"/>
                </a:solidFill>
                <a:latin typeface="Aptos"/>
              </a:rPr>
              <a:t>Every one of Chomsky's five filters operates on the WSJ article of March 11, 2019. </a:t>
            </a:r>
            <a:r>
              <a:rPr sz="1300" b="0" i="0">
                <a:solidFill>
                  <a:srgbClr val="111111"/>
                </a:solidFill>
                <a:latin typeface="Aptos"/>
              </a:rPr>
              <a:t>The operation can be demonstrated from the article text and from public structural facts about the WSJ, Boeing, and the aviation reporting beat.</a:t>
            </a:r>
          </a:p>
        </p:txBody>
      </p:sp>
      <p:sp>
        <p:nvSpPr>
          <p:cNvPr id="8" name="TextBox 7"/>
          <p:cNvSpPr txBox="1"/>
          <p:nvPr/>
        </p:nvSpPr>
        <p:spPr>
          <a:xfrm>
            <a:off x="502920" y="3017520"/>
            <a:ext cx="1828800" cy="502920"/>
          </a:xfrm>
          <a:prstGeom prst="rect">
            <a:avLst/>
          </a:prstGeom>
          <a:noFill/>
        </p:spPr>
        <p:txBody>
          <a:bodyPr wrap="square" lIns="0" rIns="0" tIns="0" bIns="0" anchor="t">
            <a:spAutoFit/>
          </a:bodyPr>
          <a:lstStyle/>
          <a:p>
            <a:pPr algn="l"/>
            <a:r>
              <a:rPr sz="1000" b="1" i="0">
                <a:solidFill>
                  <a:srgbClr val="C00000"/>
                </a:solidFill>
                <a:latin typeface="Aptos"/>
              </a:rPr>
              <a:t>II — STRUCTURAL</a:t>
            </a:r>
          </a:p>
        </p:txBody>
      </p:sp>
      <p:sp>
        <p:nvSpPr>
          <p:cNvPr id="9" name="TextBox 8"/>
          <p:cNvSpPr txBox="1"/>
          <p:nvPr/>
        </p:nvSpPr>
        <p:spPr>
          <a:xfrm>
            <a:off x="2532888" y="3017520"/>
            <a:ext cx="9155887" cy="502920"/>
          </a:xfrm>
          <a:prstGeom prst="rect">
            <a:avLst/>
          </a:prstGeom>
          <a:noFill/>
        </p:spPr>
        <p:txBody>
          <a:bodyPr wrap="square" lIns="0" rIns="0" tIns="0" bIns="0" anchor="t">
            <a:spAutoFit/>
          </a:bodyPr>
          <a:lstStyle/>
          <a:p>
            <a:pPr algn="l">
              <a:lnSpc>
                <a:spcPct val="128000"/>
              </a:lnSpc>
            </a:pPr>
            <a:r>
              <a:rPr sz="1300" b="1" i="0">
                <a:solidFill>
                  <a:srgbClr val="111111"/>
                </a:solidFill>
                <a:latin typeface="Aptos"/>
              </a:rPr>
              <a:t>The filters do not operate independently. </a:t>
            </a:r>
            <a:r>
              <a:rPr sz="1300" b="0" i="0">
                <a:solidFill>
                  <a:srgbClr val="111111"/>
                </a:solidFill>
                <a:latin typeface="Aptos"/>
              </a:rPr>
              <a:t>They reinforce one another such that no individual filter is decisive. The joint operation produces the cleansed residue.</a:t>
            </a:r>
          </a:p>
        </p:txBody>
      </p:sp>
      <p:sp>
        <p:nvSpPr>
          <p:cNvPr id="10" name="TextBox 9"/>
          <p:cNvSpPr txBox="1"/>
          <p:nvPr/>
        </p:nvSpPr>
        <p:spPr>
          <a:xfrm>
            <a:off x="502920" y="3575304"/>
            <a:ext cx="1828800" cy="841248"/>
          </a:xfrm>
          <a:prstGeom prst="rect">
            <a:avLst/>
          </a:prstGeom>
          <a:noFill/>
        </p:spPr>
        <p:txBody>
          <a:bodyPr wrap="square" lIns="0" rIns="0" tIns="0" bIns="0" anchor="t">
            <a:spAutoFit/>
          </a:bodyPr>
          <a:lstStyle/>
          <a:p>
            <a:pPr algn="l"/>
            <a:r>
              <a:rPr sz="1000" b="1" i="0">
                <a:solidFill>
                  <a:srgbClr val="C00000"/>
                </a:solidFill>
                <a:latin typeface="Aptos"/>
              </a:rPr>
              <a:t>III — ANALYTICAL DISTINCTION</a:t>
            </a:r>
          </a:p>
        </p:txBody>
      </p:sp>
      <p:sp>
        <p:nvSpPr>
          <p:cNvPr id="11" name="TextBox 10"/>
          <p:cNvSpPr txBox="1"/>
          <p:nvPr/>
        </p:nvSpPr>
        <p:spPr>
          <a:xfrm>
            <a:off x="2532888" y="3575304"/>
            <a:ext cx="9155887" cy="841248"/>
          </a:xfrm>
          <a:prstGeom prst="rect">
            <a:avLst/>
          </a:prstGeom>
          <a:noFill/>
        </p:spPr>
        <p:txBody>
          <a:bodyPr wrap="square" lIns="0" rIns="0" tIns="0" bIns="0" anchor="t">
            <a:spAutoFit/>
          </a:bodyPr>
          <a:lstStyle/>
          <a:p>
            <a:pPr algn="l">
              <a:lnSpc>
                <a:spcPct val="128000"/>
              </a:lnSpc>
            </a:pPr>
            <a:r>
              <a:rPr sz="1300" b="1" i="0">
                <a:solidFill>
                  <a:srgbClr val="111111"/>
                </a:solidFill>
                <a:latin typeface="Aptos"/>
              </a:rPr>
              <a:t>The journalists are not the explanatory variable. </a:t>
            </a:r>
            <a:r>
              <a:rPr sz="1300" b="0" i="0">
                <a:solidFill>
                  <a:srgbClr val="111111"/>
                </a:solidFill>
                <a:latin typeface="Aptos"/>
              </a:rPr>
              <a:t>The filters operate even when reporters are competent, sincere, and individually critical — which Pasztor and Tangel demonstrably are. This is what separates a sophisticated application of Chomsky from a naive one.</a:t>
            </a:r>
          </a:p>
        </p:txBody>
      </p:sp>
      <p:sp>
        <p:nvSpPr>
          <p:cNvPr id="12" name="TextBox 11"/>
          <p:cNvSpPr txBox="1"/>
          <p:nvPr/>
        </p:nvSpPr>
        <p:spPr>
          <a:xfrm>
            <a:off x="502920" y="4471416"/>
            <a:ext cx="1828800" cy="685800"/>
          </a:xfrm>
          <a:prstGeom prst="rect">
            <a:avLst/>
          </a:prstGeom>
          <a:noFill/>
        </p:spPr>
        <p:txBody>
          <a:bodyPr wrap="square" lIns="0" rIns="0" tIns="0" bIns="0" anchor="t">
            <a:spAutoFit/>
          </a:bodyPr>
          <a:lstStyle/>
          <a:p>
            <a:pPr algn="l"/>
            <a:r>
              <a:rPr sz="1000" b="1" i="0">
                <a:solidFill>
                  <a:srgbClr val="C00000"/>
                </a:solidFill>
                <a:latin typeface="Aptos"/>
              </a:rPr>
              <a:t>IV — MODEL UPDATE</a:t>
            </a:r>
          </a:p>
        </p:txBody>
      </p:sp>
      <p:sp>
        <p:nvSpPr>
          <p:cNvPr id="13" name="TextBox 12"/>
          <p:cNvSpPr txBox="1"/>
          <p:nvPr/>
        </p:nvSpPr>
        <p:spPr>
          <a:xfrm>
            <a:off x="2532888" y="4471416"/>
            <a:ext cx="9155887" cy="685800"/>
          </a:xfrm>
          <a:prstGeom prst="rect">
            <a:avLst/>
          </a:prstGeom>
          <a:noFill/>
        </p:spPr>
        <p:txBody>
          <a:bodyPr wrap="square" lIns="0" rIns="0" tIns="0" bIns="0" anchor="t">
            <a:spAutoFit/>
          </a:bodyPr>
          <a:lstStyle/>
          <a:p>
            <a:pPr algn="l">
              <a:lnSpc>
                <a:spcPct val="128000"/>
              </a:lnSpc>
            </a:pPr>
            <a:r>
              <a:rPr sz="1300" b="1" i="0">
                <a:solidFill>
                  <a:srgbClr val="111111"/>
                </a:solidFill>
                <a:latin typeface="Aptos"/>
              </a:rPr>
              <a:t>Filter 5 has rotated from anticommunism (1988) to techno-industrial nationalism (2019) without changing its structural function. </a:t>
            </a:r>
            <a:r>
              <a:rPr sz="1300" b="0" i="0">
                <a:solidFill>
                  <a:srgbClr val="111111"/>
                </a:solidFill>
                <a:latin typeface="Aptos"/>
              </a:rPr>
              <a:t>The worthy / unworthy victims distinction operates identically. This is the paper's analytical contribution.</a:t>
            </a:r>
          </a:p>
        </p:txBody>
      </p:sp>
      <p:sp>
        <p:nvSpPr>
          <p:cNvPr id="14" name="TextBox 13"/>
          <p:cNvSpPr txBox="1"/>
          <p:nvPr/>
        </p:nvSpPr>
        <p:spPr>
          <a:xfrm>
            <a:off x="502920" y="5212080"/>
            <a:ext cx="1828800" cy="868680"/>
          </a:xfrm>
          <a:prstGeom prst="rect">
            <a:avLst/>
          </a:prstGeom>
          <a:noFill/>
        </p:spPr>
        <p:txBody>
          <a:bodyPr wrap="square" lIns="0" rIns="0" tIns="0" bIns="0" anchor="t">
            <a:spAutoFit/>
          </a:bodyPr>
          <a:lstStyle/>
          <a:p>
            <a:pPr algn="l"/>
            <a:r>
              <a:rPr sz="1000" b="1" i="0">
                <a:solidFill>
                  <a:srgbClr val="C00000"/>
                </a:solidFill>
                <a:latin typeface="Aptos"/>
              </a:rPr>
              <a:t>V — PROOF</a:t>
            </a:r>
          </a:p>
        </p:txBody>
      </p:sp>
      <p:sp>
        <p:nvSpPr>
          <p:cNvPr id="15" name="TextBox 14"/>
          <p:cNvSpPr txBox="1"/>
          <p:nvPr/>
        </p:nvSpPr>
        <p:spPr>
          <a:xfrm>
            <a:off x="2532888" y="5212080"/>
            <a:ext cx="9155887" cy="868680"/>
          </a:xfrm>
          <a:prstGeom prst="rect">
            <a:avLst/>
          </a:prstGeom>
          <a:noFill/>
        </p:spPr>
        <p:txBody>
          <a:bodyPr wrap="square" lIns="0" rIns="0" tIns="0" bIns="0" anchor="t">
            <a:spAutoFit/>
          </a:bodyPr>
          <a:lstStyle/>
          <a:p>
            <a:pPr algn="l">
              <a:lnSpc>
                <a:spcPct val="128000"/>
              </a:lnSpc>
            </a:pPr>
            <a:r>
              <a:rPr sz="1300" b="1" i="0">
                <a:solidFill>
                  <a:srgbClr val="111111"/>
                </a:solidFill>
                <a:latin typeface="Aptos"/>
              </a:rPr>
              <a:t>Same facts, different victims, different output. </a:t>
            </a:r>
            <a:r>
              <a:rPr sz="1300" b="0" i="0">
                <a:solidFill>
                  <a:srgbClr val="111111"/>
                </a:solidFill>
                <a:latin typeface="Aptos"/>
              </a:rPr>
              <a:t>If 346 Americans had died, the same filters would have produced different output, because the worthy-victim category determines what the cleansed residue looks like. The model is confirmed by the structural pattern of which victims get which kinds of coverage, not refuted by any single article.</a:t>
            </a:r>
          </a:p>
        </p:txBody>
      </p:sp>
      <p:cxnSp>
        <p:nvCxnSpPr>
          <p:cNvPr id="16" name="Connector 15"/>
          <p:cNvCxnSpPr/>
          <p:nvPr/>
        </p:nvCxnSpPr>
        <p:spPr>
          <a:xfrm>
            <a:off x="502920" y="6355080"/>
            <a:ext cx="11185855" cy="0"/>
          </a:xfrm>
          <a:prstGeom prst="line">
            <a:avLst/>
          </a:prstGeom>
          <a:ln w="9525">
            <a:solidFill>
              <a:srgbClr val="BFD7EE"/>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02920" y="6409944"/>
            <a:ext cx="11185855" cy="365760"/>
          </a:xfrm>
          <a:prstGeom prst="rect">
            <a:avLst/>
          </a:prstGeom>
          <a:noFill/>
        </p:spPr>
        <p:txBody>
          <a:bodyPr wrap="square" lIns="0" rIns="0" tIns="0" bIns="0" anchor="t">
            <a:spAutoFit/>
          </a:bodyPr>
          <a:lstStyle/>
          <a:p>
            <a:pPr algn="l"/>
            <a:r>
              <a:rPr sz="1100" b="0" i="1">
                <a:solidFill>
                  <a:srgbClr val="4F4F4F"/>
                </a:solidFill>
                <a:latin typeface="Aptos"/>
              </a:rPr>
              <a:t>“The constraints are so powerful, and are built into the system in such a fundamental way, that alternative bases of news choices are hardly imaginable.”  </a:t>
            </a:r>
            <a:r>
              <a:rPr sz="1100" b="0" i="0">
                <a:solidFill>
                  <a:srgbClr val="6B6B6B"/>
                </a:solidFill>
                <a:latin typeface="Aptos"/>
              </a:rPr>
              <a:t>— Herman &amp; Chomsky, Manufacturing Consent, p. 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