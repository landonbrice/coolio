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Hook (~25 sec). On October 29, 2018, Lion Air Flight 610 crashed. 189 dead. On March 10, 2019, Ethiopian Airlines Flight 302 crashed. 157 dead. Same aircraft. Same MCAS system. The next morning, the Wall Street Journal — America's paper of business record — chose to frame the news this way. (Pause. Let the audience read the headline.)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Timeline (~35 sec). By the time this article ran, China had already grounded the plane. Within 72 hours, 51 regulators worldwide grounded it. The FAA stood alone. The WSJ chose to frame the FAA's reluctance as the news — not the converging global consensus that this aircraft was killing people. Why? That's what the propaganda model explains.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filters (~25 sec). Chomsky's argument is structural, not moral. The journalists in this case are not bad. Pasztor and Tangel actually broke the MCAS self-certification story. The propaganda model isn't a claim about individual bias. It's a claim about what survives passage through five structural filters.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Filter 1 (~35 sec). Filter 1 is not about Murdoch giving orders. It's about structural class identity. The WSJ exists as the paper of corporate America. Boeing is corporate America. The publication doesn't have to be told to cover Boeing carefully — it covers Boeing the way a class member covers another class member: critically interested, not adversarial.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reinforcement of filter 1. The WSJ is one node in News Corp's global portfolio — the same conglomerate logic that Chomsky documents in Manufacturing Consent table 1-3 (p. 11).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Filter 2 (~30 sec). WSJ's reader base — corporate executives, institutional investors, money managers — holds Boeing in their portfolios, their pension funds, their company stock plans. The advertiser ecology is the same ecology. A single critical article? Fine. A multi-month campaign reframing American manufacturing as systemically unsafe? That would shift the publication's relationship to its entire reader-advertiser ecology. So it doesn't happen.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Filter 3 (~40 sec — give this one extra time). This is filter 3 in operation, visible inside the article. The FAA gets framed as authority, not as a regulator that delegated certification to Boeing employees. The captured-regulator story was reportable — Dominic Gates at the Seattle Times broke it six days later. The WSJ team knew the issue existed. They didn't lead with it. Why? Because reframing the FAA from 'authoritative source' to 'captured regulator' breaks the aviation beat. The beat is how aviation reporters survive commercially. So the frame stays.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Filter 4 (~30 sec). Chomsky's insight here is that flak is most powerful when invisible. There's no record of Boeing threatening Pasztor or Tangel over this article. But they had been covering Boeing for years. They knew which framings generate calls to the publisher, which ones lose access to the media office, which ones cost the beat. The softening choices — 'deadly crash' rather than 'second mass-fatality crash,' 'the FAA's decision' rather than 'the regulator that let Boeing certify itself' — are filter 4 working without anyone having to make a threat.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Filter 5 (~40 sec — your analytical move). Chomsky's original filter 5 was anticommunism — the binary that defined worthy and unworthy victims. He updated it in 2002 to 'the religion of the market.' For 2019 aviation coverage, I'd argue the operative filter 5 is techno-industrial nationalism: American manufacturing supremacy as quasi-religious national interest. The worthy/unworthy victims structure is identical to 1983 KAL 007. Different ideology, same filter. The dead were Indonesian, Indian, Ethiopian, Kenyan. The initial framing leaned on 'foreign pilot training.' Imagine the alternative.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(~30 sec). If 346 Americans had died on two domestic flights of the same aircraft in five months, this would have been the headline. Same facts, different victims, different filter output. The propaganda model isn't a claim that this article lied. It's a claim that the structural conditions of its production — Murdoch's WSJ covering a major American manufacturer, Boeing's flak apparatus, the access economy on the aviation beat, the techno-nationalist common sense — selected for the framing we got. Chomsky's model holds. Filter 5 has just rotated from anticommunism to techno-industrial nationalism. (End. Don't trail off. Pause, then thank them.)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D6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wsj_headline_march11.png"/>
          <p:cNvPicPr>
            <a:picLocks noChangeAspect="1"/>
          </p:cNvPicPr>
          <p:nvPr/>
        </p:nvPicPr>
        <p:blipFill>
          <a:blip r:embed="rId2"/>
          <a:stretch>
            <a:fillRect/>
          </a:stretch>
        </p:blipFill>
        <p:spPr>
          <a:xfrm>
            <a:off x="838047" y="914400"/>
            <a:ext cx="10515600" cy="3889332"/>
          </a:xfrm>
          <a:prstGeom prst="rect">
            <a:avLst/>
          </a:prstGeom>
        </p:spPr>
      </p:pic>
      <p:sp>
        <p:nvSpPr>
          <p:cNvPr id="4" name="TextBox 3"/>
          <p:cNvSpPr txBox="1"/>
          <p:nvPr/>
        </p:nvSpPr>
        <p:spPr>
          <a:xfrm>
            <a:off x="0" y="5123771"/>
            <a:ext cx="12191695" cy="548640"/>
          </a:xfrm>
          <a:prstGeom prst="rect">
            <a:avLst/>
          </a:prstGeom>
          <a:noFill/>
        </p:spPr>
        <p:txBody>
          <a:bodyPr wrap="square" lIns="0" rIns="0" tIns="0" bIns="0" anchor="t">
            <a:spAutoFit/>
          </a:bodyPr>
          <a:lstStyle/>
          <a:p>
            <a:pPr algn="ctr">
              <a:lnSpc>
                <a:spcPct val="115000"/>
              </a:lnSpc>
            </a:pPr>
            <a:r>
              <a:rPr sz="2800" b="0" i="0">
                <a:solidFill>
                  <a:srgbClr val="101010"/>
                </a:solidFill>
                <a:latin typeface="Inter"/>
              </a:rPr>
              <a:t>March 11, 2019</a:t>
            </a:r>
          </a:p>
        </p:txBody>
      </p:sp>
      <p:sp>
        <p:nvSpPr>
          <p:cNvPr id="5" name="TextBox 4"/>
          <p:cNvSpPr txBox="1"/>
          <p:nvPr/>
        </p:nvSpPr>
        <p:spPr>
          <a:xfrm>
            <a:off x="0" y="6080760"/>
            <a:ext cx="12191695" cy="365760"/>
          </a:xfrm>
          <a:prstGeom prst="rect">
            <a:avLst/>
          </a:prstGeom>
          <a:noFill/>
        </p:spPr>
        <p:txBody>
          <a:bodyPr wrap="square" lIns="0" rIns="0" tIns="0" bIns="0" anchor="t">
            <a:spAutoFit/>
          </a:bodyPr>
          <a:lstStyle/>
          <a:p>
            <a:pPr algn="ctr">
              <a:lnSpc>
                <a:spcPct val="115000"/>
              </a:lnSpc>
            </a:pPr>
            <a:r>
              <a:rPr sz="1400" b="0" i="0">
                <a:solidFill>
                  <a:srgbClr val="555B60"/>
                </a:solidFill>
                <a:latin typeface="Inter"/>
              </a:rPr>
              <a:t>Robert Wall  ·  Andrew Tangel  ·  Andy Pasztor   |   The Wall Street Journal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D6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8686800" cy="914400"/>
          </a:xfrm>
          <a:prstGeom prst="rect">
            <a:avLst/>
          </a:prstGeom>
          <a:noFill/>
        </p:spPr>
        <p:txBody>
          <a:bodyPr wrap="square" lIns="0" rIns="0" tIns="0" bIns="0" anchor="t">
            <a:spAutoFit/>
          </a:bodyPr>
          <a:lstStyle/>
          <a:p>
            <a:pPr algn="l">
              <a:lnSpc>
                <a:spcPct val="115000"/>
              </a:lnSpc>
            </a:pPr>
            <a:r>
              <a:rPr sz="4000" b="1" i="0">
                <a:solidFill>
                  <a:srgbClr val="101010"/>
                </a:solidFill>
                <a:latin typeface="Inter"/>
              </a:rPr>
              <a:t>Same aircraft; no changes.</a:t>
            </a:r>
          </a:p>
        </p:txBody>
      </p:sp>
      <p:pic>
        <p:nvPicPr>
          <p:cNvPr id="4" name="Picture 3" descr="ethiopian_302_wreckage.png"/>
          <p:cNvPicPr>
            <a:picLocks noChangeAspect="1"/>
          </p:cNvPicPr>
          <p:nvPr/>
        </p:nvPicPr>
        <p:blipFill>
          <a:blip r:embed="rId2"/>
          <a:stretch>
            <a:fillRect/>
          </a:stretch>
        </p:blipFill>
        <p:spPr>
          <a:xfrm>
            <a:off x="8595360" y="411480"/>
            <a:ext cx="3200400" cy="1802892"/>
          </a:xfrm>
          <a:prstGeom prst="rect">
            <a:avLst/>
          </a:prstGeom>
        </p:spPr>
      </p:pic>
      <p:sp>
        <p:nvSpPr>
          <p:cNvPr id="5" name="Rectangle 4"/>
          <p:cNvSpPr/>
          <p:nvPr/>
        </p:nvSpPr>
        <p:spPr>
          <a:xfrm>
            <a:off x="640080" y="3703320"/>
            <a:ext cx="10908792" cy="38100"/>
          </a:xfrm>
          <a:prstGeom prst="rect">
            <a:avLst/>
          </a:prstGeom>
          <a:solidFill>
            <a:srgbClr val="0B2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13816" y="3602736"/>
            <a:ext cx="201168" cy="201168"/>
          </a:xfrm>
          <a:prstGeom prst="ellipse">
            <a:avLst/>
          </a:prstGeom>
          <a:solidFill>
            <a:srgbClr val="0B2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3557016" y="3602736"/>
            <a:ext cx="201168" cy="201168"/>
          </a:xfrm>
          <a:prstGeom prst="ellipse">
            <a:avLst/>
          </a:prstGeom>
          <a:solidFill>
            <a:srgbClr val="0B2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934456" y="3602736"/>
            <a:ext cx="201168" cy="201168"/>
          </a:xfrm>
          <a:prstGeom prst="ellipse">
            <a:avLst/>
          </a:prstGeom>
          <a:solidFill>
            <a:srgbClr val="0B2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129016" y="3602736"/>
            <a:ext cx="201168" cy="201168"/>
          </a:xfrm>
          <a:prstGeom prst="ellipse">
            <a:avLst/>
          </a:prstGeom>
          <a:solidFill>
            <a:srgbClr val="0B2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872216" y="3602736"/>
            <a:ext cx="201168" cy="201168"/>
          </a:xfrm>
          <a:prstGeom prst="ellipse">
            <a:avLst/>
          </a:prstGeom>
          <a:solidFill>
            <a:srgbClr val="0B2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8600" y="2743200"/>
            <a:ext cx="2286000" cy="365760"/>
          </a:xfrm>
          <a:prstGeom prst="rect">
            <a:avLst/>
          </a:prstGeom>
          <a:noFill/>
        </p:spPr>
        <p:txBody>
          <a:bodyPr wrap="square" lIns="0" rIns="0" tIns="0" bIns="0" anchor="t">
            <a:spAutoFit/>
          </a:bodyPr>
          <a:lstStyle/>
          <a:p>
            <a:pPr algn="ctr">
              <a:lnSpc>
                <a:spcPct val="115000"/>
              </a:lnSpc>
            </a:pPr>
            <a:r>
              <a:rPr sz="1400" b="1" i="0">
                <a:solidFill>
                  <a:srgbClr val="101010"/>
                </a:solidFill>
                <a:latin typeface="Inter"/>
              </a:rPr>
              <a:t>Oct 29, 2018</a:t>
            </a:r>
          </a:p>
        </p:txBody>
      </p:sp>
      <p:sp>
        <p:nvSpPr>
          <p:cNvPr id="12" name="TextBox 11"/>
          <p:cNvSpPr txBox="1"/>
          <p:nvPr/>
        </p:nvSpPr>
        <p:spPr>
          <a:xfrm>
            <a:off x="-228600" y="3108960"/>
            <a:ext cx="2286000" cy="365760"/>
          </a:xfrm>
          <a:prstGeom prst="rect">
            <a:avLst/>
          </a:prstGeom>
          <a:noFill/>
        </p:spPr>
        <p:txBody>
          <a:bodyPr wrap="square" lIns="0" rIns="0" tIns="0" bIns="0" anchor="t">
            <a:spAutoFit/>
          </a:bodyPr>
          <a:lstStyle/>
          <a:p>
            <a:pPr algn="ctr">
              <a:lnSpc>
                <a:spcPct val="115000"/>
              </a:lnSpc>
            </a:pPr>
            <a:r>
              <a:rPr sz="1200" b="0" i="0">
                <a:solidFill>
                  <a:srgbClr val="101010"/>
                </a:solidFill>
                <a:latin typeface="Inter"/>
              </a:rPr>
              <a:t>Lion Air 610</a:t>
            </a:r>
          </a:p>
        </p:txBody>
      </p:sp>
      <p:sp>
        <p:nvSpPr>
          <p:cNvPr id="13" name="TextBox 12"/>
          <p:cNvSpPr txBox="1"/>
          <p:nvPr/>
        </p:nvSpPr>
        <p:spPr>
          <a:xfrm>
            <a:off x="-228600" y="3383280"/>
            <a:ext cx="2286000" cy="365760"/>
          </a:xfrm>
          <a:prstGeom prst="rect">
            <a:avLst/>
          </a:prstGeom>
          <a:noFill/>
        </p:spPr>
        <p:txBody>
          <a:bodyPr wrap="square" lIns="0" rIns="0" tIns="0" bIns="0" anchor="t">
            <a:spAutoFit/>
          </a:bodyPr>
          <a:lstStyle/>
          <a:p>
            <a:pPr algn="ctr">
              <a:lnSpc>
                <a:spcPct val="115000"/>
              </a:lnSpc>
            </a:pPr>
            <a:r>
              <a:rPr sz="1100" b="0" i="1">
                <a:solidFill>
                  <a:srgbClr val="C8102E"/>
                </a:solidFill>
                <a:latin typeface="Inter"/>
              </a:rPr>
              <a:t>189 dead</a:t>
            </a:r>
          </a:p>
        </p:txBody>
      </p:sp>
      <p:sp>
        <p:nvSpPr>
          <p:cNvPr id="14" name="TextBox 13"/>
          <p:cNvSpPr txBox="1"/>
          <p:nvPr/>
        </p:nvSpPr>
        <p:spPr>
          <a:xfrm>
            <a:off x="2514600" y="2743200"/>
            <a:ext cx="2286000" cy="365760"/>
          </a:xfrm>
          <a:prstGeom prst="rect">
            <a:avLst/>
          </a:prstGeom>
          <a:noFill/>
        </p:spPr>
        <p:txBody>
          <a:bodyPr wrap="square" lIns="0" rIns="0" tIns="0" bIns="0" anchor="t">
            <a:spAutoFit/>
          </a:bodyPr>
          <a:lstStyle/>
          <a:p>
            <a:pPr algn="ctr">
              <a:lnSpc>
                <a:spcPct val="115000"/>
              </a:lnSpc>
            </a:pPr>
            <a:r>
              <a:rPr sz="1400" b="1" i="0">
                <a:solidFill>
                  <a:srgbClr val="101010"/>
                </a:solidFill>
                <a:latin typeface="Inter"/>
              </a:rPr>
              <a:t>Nov 13, 2018</a:t>
            </a:r>
          </a:p>
        </p:txBody>
      </p:sp>
      <p:sp>
        <p:nvSpPr>
          <p:cNvPr id="15" name="TextBox 14"/>
          <p:cNvSpPr txBox="1"/>
          <p:nvPr/>
        </p:nvSpPr>
        <p:spPr>
          <a:xfrm>
            <a:off x="2514600" y="3108960"/>
            <a:ext cx="2286000" cy="365760"/>
          </a:xfrm>
          <a:prstGeom prst="rect">
            <a:avLst/>
          </a:prstGeom>
          <a:noFill/>
        </p:spPr>
        <p:txBody>
          <a:bodyPr wrap="square" lIns="0" rIns="0" tIns="0" bIns="0" anchor="t">
            <a:spAutoFit/>
          </a:bodyPr>
          <a:lstStyle/>
          <a:p>
            <a:pPr algn="ctr">
              <a:lnSpc>
                <a:spcPct val="115000"/>
              </a:lnSpc>
            </a:pPr>
            <a:r>
              <a:rPr sz="1200" b="0" i="0">
                <a:solidFill>
                  <a:srgbClr val="101010"/>
                </a:solidFill>
                <a:latin typeface="Inter"/>
              </a:rPr>
              <a:t>MCAS revealed</a:t>
            </a:r>
          </a:p>
        </p:txBody>
      </p:sp>
      <p:sp>
        <p:nvSpPr>
          <p:cNvPr id="16" name="TextBox 15"/>
          <p:cNvSpPr txBox="1"/>
          <p:nvPr/>
        </p:nvSpPr>
        <p:spPr>
          <a:xfrm>
            <a:off x="2514600" y="3383280"/>
            <a:ext cx="2286000" cy="365760"/>
          </a:xfrm>
          <a:prstGeom prst="rect">
            <a:avLst/>
          </a:prstGeom>
          <a:noFill/>
        </p:spPr>
        <p:txBody>
          <a:bodyPr wrap="square" lIns="0" rIns="0" tIns="0" bIns="0" anchor="t">
            <a:spAutoFit/>
          </a:bodyPr>
          <a:lstStyle/>
          <a:p>
            <a:pPr algn="ctr">
              <a:lnSpc>
                <a:spcPct val="115000"/>
              </a:lnSpc>
            </a:pPr>
            <a:r>
              <a:rPr sz="1100" b="0" i="1">
                <a:solidFill>
                  <a:srgbClr val="C8102E"/>
                </a:solidFill>
                <a:latin typeface="Inter"/>
              </a:rPr>
              <a:t>WSJ breaks it</a:t>
            </a:r>
          </a:p>
        </p:txBody>
      </p:sp>
      <p:sp>
        <p:nvSpPr>
          <p:cNvPr id="17" name="TextBox 16"/>
          <p:cNvSpPr txBox="1"/>
          <p:nvPr/>
        </p:nvSpPr>
        <p:spPr>
          <a:xfrm>
            <a:off x="4892040" y="2743200"/>
            <a:ext cx="2286000" cy="365760"/>
          </a:xfrm>
          <a:prstGeom prst="rect">
            <a:avLst/>
          </a:prstGeom>
          <a:noFill/>
        </p:spPr>
        <p:txBody>
          <a:bodyPr wrap="square" lIns="0" rIns="0" tIns="0" bIns="0" anchor="t">
            <a:spAutoFit/>
          </a:bodyPr>
          <a:lstStyle/>
          <a:p>
            <a:pPr algn="ctr">
              <a:lnSpc>
                <a:spcPct val="115000"/>
              </a:lnSpc>
            </a:pPr>
            <a:r>
              <a:rPr sz="1400" b="1" i="0">
                <a:solidFill>
                  <a:srgbClr val="101010"/>
                </a:solidFill>
                <a:latin typeface="Inter"/>
              </a:rPr>
              <a:t>Mar 10, 2019</a:t>
            </a:r>
          </a:p>
        </p:txBody>
      </p:sp>
      <p:sp>
        <p:nvSpPr>
          <p:cNvPr id="18" name="TextBox 17"/>
          <p:cNvSpPr txBox="1"/>
          <p:nvPr/>
        </p:nvSpPr>
        <p:spPr>
          <a:xfrm>
            <a:off x="4892040" y="3108960"/>
            <a:ext cx="2286000" cy="365760"/>
          </a:xfrm>
          <a:prstGeom prst="rect">
            <a:avLst/>
          </a:prstGeom>
          <a:noFill/>
        </p:spPr>
        <p:txBody>
          <a:bodyPr wrap="square" lIns="0" rIns="0" tIns="0" bIns="0" anchor="t">
            <a:spAutoFit/>
          </a:bodyPr>
          <a:lstStyle/>
          <a:p>
            <a:pPr algn="ctr">
              <a:lnSpc>
                <a:spcPct val="115000"/>
              </a:lnSpc>
            </a:pPr>
            <a:r>
              <a:rPr sz="1200" b="0" i="0">
                <a:solidFill>
                  <a:srgbClr val="101010"/>
                </a:solidFill>
                <a:latin typeface="Inter"/>
              </a:rPr>
              <a:t>Ethiopian 302</a:t>
            </a:r>
          </a:p>
        </p:txBody>
      </p:sp>
      <p:sp>
        <p:nvSpPr>
          <p:cNvPr id="19" name="TextBox 18"/>
          <p:cNvSpPr txBox="1"/>
          <p:nvPr/>
        </p:nvSpPr>
        <p:spPr>
          <a:xfrm>
            <a:off x="4892040" y="3383280"/>
            <a:ext cx="2286000" cy="365760"/>
          </a:xfrm>
          <a:prstGeom prst="rect">
            <a:avLst/>
          </a:prstGeom>
          <a:noFill/>
        </p:spPr>
        <p:txBody>
          <a:bodyPr wrap="square" lIns="0" rIns="0" tIns="0" bIns="0" anchor="t">
            <a:spAutoFit/>
          </a:bodyPr>
          <a:lstStyle/>
          <a:p>
            <a:pPr algn="ctr">
              <a:lnSpc>
                <a:spcPct val="115000"/>
              </a:lnSpc>
            </a:pPr>
            <a:r>
              <a:rPr sz="1100" b="0" i="1">
                <a:solidFill>
                  <a:srgbClr val="C8102E"/>
                </a:solidFill>
                <a:latin typeface="Inter"/>
              </a:rPr>
              <a:t>157 dead</a:t>
            </a:r>
          </a:p>
        </p:txBody>
      </p:sp>
      <p:sp>
        <p:nvSpPr>
          <p:cNvPr id="20" name="TextBox 19"/>
          <p:cNvSpPr txBox="1"/>
          <p:nvPr/>
        </p:nvSpPr>
        <p:spPr>
          <a:xfrm>
            <a:off x="7086600" y="2743200"/>
            <a:ext cx="2286000" cy="365760"/>
          </a:xfrm>
          <a:prstGeom prst="rect">
            <a:avLst/>
          </a:prstGeom>
          <a:noFill/>
        </p:spPr>
        <p:txBody>
          <a:bodyPr wrap="square" lIns="0" rIns="0" tIns="0" bIns="0" anchor="t">
            <a:spAutoFit/>
          </a:bodyPr>
          <a:lstStyle/>
          <a:p>
            <a:pPr algn="ctr">
              <a:lnSpc>
                <a:spcPct val="115000"/>
              </a:lnSpc>
            </a:pPr>
            <a:r>
              <a:rPr sz="1400" b="1" i="0">
                <a:solidFill>
                  <a:srgbClr val="101010"/>
                </a:solidFill>
                <a:latin typeface="Inter"/>
              </a:rPr>
              <a:t>Mar 11, 2019 (AM)</a:t>
            </a:r>
          </a:p>
        </p:txBody>
      </p:sp>
      <p:sp>
        <p:nvSpPr>
          <p:cNvPr id="21" name="TextBox 20"/>
          <p:cNvSpPr txBox="1"/>
          <p:nvPr/>
        </p:nvSpPr>
        <p:spPr>
          <a:xfrm>
            <a:off x="7086600" y="3108960"/>
            <a:ext cx="2286000" cy="365760"/>
          </a:xfrm>
          <a:prstGeom prst="rect">
            <a:avLst/>
          </a:prstGeom>
          <a:noFill/>
        </p:spPr>
        <p:txBody>
          <a:bodyPr wrap="square" lIns="0" rIns="0" tIns="0" bIns="0" anchor="t">
            <a:spAutoFit/>
          </a:bodyPr>
          <a:lstStyle/>
          <a:p>
            <a:pPr algn="ctr">
              <a:lnSpc>
                <a:spcPct val="115000"/>
              </a:lnSpc>
            </a:pPr>
            <a:r>
              <a:rPr sz="1200" b="0" i="0">
                <a:solidFill>
                  <a:srgbClr val="101010"/>
                </a:solidFill>
                <a:latin typeface="Inter"/>
              </a:rPr>
              <a:t>China grounds 737 MAX</a:t>
            </a:r>
          </a:p>
        </p:txBody>
      </p:sp>
      <p:sp>
        <p:nvSpPr>
          <p:cNvPr id="22" name="TextBox 21"/>
          <p:cNvSpPr txBox="1"/>
          <p:nvPr/>
        </p:nvSpPr>
        <p:spPr>
          <a:xfrm>
            <a:off x="9829800" y="2743200"/>
            <a:ext cx="2286000" cy="365760"/>
          </a:xfrm>
          <a:prstGeom prst="rect">
            <a:avLst/>
          </a:prstGeom>
          <a:noFill/>
        </p:spPr>
        <p:txBody>
          <a:bodyPr wrap="square" lIns="0" rIns="0" tIns="0" bIns="0" anchor="t">
            <a:spAutoFit/>
          </a:bodyPr>
          <a:lstStyle/>
          <a:p>
            <a:pPr algn="ctr">
              <a:lnSpc>
                <a:spcPct val="115000"/>
              </a:lnSpc>
            </a:pPr>
            <a:r>
              <a:rPr sz="1400" b="1" i="0">
                <a:solidFill>
                  <a:srgbClr val="101010"/>
                </a:solidFill>
                <a:latin typeface="Inter"/>
              </a:rPr>
              <a:t>Mar 13, 2019</a:t>
            </a:r>
          </a:p>
        </p:txBody>
      </p:sp>
      <p:sp>
        <p:nvSpPr>
          <p:cNvPr id="23" name="TextBox 22"/>
          <p:cNvSpPr txBox="1"/>
          <p:nvPr/>
        </p:nvSpPr>
        <p:spPr>
          <a:xfrm>
            <a:off x="9829800" y="3108960"/>
            <a:ext cx="2286000" cy="365760"/>
          </a:xfrm>
          <a:prstGeom prst="rect">
            <a:avLst/>
          </a:prstGeom>
          <a:noFill/>
        </p:spPr>
        <p:txBody>
          <a:bodyPr wrap="square" lIns="0" rIns="0" tIns="0" bIns="0" anchor="t">
            <a:spAutoFit/>
          </a:bodyPr>
          <a:lstStyle/>
          <a:p>
            <a:pPr algn="ctr">
              <a:lnSpc>
                <a:spcPct val="115000"/>
              </a:lnSpc>
            </a:pPr>
            <a:r>
              <a:rPr sz="1200" b="0" i="0">
                <a:solidFill>
                  <a:srgbClr val="101010"/>
                </a:solidFill>
                <a:latin typeface="Inter"/>
              </a:rPr>
              <a:t>FAA finally grounds</a:t>
            </a:r>
          </a:p>
        </p:txBody>
      </p:sp>
      <p:sp>
        <p:nvSpPr>
          <p:cNvPr id="24" name="TextBox 23"/>
          <p:cNvSpPr txBox="1"/>
          <p:nvPr/>
        </p:nvSpPr>
        <p:spPr>
          <a:xfrm>
            <a:off x="9829800" y="3383280"/>
            <a:ext cx="2286000" cy="365760"/>
          </a:xfrm>
          <a:prstGeom prst="rect">
            <a:avLst/>
          </a:prstGeom>
          <a:noFill/>
        </p:spPr>
        <p:txBody>
          <a:bodyPr wrap="square" lIns="0" rIns="0" tIns="0" bIns="0" anchor="t">
            <a:spAutoFit/>
          </a:bodyPr>
          <a:lstStyle/>
          <a:p>
            <a:pPr algn="ctr">
              <a:lnSpc>
                <a:spcPct val="115000"/>
              </a:lnSpc>
            </a:pPr>
            <a:r>
              <a:rPr sz="1100" b="0" i="1">
                <a:solidFill>
                  <a:srgbClr val="C8102E"/>
                </a:solidFill>
                <a:latin typeface="Inter"/>
              </a:rPr>
              <a:t>(last major)</a:t>
            </a:r>
          </a:p>
        </p:txBody>
      </p:sp>
      <p:pic>
        <p:nvPicPr>
          <p:cNvPr id="25" name="Picture 24" descr="lion_air_610_wreckage.png"/>
          <p:cNvPicPr>
            <a:picLocks noChangeAspect="1"/>
          </p:cNvPicPr>
          <p:nvPr/>
        </p:nvPicPr>
        <p:blipFill>
          <a:blip r:embed="rId3"/>
          <a:stretch>
            <a:fillRect/>
          </a:stretch>
        </p:blipFill>
        <p:spPr>
          <a:xfrm>
            <a:off x="640080" y="4206240"/>
            <a:ext cx="2377440" cy="1582078"/>
          </a:xfrm>
          <a:prstGeom prst="rect">
            <a:avLst/>
          </a:prstGeom>
        </p:spPr>
      </p:pic>
      <p:pic>
        <p:nvPicPr>
          <p:cNvPr id="26" name="Picture 25" descr="wsj_headline_nov21.png"/>
          <p:cNvPicPr>
            <a:picLocks noChangeAspect="1"/>
          </p:cNvPicPr>
          <p:nvPr/>
        </p:nvPicPr>
        <p:blipFill>
          <a:blip r:embed="rId4"/>
          <a:stretch>
            <a:fillRect/>
          </a:stretch>
        </p:blipFill>
        <p:spPr>
          <a:xfrm>
            <a:off x="3291840" y="4480560"/>
            <a:ext cx="4206240" cy="1597681"/>
          </a:xfrm>
          <a:prstGeom prst="rect">
            <a:avLst/>
          </a:prstGeom>
        </p:spPr>
      </p:pic>
      <p:pic>
        <p:nvPicPr>
          <p:cNvPr id="27" name="Picture 26" descr="wsj_headline_march11.png"/>
          <p:cNvPicPr>
            <a:picLocks noChangeAspect="1"/>
          </p:cNvPicPr>
          <p:nvPr/>
        </p:nvPicPr>
        <p:blipFill>
          <a:blip r:embed="rId5"/>
          <a:stretch>
            <a:fillRect/>
          </a:stretch>
        </p:blipFill>
        <p:spPr>
          <a:xfrm>
            <a:off x="7772400" y="4480560"/>
            <a:ext cx="4023360" cy="1488092"/>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D6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72800" cy="822960"/>
          </a:xfrm>
          <a:prstGeom prst="rect">
            <a:avLst/>
          </a:prstGeom>
          <a:noFill/>
        </p:spPr>
        <p:txBody>
          <a:bodyPr wrap="square" lIns="0" rIns="0" tIns="0" bIns="0" anchor="t">
            <a:spAutoFit/>
          </a:bodyPr>
          <a:lstStyle/>
          <a:p>
            <a:pPr algn="l">
              <a:lnSpc>
                <a:spcPct val="115000"/>
              </a:lnSpc>
            </a:pPr>
            <a:r>
              <a:rPr sz="4000" b="1" i="0">
                <a:solidFill>
                  <a:srgbClr val="101010"/>
                </a:solidFill>
                <a:latin typeface="Inter"/>
              </a:rPr>
              <a:t>Chomsky's Five Filters</a:t>
            </a:r>
          </a:p>
        </p:txBody>
      </p:sp>
      <p:sp>
        <p:nvSpPr>
          <p:cNvPr id="4" name="TextBox 3"/>
          <p:cNvSpPr txBox="1"/>
          <p:nvPr/>
        </p:nvSpPr>
        <p:spPr>
          <a:xfrm>
            <a:off x="640080" y="1234440"/>
            <a:ext cx="10972800" cy="365760"/>
          </a:xfrm>
          <a:prstGeom prst="rect">
            <a:avLst/>
          </a:prstGeom>
          <a:noFill/>
        </p:spPr>
        <p:txBody>
          <a:bodyPr wrap="square" lIns="0" rIns="0" tIns="0" bIns="0" anchor="t">
            <a:spAutoFit/>
          </a:bodyPr>
          <a:lstStyle/>
          <a:p>
            <a:pPr algn="l">
              <a:lnSpc>
                <a:spcPct val="115000"/>
              </a:lnSpc>
            </a:pPr>
            <a:r>
              <a:rPr sz="1600" b="0" i="1">
                <a:solidFill>
                  <a:srgbClr val="555B60"/>
                </a:solidFill>
                <a:latin typeface="Inter"/>
              </a:rPr>
              <a:t>Herman &amp; Chomsky, Manufacturing Consent (1988 / 2002)</a:t>
            </a:r>
          </a:p>
        </p:txBody>
      </p:sp>
      <p:sp>
        <p:nvSpPr>
          <p:cNvPr id="5" name="Rounded Rectangle 4"/>
          <p:cNvSpPr/>
          <p:nvPr/>
        </p:nvSpPr>
        <p:spPr>
          <a:xfrm>
            <a:off x="623163" y="2103120"/>
            <a:ext cx="2057400" cy="1828800"/>
          </a:xfrm>
          <a:prstGeom prst="roundRect">
            <a:avLst/>
          </a:prstGeom>
          <a:solidFill>
            <a:srgbClr val="0B2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23163" y="2267712"/>
            <a:ext cx="2057400" cy="548640"/>
          </a:xfrm>
          <a:prstGeom prst="rect">
            <a:avLst/>
          </a:prstGeom>
          <a:noFill/>
        </p:spPr>
        <p:txBody>
          <a:bodyPr wrap="square" lIns="0" rIns="0" tIns="0" bIns="0" anchor="t">
            <a:spAutoFit/>
          </a:bodyPr>
          <a:lstStyle/>
          <a:p>
            <a:pPr algn="ctr">
              <a:lnSpc>
                <a:spcPct val="115000"/>
              </a:lnSpc>
            </a:pPr>
            <a:r>
              <a:rPr sz="2800" b="1" i="0">
                <a:solidFill>
                  <a:srgbClr val="FFFFFF"/>
                </a:solidFill>
                <a:latin typeface="Inter"/>
              </a:rPr>
              <a:t>1</a:t>
            </a:r>
          </a:p>
        </p:txBody>
      </p:sp>
      <p:sp>
        <p:nvSpPr>
          <p:cNvPr id="7" name="TextBox 6"/>
          <p:cNvSpPr txBox="1"/>
          <p:nvPr/>
        </p:nvSpPr>
        <p:spPr>
          <a:xfrm>
            <a:off x="623163" y="2926080"/>
            <a:ext cx="2057400" cy="457200"/>
          </a:xfrm>
          <a:prstGeom prst="rect">
            <a:avLst/>
          </a:prstGeom>
          <a:noFill/>
        </p:spPr>
        <p:txBody>
          <a:bodyPr wrap="square" lIns="0" rIns="0" tIns="0" bIns="0" anchor="t">
            <a:spAutoFit/>
          </a:bodyPr>
          <a:lstStyle/>
          <a:p>
            <a:pPr algn="ctr">
              <a:lnSpc>
                <a:spcPct val="115000"/>
              </a:lnSpc>
            </a:pPr>
            <a:r>
              <a:rPr sz="1800" b="1" i="0">
                <a:solidFill>
                  <a:srgbClr val="FFFFFF"/>
                </a:solidFill>
                <a:latin typeface="Inter"/>
              </a:rPr>
              <a:t>Ownership</a:t>
            </a:r>
          </a:p>
        </p:txBody>
      </p:sp>
      <p:sp>
        <p:nvSpPr>
          <p:cNvPr id="8" name="TextBox 7"/>
          <p:cNvSpPr txBox="1"/>
          <p:nvPr/>
        </p:nvSpPr>
        <p:spPr>
          <a:xfrm>
            <a:off x="623163" y="3383280"/>
            <a:ext cx="2057400" cy="457200"/>
          </a:xfrm>
          <a:prstGeom prst="rect">
            <a:avLst/>
          </a:prstGeom>
          <a:noFill/>
        </p:spPr>
        <p:txBody>
          <a:bodyPr wrap="square" lIns="0" rIns="0" tIns="0" bIns="0" anchor="t">
            <a:spAutoFit/>
          </a:bodyPr>
          <a:lstStyle/>
          <a:p>
            <a:pPr algn="ctr">
              <a:lnSpc>
                <a:spcPct val="115000"/>
              </a:lnSpc>
            </a:pPr>
            <a:r>
              <a:rPr sz="1200" b="0" i="1">
                <a:solidFill>
                  <a:srgbClr val="CFD6DE"/>
                </a:solidFill>
                <a:latin typeface="Inter"/>
              </a:rPr>
              <a:t>&amp; profit orientation</a:t>
            </a:r>
          </a:p>
        </p:txBody>
      </p:sp>
      <p:sp>
        <p:nvSpPr>
          <p:cNvPr id="9" name="Right Triangle 8"/>
          <p:cNvSpPr/>
          <p:nvPr/>
        </p:nvSpPr>
        <p:spPr>
          <a:xfrm>
            <a:off x="2698851" y="2953512"/>
            <a:ext cx="128016" cy="128016"/>
          </a:xfrm>
          <a:prstGeom prst="rtTriangle">
            <a:avLst/>
          </a:prstGeom>
          <a:solidFill>
            <a:srgbClr val="555B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45155" y="2103120"/>
            <a:ext cx="2057400" cy="1828800"/>
          </a:xfrm>
          <a:prstGeom prst="roundRect">
            <a:avLst/>
          </a:prstGeom>
          <a:solidFill>
            <a:srgbClr val="0B2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45155" y="2267712"/>
            <a:ext cx="2057400" cy="548640"/>
          </a:xfrm>
          <a:prstGeom prst="rect">
            <a:avLst/>
          </a:prstGeom>
          <a:noFill/>
        </p:spPr>
        <p:txBody>
          <a:bodyPr wrap="square" lIns="0" rIns="0" tIns="0" bIns="0" anchor="t">
            <a:spAutoFit/>
          </a:bodyPr>
          <a:lstStyle/>
          <a:p>
            <a:pPr algn="ctr">
              <a:lnSpc>
                <a:spcPct val="115000"/>
              </a:lnSpc>
            </a:pPr>
            <a:r>
              <a:rPr sz="2800" b="1" i="0">
                <a:solidFill>
                  <a:srgbClr val="FFFFFF"/>
                </a:solidFill>
                <a:latin typeface="Inter"/>
              </a:rPr>
              <a:t>2</a:t>
            </a:r>
          </a:p>
        </p:txBody>
      </p:sp>
      <p:sp>
        <p:nvSpPr>
          <p:cNvPr id="12" name="TextBox 11"/>
          <p:cNvSpPr txBox="1"/>
          <p:nvPr/>
        </p:nvSpPr>
        <p:spPr>
          <a:xfrm>
            <a:off x="2845155" y="2926080"/>
            <a:ext cx="2057400" cy="457200"/>
          </a:xfrm>
          <a:prstGeom prst="rect">
            <a:avLst/>
          </a:prstGeom>
          <a:noFill/>
        </p:spPr>
        <p:txBody>
          <a:bodyPr wrap="square" lIns="0" rIns="0" tIns="0" bIns="0" anchor="t">
            <a:spAutoFit/>
          </a:bodyPr>
          <a:lstStyle/>
          <a:p>
            <a:pPr algn="ctr">
              <a:lnSpc>
                <a:spcPct val="115000"/>
              </a:lnSpc>
            </a:pPr>
            <a:r>
              <a:rPr sz="1800" b="1" i="0">
                <a:solidFill>
                  <a:srgbClr val="FFFFFF"/>
                </a:solidFill>
                <a:latin typeface="Inter"/>
              </a:rPr>
              <a:t>Advertising</a:t>
            </a:r>
          </a:p>
        </p:txBody>
      </p:sp>
      <p:sp>
        <p:nvSpPr>
          <p:cNvPr id="13" name="TextBox 12"/>
          <p:cNvSpPr txBox="1"/>
          <p:nvPr/>
        </p:nvSpPr>
        <p:spPr>
          <a:xfrm>
            <a:off x="2845155" y="3383280"/>
            <a:ext cx="2057400" cy="457200"/>
          </a:xfrm>
          <a:prstGeom prst="rect">
            <a:avLst/>
          </a:prstGeom>
          <a:noFill/>
        </p:spPr>
        <p:txBody>
          <a:bodyPr wrap="square" lIns="0" rIns="0" tIns="0" bIns="0" anchor="t">
            <a:spAutoFit/>
          </a:bodyPr>
          <a:lstStyle/>
          <a:p>
            <a:pPr algn="ctr">
              <a:lnSpc>
                <a:spcPct val="115000"/>
              </a:lnSpc>
            </a:pPr>
            <a:r>
              <a:rPr sz="1200" b="0" i="1">
                <a:solidFill>
                  <a:srgbClr val="CFD6DE"/>
                </a:solidFill>
                <a:latin typeface="Inter"/>
              </a:rPr>
              <a:t>the reader economy</a:t>
            </a:r>
          </a:p>
        </p:txBody>
      </p:sp>
      <p:sp>
        <p:nvSpPr>
          <p:cNvPr id="14" name="Right Triangle 13"/>
          <p:cNvSpPr/>
          <p:nvPr/>
        </p:nvSpPr>
        <p:spPr>
          <a:xfrm>
            <a:off x="4920843" y="2953512"/>
            <a:ext cx="128016" cy="128016"/>
          </a:xfrm>
          <a:prstGeom prst="rtTriangle">
            <a:avLst/>
          </a:prstGeom>
          <a:solidFill>
            <a:srgbClr val="555B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067147" y="2103120"/>
            <a:ext cx="2057400" cy="1828800"/>
          </a:xfrm>
          <a:prstGeom prst="roundRect">
            <a:avLst/>
          </a:prstGeom>
          <a:solidFill>
            <a:srgbClr val="0B2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67147" y="2267712"/>
            <a:ext cx="2057400" cy="548640"/>
          </a:xfrm>
          <a:prstGeom prst="rect">
            <a:avLst/>
          </a:prstGeom>
          <a:noFill/>
        </p:spPr>
        <p:txBody>
          <a:bodyPr wrap="square" lIns="0" rIns="0" tIns="0" bIns="0" anchor="t">
            <a:spAutoFit/>
          </a:bodyPr>
          <a:lstStyle/>
          <a:p>
            <a:pPr algn="ctr">
              <a:lnSpc>
                <a:spcPct val="115000"/>
              </a:lnSpc>
            </a:pPr>
            <a:r>
              <a:rPr sz="2800" b="1" i="0">
                <a:solidFill>
                  <a:srgbClr val="FFFFFF"/>
                </a:solidFill>
                <a:latin typeface="Inter"/>
              </a:rPr>
              <a:t>3</a:t>
            </a:r>
          </a:p>
        </p:txBody>
      </p:sp>
      <p:sp>
        <p:nvSpPr>
          <p:cNvPr id="17" name="TextBox 16"/>
          <p:cNvSpPr txBox="1"/>
          <p:nvPr/>
        </p:nvSpPr>
        <p:spPr>
          <a:xfrm>
            <a:off x="5067147" y="2926080"/>
            <a:ext cx="2057400" cy="457200"/>
          </a:xfrm>
          <a:prstGeom prst="rect">
            <a:avLst/>
          </a:prstGeom>
          <a:noFill/>
        </p:spPr>
        <p:txBody>
          <a:bodyPr wrap="square" lIns="0" rIns="0" tIns="0" bIns="0" anchor="t">
            <a:spAutoFit/>
          </a:bodyPr>
          <a:lstStyle/>
          <a:p>
            <a:pPr algn="ctr">
              <a:lnSpc>
                <a:spcPct val="115000"/>
              </a:lnSpc>
            </a:pPr>
            <a:r>
              <a:rPr sz="1800" b="1" i="0">
                <a:solidFill>
                  <a:srgbClr val="FFFFFF"/>
                </a:solidFill>
                <a:latin typeface="Inter"/>
              </a:rPr>
              <a:t>Sourcing</a:t>
            </a:r>
          </a:p>
        </p:txBody>
      </p:sp>
      <p:sp>
        <p:nvSpPr>
          <p:cNvPr id="18" name="TextBox 17"/>
          <p:cNvSpPr txBox="1"/>
          <p:nvPr/>
        </p:nvSpPr>
        <p:spPr>
          <a:xfrm>
            <a:off x="5067147" y="3383280"/>
            <a:ext cx="2057400" cy="457200"/>
          </a:xfrm>
          <a:prstGeom prst="rect">
            <a:avLst/>
          </a:prstGeom>
          <a:noFill/>
        </p:spPr>
        <p:txBody>
          <a:bodyPr wrap="square" lIns="0" rIns="0" tIns="0" bIns="0" anchor="t">
            <a:spAutoFit/>
          </a:bodyPr>
          <a:lstStyle/>
          <a:p>
            <a:pPr algn="ctr">
              <a:lnSpc>
                <a:spcPct val="115000"/>
              </a:lnSpc>
            </a:pPr>
            <a:r>
              <a:rPr sz="1200" b="0" i="1">
                <a:solidFill>
                  <a:srgbClr val="CFD6DE"/>
                </a:solidFill>
                <a:latin typeface="Inter"/>
              </a:rPr>
              <a:t>the beat &amp; access economy</a:t>
            </a:r>
          </a:p>
        </p:txBody>
      </p:sp>
      <p:sp>
        <p:nvSpPr>
          <p:cNvPr id="19" name="Right Triangle 18"/>
          <p:cNvSpPr/>
          <p:nvPr/>
        </p:nvSpPr>
        <p:spPr>
          <a:xfrm>
            <a:off x="7142835" y="2953512"/>
            <a:ext cx="128016" cy="128016"/>
          </a:xfrm>
          <a:prstGeom prst="rtTriangle">
            <a:avLst/>
          </a:prstGeom>
          <a:solidFill>
            <a:srgbClr val="555B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289139" y="2103120"/>
            <a:ext cx="2057400" cy="1828800"/>
          </a:xfrm>
          <a:prstGeom prst="roundRect">
            <a:avLst/>
          </a:prstGeom>
          <a:solidFill>
            <a:srgbClr val="0B2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89139" y="2267712"/>
            <a:ext cx="2057400" cy="548640"/>
          </a:xfrm>
          <a:prstGeom prst="rect">
            <a:avLst/>
          </a:prstGeom>
          <a:noFill/>
        </p:spPr>
        <p:txBody>
          <a:bodyPr wrap="square" lIns="0" rIns="0" tIns="0" bIns="0" anchor="t">
            <a:spAutoFit/>
          </a:bodyPr>
          <a:lstStyle/>
          <a:p>
            <a:pPr algn="ctr">
              <a:lnSpc>
                <a:spcPct val="115000"/>
              </a:lnSpc>
            </a:pPr>
            <a:r>
              <a:rPr sz="2800" b="1" i="0">
                <a:solidFill>
                  <a:srgbClr val="FFFFFF"/>
                </a:solidFill>
                <a:latin typeface="Inter"/>
              </a:rPr>
              <a:t>4</a:t>
            </a:r>
          </a:p>
        </p:txBody>
      </p:sp>
      <p:sp>
        <p:nvSpPr>
          <p:cNvPr id="22" name="TextBox 21"/>
          <p:cNvSpPr txBox="1"/>
          <p:nvPr/>
        </p:nvSpPr>
        <p:spPr>
          <a:xfrm>
            <a:off x="7289139" y="2926080"/>
            <a:ext cx="2057400" cy="457200"/>
          </a:xfrm>
          <a:prstGeom prst="rect">
            <a:avLst/>
          </a:prstGeom>
          <a:noFill/>
        </p:spPr>
        <p:txBody>
          <a:bodyPr wrap="square" lIns="0" rIns="0" tIns="0" bIns="0" anchor="t">
            <a:spAutoFit/>
          </a:bodyPr>
          <a:lstStyle/>
          <a:p>
            <a:pPr algn="ctr">
              <a:lnSpc>
                <a:spcPct val="115000"/>
              </a:lnSpc>
            </a:pPr>
            <a:r>
              <a:rPr sz="1800" b="1" i="0">
                <a:solidFill>
                  <a:srgbClr val="FFFFFF"/>
                </a:solidFill>
                <a:latin typeface="Inter"/>
              </a:rPr>
              <a:t>Flak</a:t>
            </a:r>
          </a:p>
        </p:txBody>
      </p:sp>
      <p:sp>
        <p:nvSpPr>
          <p:cNvPr id="23" name="TextBox 22"/>
          <p:cNvSpPr txBox="1"/>
          <p:nvPr/>
        </p:nvSpPr>
        <p:spPr>
          <a:xfrm>
            <a:off x="7289139" y="3383280"/>
            <a:ext cx="2057400" cy="457200"/>
          </a:xfrm>
          <a:prstGeom prst="rect">
            <a:avLst/>
          </a:prstGeom>
          <a:noFill/>
        </p:spPr>
        <p:txBody>
          <a:bodyPr wrap="square" lIns="0" rIns="0" tIns="0" bIns="0" anchor="t">
            <a:spAutoFit/>
          </a:bodyPr>
          <a:lstStyle/>
          <a:p>
            <a:pPr algn="ctr">
              <a:lnSpc>
                <a:spcPct val="115000"/>
              </a:lnSpc>
            </a:pPr>
            <a:r>
              <a:rPr sz="1200" b="0" i="1">
                <a:solidFill>
                  <a:srgbClr val="CFD6DE"/>
                </a:solidFill>
                <a:latin typeface="Inter"/>
              </a:rPr>
              <a:t>as anticipatory discipline</a:t>
            </a:r>
          </a:p>
        </p:txBody>
      </p:sp>
      <p:sp>
        <p:nvSpPr>
          <p:cNvPr id="24" name="Right Triangle 23"/>
          <p:cNvSpPr/>
          <p:nvPr/>
        </p:nvSpPr>
        <p:spPr>
          <a:xfrm>
            <a:off x="9364827" y="2953512"/>
            <a:ext cx="128016" cy="128016"/>
          </a:xfrm>
          <a:prstGeom prst="rtTriangle">
            <a:avLst/>
          </a:prstGeom>
          <a:solidFill>
            <a:srgbClr val="555B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511131" y="2103120"/>
            <a:ext cx="2057400" cy="1828800"/>
          </a:xfrm>
          <a:prstGeom prst="roundRect">
            <a:avLst/>
          </a:prstGeom>
          <a:solidFill>
            <a:srgbClr val="0B2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511131" y="2267712"/>
            <a:ext cx="2057400" cy="548640"/>
          </a:xfrm>
          <a:prstGeom prst="rect">
            <a:avLst/>
          </a:prstGeom>
          <a:noFill/>
        </p:spPr>
        <p:txBody>
          <a:bodyPr wrap="square" lIns="0" rIns="0" tIns="0" bIns="0" anchor="t">
            <a:spAutoFit/>
          </a:bodyPr>
          <a:lstStyle/>
          <a:p>
            <a:pPr algn="ctr">
              <a:lnSpc>
                <a:spcPct val="115000"/>
              </a:lnSpc>
            </a:pPr>
            <a:r>
              <a:rPr sz="2800" b="1" i="0">
                <a:solidFill>
                  <a:srgbClr val="FFFFFF"/>
                </a:solidFill>
                <a:latin typeface="Inter"/>
              </a:rPr>
              <a:t>5</a:t>
            </a:r>
          </a:p>
        </p:txBody>
      </p:sp>
      <p:sp>
        <p:nvSpPr>
          <p:cNvPr id="27" name="TextBox 26"/>
          <p:cNvSpPr txBox="1"/>
          <p:nvPr/>
        </p:nvSpPr>
        <p:spPr>
          <a:xfrm>
            <a:off x="9511131" y="2926080"/>
            <a:ext cx="2057400" cy="457200"/>
          </a:xfrm>
          <a:prstGeom prst="rect">
            <a:avLst/>
          </a:prstGeom>
          <a:noFill/>
        </p:spPr>
        <p:txBody>
          <a:bodyPr wrap="square" lIns="0" rIns="0" tIns="0" bIns="0" anchor="t">
            <a:spAutoFit/>
          </a:bodyPr>
          <a:lstStyle/>
          <a:p>
            <a:pPr algn="ctr">
              <a:lnSpc>
                <a:spcPct val="115000"/>
              </a:lnSpc>
            </a:pPr>
            <a:r>
              <a:rPr sz="1800" b="1" i="0">
                <a:solidFill>
                  <a:srgbClr val="FFFFFF"/>
                </a:solidFill>
                <a:latin typeface="Inter"/>
              </a:rPr>
              <a:t>Unifying ideology</a:t>
            </a:r>
          </a:p>
        </p:txBody>
      </p:sp>
      <p:sp>
        <p:nvSpPr>
          <p:cNvPr id="28" name="TextBox 27"/>
          <p:cNvSpPr txBox="1"/>
          <p:nvPr/>
        </p:nvSpPr>
        <p:spPr>
          <a:xfrm>
            <a:off x="9511131" y="3383280"/>
            <a:ext cx="2057400" cy="457200"/>
          </a:xfrm>
          <a:prstGeom prst="rect">
            <a:avLst/>
          </a:prstGeom>
          <a:noFill/>
        </p:spPr>
        <p:txBody>
          <a:bodyPr wrap="square" lIns="0" rIns="0" tIns="0" bIns="0" anchor="t">
            <a:spAutoFit/>
          </a:bodyPr>
          <a:lstStyle/>
          <a:p>
            <a:pPr algn="ctr">
              <a:lnSpc>
                <a:spcPct val="115000"/>
              </a:lnSpc>
            </a:pPr>
            <a:r>
              <a:rPr sz="1200" b="0" i="1">
                <a:solidFill>
                  <a:srgbClr val="CFD6DE"/>
                </a:solidFill>
                <a:latin typeface="Inter"/>
              </a:rPr>
              <a:t>anticommunism → ?</a:t>
            </a:r>
          </a:p>
        </p:txBody>
      </p:sp>
      <p:sp>
        <p:nvSpPr>
          <p:cNvPr id="29" name="Rectangle 28"/>
          <p:cNvSpPr/>
          <p:nvPr/>
        </p:nvSpPr>
        <p:spPr>
          <a:xfrm>
            <a:off x="640080" y="4434840"/>
            <a:ext cx="10908792" cy="1920240"/>
          </a:xfrm>
          <a:prstGeom prst="rect">
            <a:avLst/>
          </a:prstGeom>
          <a:solidFill>
            <a:srgbClr val="C4CC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4709160"/>
            <a:ext cx="10177272" cy="1554480"/>
          </a:xfrm>
          <a:prstGeom prst="rect">
            <a:avLst/>
          </a:prstGeom>
          <a:noFill/>
        </p:spPr>
        <p:txBody>
          <a:bodyPr wrap="square" lIns="0" rIns="0" tIns="0" bIns="0" anchor="t">
            <a:spAutoFit/>
          </a:bodyPr>
          <a:lstStyle/>
          <a:p>
            <a:pPr algn="l">
              <a:lnSpc>
                <a:spcPct val="115000"/>
              </a:lnSpc>
            </a:pPr>
            <a:r>
              <a:rPr sz="2200" b="0" i="1" u="none">
                <a:solidFill>
                  <a:srgbClr val="101010"/>
                </a:solidFill>
                <a:latin typeface="Cambria"/>
              </a:rPr>
              <a:t>“The constraints are so powerful, and are built into the system in such a fundamental way, that alternative bases of news choices are hardly imaginable.”</a:t>
            </a:r>
          </a:p>
          <a:p>
            <a:pPr algn="l">
              <a:lnSpc>
                <a:spcPct val="115000"/>
              </a:lnSpc>
            </a:pPr>
            <a:r>
              <a:rPr sz="800" b="0" i="0" u="none">
                <a:solidFill>
                  <a:srgbClr val="101010"/>
                </a:solidFill>
                <a:latin typeface="Inter"/>
              </a:rPr>
              <a:t> </a:t>
            </a:r>
          </a:p>
          <a:p>
            <a:pPr algn="l">
              <a:lnSpc>
                <a:spcPct val="115000"/>
              </a:lnSpc>
            </a:pPr>
            <a:r>
              <a:rPr sz="1400" b="0" i="0" u="none">
                <a:solidFill>
                  <a:srgbClr val="555B60"/>
                </a:solidFill>
                <a:latin typeface="Inter"/>
              </a:rPr>
              <a:t>— Herman &amp; Chomsky, Manufacturing Consent, p. 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D6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72800" cy="822960"/>
          </a:xfrm>
          <a:prstGeom prst="rect">
            <a:avLst/>
          </a:prstGeom>
          <a:noFill/>
        </p:spPr>
        <p:txBody>
          <a:bodyPr wrap="square" lIns="0" rIns="0" tIns="0" bIns="0" anchor="t">
            <a:spAutoFit/>
          </a:bodyPr>
          <a:lstStyle/>
          <a:p>
            <a:pPr algn="l">
              <a:lnSpc>
                <a:spcPct val="115000"/>
              </a:lnSpc>
            </a:pPr>
            <a:r>
              <a:rPr sz="3600" b="1" i="0">
                <a:solidFill>
                  <a:srgbClr val="101010"/>
                </a:solidFill>
                <a:latin typeface="Inter"/>
              </a:rPr>
              <a:t>Filter 1: Ownership &amp; Profit Orientation</a:t>
            </a:r>
          </a:p>
        </p:txBody>
      </p:sp>
      <p:sp>
        <p:nvSpPr>
          <p:cNvPr id="4" name="Rectangle 3"/>
          <p:cNvSpPr/>
          <p:nvPr/>
        </p:nvSpPr>
        <p:spPr>
          <a:xfrm>
            <a:off x="640080" y="1554480"/>
            <a:ext cx="5440680" cy="640080"/>
          </a:xfrm>
          <a:prstGeom prst="rect">
            <a:avLst/>
          </a:prstGeom>
          <a:solidFill>
            <a:srgbClr val="0B2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126480" y="1554480"/>
            <a:ext cx="5440680" cy="640080"/>
          </a:xfrm>
          <a:prstGeom prst="rect">
            <a:avLst/>
          </a:prstGeom>
          <a:solidFill>
            <a:srgbClr val="0B2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54480"/>
            <a:ext cx="5440680" cy="640080"/>
          </a:xfrm>
          <a:prstGeom prst="rect">
            <a:avLst/>
          </a:prstGeom>
          <a:noFill/>
        </p:spPr>
        <p:txBody>
          <a:bodyPr wrap="square" lIns="0" rIns="0" tIns="0" bIns="0" anchor="ctr">
            <a:spAutoFit/>
          </a:bodyPr>
          <a:lstStyle/>
          <a:p>
            <a:pPr algn="ctr">
              <a:lnSpc>
                <a:spcPct val="115000"/>
              </a:lnSpc>
            </a:pPr>
            <a:r>
              <a:rPr sz="2000" b="1" i="0">
                <a:solidFill>
                  <a:srgbClr val="FFFFFF"/>
                </a:solidFill>
                <a:latin typeface="Inter"/>
              </a:rPr>
              <a:t>WSJ  —  owner class</a:t>
            </a:r>
          </a:p>
        </p:txBody>
      </p:sp>
      <p:sp>
        <p:nvSpPr>
          <p:cNvPr id="7" name="TextBox 6"/>
          <p:cNvSpPr txBox="1"/>
          <p:nvPr/>
        </p:nvSpPr>
        <p:spPr>
          <a:xfrm>
            <a:off x="6126480" y="1554480"/>
            <a:ext cx="5440680" cy="640080"/>
          </a:xfrm>
          <a:prstGeom prst="rect">
            <a:avLst/>
          </a:prstGeom>
          <a:noFill/>
        </p:spPr>
        <p:txBody>
          <a:bodyPr wrap="square" lIns="0" rIns="0" tIns="0" bIns="0" anchor="ctr">
            <a:spAutoFit/>
          </a:bodyPr>
          <a:lstStyle/>
          <a:p>
            <a:pPr algn="ctr">
              <a:lnSpc>
                <a:spcPct val="115000"/>
              </a:lnSpc>
            </a:pPr>
            <a:r>
              <a:rPr sz="2000" b="1" i="0">
                <a:solidFill>
                  <a:srgbClr val="FFFFFF"/>
                </a:solidFill>
                <a:latin typeface="Inter"/>
              </a:rPr>
              <a:t>Boeing  —  same class</a:t>
            </a:r>
          </a:p>
        </p:txBody>
      </p:sp>
      <p:sp>
        <p:nvSpPr>
          <p:cNvPr id="8" name="Rectangle 7"/>
          <p:cNvSpPr/>
          <p:nvPr/>
        </p:nvSpPr>
        <p:spPr>
          <a:xfrm>
            <a:off x="640080" y="2194560"/>
            <a:ext cx="5440680" cy="3383280"/>
          </a:xfrm>
          <a:prstGeom prst="rect">
            <a:avLst/>
          </a:prstGeom>
          <a:solidFill>
            <a:srgbClr val="C4CC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26480" y="2194560"/>
            <a:ext cx="5440680" cy="3383280"/>
          </a:xfrm>
          <a:prstGeom prst="rect">
            <a:avLst/>
          </a:prstGeom>
          <a:solidFill>
            <a:srgbClr val="C4CC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423160"/>
            <a:ext cx="4892040" cy="2926080"/>
          </a:xfrm>
          <a:prstGeom prst="rect">
            <a:avLst/>
          </a:prstGeom>
          <a:noFill/>
        </p:spPr>
        <p:txBody>
          <a:bodyPr wrap="square" lIns="0" rIns="0" tIns="0" bIns="0" anchor="t">
            <a:spAutoFit/>
          </a:bodyPr>
          <a:lstStyle/>
          <a:p>
            <a:pPr algn="l">
              <a:lnSpc>
                <a:spcPct val="145000"/>
              </a:lnSpc>
            </a:pPr>
            <a:r>
              <a:rPr sz="1600" b="0" i="0">
                <a:solidFill>
                  <a:srgbClr val="101010"/>
                </a:solidFill>
                <a:latin typeface="Inter"/>
              </a:rPr>
              <a:t>•   Owned by News Corp (Murdoch family)</a:t>
            </a:r>
          </a:p>
          <a:p>
            <a:pPr algn="l">
              <a:lnSpc>
                <a:spcPct val="145000"/>
              </a:lnSpc>
            </a:pPr>
            <a:r>
              <a:rPr sz="1600" b="0" i="0">
                <a:solidFill>
                  <a:srgbClr val="101010"/>
                </a:solidFill>
                <a:latin typeface="Inter"/>
              </a:rPr>
              <a:t>•   One of the world's largest media conglomerates</a:t>
            </a:r>
          </a:p>
          <a:p>
            <a:pPr algn="l">
              <a:lnSpc>
                <a:spcPct val="145000"/>
              </a:lnSpc>
            </a:pPr>
            <a:r>
              <a:rPr sz="1600" b="0" i="0">
                <a:solidFill>
                  <a:srgbClr val="101010"/>
                </a:solidFill>
                <a:latin typeface="Inter"/>
              </a:rPr>
              <a:t>•   Calculates the Dow Jones Industrial Average</a:t>
            </a:r>
          </a:p>
          <a:p>
            <a:pPr algn="l">
              <a:lnSpc>
                <a:spcPct val="145000"/>
              </a:lnSpc>
            </a:pPr>
            <a:r>
              <a:rPr sz="1600" b="0" i="0">
                <a:solidFill>
                  <a:srgbClr val="101010"/>
                </a:solidFill>
                <a:latin typeface="Inter"/>
              </a:rPr>
              <a:t>•   Reader base: corporate-financial elite</a:t>
            </a:r>
          </a:p>
        </p:txBody>
      </p:sp>
      <p:sp>
        <p:nvSpPr>
          <p:cNvPr id="11" name="TextBox 10"/>
          <p:cNvSpPr txBox="1"/>
          <p:nvPr/>
        </p:nvSpPr>
        <p:spPr>
          <a:xfrm>
            <a:off x="6492240" y="2423160"/>
            <a:ext cx="4892040" cy="2926080"/>
          </a:xfrm>
          <a:prstGeom prst="rect">
            <a:avLst/>
          </a:prstGeom>
          <a:noFill/>
        </p:spPr>
        <p:txBody>
          <a:bodyPr wrap="square" lIns="0" rIns="0" tIns="0" bIns="0" anchor="t">
            <a:spAutoFit/>
          </a:bodyPr>
          <a:lstStyle/>
          <a:p>
            <a:pPr algn="l">
              <a:lnSpc>
                <a:spcPct val="145000"/>
              </a:lnSpc>
            </a:pPr>
            <a:r>
              <a:rPr sz="1600" b="0" i="0">
                <a:solidFill>
                  <a:srgbClr val="101010"/>
                </a:solidFill>
                <a:latin typeface="Inter"/>
              </a:rPr>
              <a:t>•   Top 30 U.S. corporation (~$240B market cap, 2019)</a:t>
            </a:r>
          </a:p>
          <a:p>
            <a:pPr algn="l">
              <a:lnSpc>
                <a:spcPct val="145000"/>
              </a:lnSpc>
            </a:pPr>
            <a:r>
              <a:rPr sz="1600" b="0" i="0">
                <a:solidFill>
                  <a:srgbClr val="101010"/>
                </a:solidFill>
                <a:latin typeface="Inter"/>
              </a:rPr>
              <a:t>•   Largest American exporter</a:t>
            </a:r>
          </a:p>
          <a:p>
            <a:pPr algn="l">
              <a:lnSpc>
                <a:spcPct val="145000"/>
              </a:lnSpc>
            </a:pPr>
            <a:r>
              <a:rPr sz="1600" b="0" i="0">
                <a:solidFill>
                  <a:srgbClr val="101010"/>
                </a:solidFill>
                <a:latin typeface="Inter"/>
              </a:rPr>
              <a:t>•   Dow Jones Industrial Average component</a:t>
            </a:r>
          </a:p>
          <a:p>
            <a:pPr algn="l">
              <a:lnSpc>
                <a:spcPct val="145000"/>
              </a:lnSpc>
            </a:pPr>
            <a:r>
              <a:rPr sz="1600" b="0" i="0">
                <a:solidFill>
                  <a:srgbClr val="101010"/>
                </a:solidFill>
                <a:latin typeface="Inter"/>
              </a:rPr>
              <a:t>•   Pentagon prime defense contractor</a:t>
            </a:r>
          </a:p>
          <a:p>
            <a:pPr algn="l">
              <a:lnSpc>
                <a:spcPct val="145000"/>
              </a:lnSpc>
            </a:pPr>
            <a:r>
              <a:rPr sz="1600" b="0" i="0">
                <a:solidFill>
                  <a:srgbClr val="101010"/>
                </a:solidFill>
                <a:latin typeface="Inter"/>
              </a:rPr>
              <a:t>•   Anchor employer for Washington + South Carolina</a:t>
            </a:r>
          </a:p>
        </p:txBody>
      </p:sp>
      <p:sp>
        <p:nvSpPr>
          <p:cNvPr id="12" name="Rectangle 11"/>
          <p:cNvSpPr/>
          <p:nvPr/>
        </p:nvSpPr>
        <p:spPr>
          <a:xfrm>
            <a:off x="640080" y="5806440"/>
            <a:ext cx="10908792" cy="640080"/>
          </a:xfrm>
          <a:prstGeom prst="rect">
            <a:avLst/>
          </a:prstGeom>
          <a:solidFill>
            <a:srgbClr val="0B2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5806440"/>
            <a:ext cx="10908792" cy="640080"/>
          </a:xfrm>
          <a:prstGeom prst="rect">
            <a:avLst/>
          </a:prstGeom>
          <a:noFill/>
        </p:spPr>
        <p:txBody>
          <a:bodyPr wrap="square" lIns="0" rIns="0" tIns="0" bIns="0" anchor="ctr">
            <a:spAutoFit/>
          </a:bodyPr>
          <a:lstStyle/>
          <a:p>
            <a:pPr algn="ctr">
              <a:lnSpc>
                <a:spcPct val="115000"/>
              </a:lnSpc>
            </a:pPr>
            <a:r>
              <a:rPr sz="2000" b="1" i="0">
                <a:solidFill>
                  <a:srgbClr val="FFFFFF"/>
                </a:solidFill>
                <a:latin typeface="Inter"/>
              </a:rPr>
              <a:t>Same elite.  Same interlocks.  Same class position.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D6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822960"/>
          </a:xfrm>
          <a:prstGeom prst="rect">
            <a:avLst/>
          </a:prstGeom>
          <a:noFill/>
        </p:spPr>
        <p:txBody>
          <a:bodyPr wrap="square" lIns="0" rIns="0" tIns="0" bIns="0" anchor="t">
            <a:spAutoFit/>
          </a:bodyPr>
          <a:lstStyle/>
          <a:p>
            <a:pPr algn="l">
              <a:lnSpc>
                <a:spcPct val="115000"/>
              </a:lnSpc>
            </a:pPr>
            <a:r>
              <a:rPr sz="3600" b="1" i="0">
                <a:solidFill>
                  <a:srgbClr val="101010"/>
                </a:solidFill>
                <a:latin typeface="Inter"/>
              </a:rPr>
              <a:t>Filter 1: Ownership &amp; Profit Orientation</a:t>
            </a:r>
          </a:p>
        </p:txBody>
      </p:sp>
      <p:pic>
        <p:nvPicPr>
          <p:cNvPr id="4" name="Picture 3" descr="news_corp_chart.png"/>
          <p:cNvPicPr>
            <a:picLocks noChangeAspect="1"/>
          </p:cNvPicPr>
          <p:nvPr/>
        </p:nvPicPr>
        <p:blipFill>
          <a:blip r:embed="rId2"/>
          <a:stretch>
            <a:fillRect/>
          </a:stretch>
        </p:blipFill>
        <p:spPr>
          <a:xfrm>
            <a:off x="3575653" y="1417320"/>
            <a:ext cx="5040389" cy="4206240"/>
          </a:xfrm>
          <a:prstGeom prst="rect">
            <a:avLst/>
          </a:prstGeom>
        </p:spPr>
      </p:pic>
      <p:sp>
        <p:nvSpPr>
          <p:cNvPr id="5" name="TextBox 4"/>
          <p:cNvSpPr txBox="1"/>
          <p:nvPr/>
        </p:nvSpPr>
        <p:spPr>
          <a:xfrm>
            <a:off x="640080" y="6035040"/>
            <a:ext cx="10908792" cy="457200"/>
          </a:xfrm>
          <a:prstGeom prst="rect">
            <a:avLst/>
          </a:prstGeom>
          <a:noFill/>
        </p:spPr>
        <p:txBody>
          <a:bodyPr wrap="square" lIns="0" rIns="0" tIns="0" bIns="0" anchor="t">
            <a:spAutoFit/>
          </a:bodyPr>
          <a:lstStyle/>
          <a:p>
            <a:pPr algn="ctr">
              <a:lnSpc>
                <a:spcPct val="115000"/>
              </a:lnSpc>
            </a:pPr>
            <a:r>
              <a:rPr sz="1400" b="0" i="1">
                <a:solidFill>
                  <a:srgbClr val="555B60"/>
                </a:solidFill>
                <a:latin typeface="Inter"/>
              </a:rPr>
              <a:t>News Corp portfolio, 2019.   The WSJ sits inside the same elite structure it covers.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D6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72800" cy="822960"/>
          </a:xfrm>
          <a:prstGeom prst="rect">
            <a:avLst/>
          </a:prstGeom>
          <a:noFill/>
        </p:spPr>
        <p:txBody>
          <a:bodyPr wrap="square" lIns="0" rIns="0" tIns="0" bIns="0" anchor="t">
            <a:spAutoFit/>
          </a:bodyPr>
          <a:lstStyle/>
          <a:p>
            <a:pPr algn="l">
              <a:lnSpc>
                <a:spcPct val="115000"/>
              </a:lnSpc>
            </a:pPr>
            <a:r>
              <a:rPr sz="3600" b="1" i="0">
                <a:solidFill>
                  <a:srgbClr val="101010"/>
                </a:solidFill>
                <a:latin typeface="Inter"/>
              </a:rPr>
              <a:t>Filter 2: Advertising</a:t>
            </a:r>
          </a:p>
        </p:txBody>
      </p:sp>
      <p:sp>
        <p:nvSpPr>
          <p:cNvPr id="4" name="TextBox 3"/>
          <p:cNvSpPr txBox="1"/>
          <p:nvPr/>
        </p:nvSpPr>
        <p:spPr>
          <a:xfrm>
            <a:off x="640080" y="1234440"/>
            <a:ext cx="10972800" cy="457200"/>
          </a:xfrm>
          <a:prstGeom prst="rect">
            <a:avLst/>
          </a:prstGeom>
          <a:noFill/>
        </p:spPr>
        <p:txBody>
          <a:bodyPr wrap="square" lIns="0" rIns="0" tIns="0" bIns="0" anchor="t">
            <a:spAutoFit/>
          </a:bodyPr>
          <a:lstStyle/>
          <a:p>
            <a:pPr algn="l">
              <a:lnSpc>
                <a:spcPct val="115000"/>
              </a:lnSpc>
            </a:pPr>
            <a:r>
              <a:rPr sz="1800" b="0" i="1">
                <a:solidFill>
                  <a:srgbClr val="555B60"/>
                </a:solidFill>
                <a:latin typeface="Inter"/>
              </a:rPr>
              <a:t>WSJ's advertiser ecology in 2019.</a:t>
            </a:r>
          </a:p>
        </p:txBody>
      </p:sp>
      <p:sp>
        <p:nvSpPr>
          <p:cNvPr id="5" name="Rectangle 4"/>
          <p:cNvSpPr/>
          <p:nvPr/>
        </p:nvSpPr>
        <p:spPr>
          <a:xfrm>
            <a:off x="640080" y="1920240"/>
            <a:ext cx="2697480" cy="960120"/>
          </a:xfrm>
          <a:prstGeom prst="rect">
            <a:avLst/>
          </a:prstGeom>
          <a:solidFill>
            <a:srgbClr val="B8BFC6"/>
          </a:solidFill>
          <a:ln>
            <a:solidFill>
              <a:srgbClr val="555B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920240"/>
            <a:ext cx="2697480" cy="960120"/>
          </a:xfrm>
          <a:prstGeom prst="rect">
            <a:avLst/>
          </a:prstGeom>
          <a:noFill/>
        </p:spPr>
        <p:txBody>
          <a:bodyPr wrap="square" lIns="0" rIns="0" tIns="0" bIns="0" anchor="ctr">
            <a:spAutoFit/>
          </a:bodyPr>
          <a:lstStyle/>
          <a:p>
            <a:pPr algn="ctr">
              <a:lnSpc>
                <a:spcPct val="115000"/>
              </a:lnSpc>
            </a:pPr>
            <a:r>
              <a:rPr sz="1400" b="0" i="1">
                <a:solidFill>
                  <a:srgbClr val="555B60"/>
                </a:solidFill>
                <a:latin typeface="Inter"/>
              </a:rPr>
              <a:t>Boeing</a:t>
            </a:r>
          </a:p>
        </p:txBody>
      </p:sp>
      <p:sp>
        <p:nvSpPr>
          <p:cNvPr id="7" name="Rectangle 6"/>
          <p:cNvSpPr/>
          <p:nvPr/>
        </p:nvSpPr>
        <p:spPr>
          <a:xfrm>
            <a:off x="3429000" y="1920240"/>
            <a:ext cx="2697480" cy="960120"/>
          </a:xfrm>
          <a:prstGeom prst="rect">
            <a:avLst/>
          </a:prstGeom>
          <a:solidFill>
            <a:srgbClr val="B8BFC6"/>
          </a:solidFill>
          <a:ln>
            <a:solidFill>
              <a:srgbClr val="555B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429000" y="1920240"/>
            <a:ext cx="2697480" cy="960120"/>
          </a:xfrm>
          <a:prstGeom prst="rect">
            <a:avLst/>
          </a:prstGeom>
          <a:noFill/>
        </p:spPr>
        <p:txBody>
          <a:bodyPr wrap="square" lIns="0" rIns="0" tIns="0" bIns="0" anchor="ctr">
            <a:spAutoFit/>
          </a:bodyPr>
          <a:lstStyle/>
          <a:p>
            <a:pPr algn="ctr">
              <a:lnSpc>
                <a:spcPct val="115000"/>
              </a:lnSpc>
            </a:pPr>
            <a:r>
              <a:rPr sz="1400" b="0" i="1">
                <a:solidFill>
                  <a:srgbClr val="555B60"/>
                </a:solidFill>
                <a:latin typeface="Inter"/>
              </a:rPr>
              <a:t>Lockheed Martin</a:t>
            </a:r>
          </a:p>
        </p:txBody>
      </p:sp>
      <p:sp>
        <p:nvSpPr>
          <p:cNvPr id="9" name="Rectangle 8"/>
          <p:cNvSpPr/>
          <p:nvPr/>
        </p:nvSpPr>
        <p:spPr>
          <a:xfrm>
            <a:off x="6217920" y="1920240"/>
            <a:ext cx="2697480" cy="960120"/>
          </a:xfrm>
          <a:prstGeom prst="rect">
            <a:avLst/>
          </a:prstGeom>
          <a:solidFill>
            <a:srgbClr val="B8BFC6"/>
          </a:solidFill>
          <a:ln>
            <a:solidFill>
              <a:srgbClr val="555B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0" y="1920240"/>
            <a:ext cx="2697480" cy="960120"/>
          </a:xfrm>
          <a:prstGeom prst="rect">
            <a:avLst/>
          </a:prstGeom>
          <a:noFill/>
        </p:spPr>
        <p:txBody>
          <a:bodyPr wrap="square" lIns="0" rIns="0" tIns="0" bIns="0" anchor="ctr">
            <a:spAutoFit/>
          </a:bodyPr>
          <a:lstStyle/>
          <a:p>
            <a:pPr algn="ctr">
              <a:lnSpc>
                <a:spcPct val="115000"/>
              </a:lnSpc>
            </a:pPr>
            <a:r>
              <a:rPr sz="1400" b="0" i="1">
                <a:solidFill>
                  <a:srgbClr val="555B60"/>
                </a:solidFill>
                <a:latin typeface="Inter"/>
              </a:rPr>
              <a:t>Northrop Grumman</a:t>
            </a:r>
          </a:p>
        </p:txBody>
      </p:sp>
      <p:sp>
        <p:nvSpPr>
          <p:cNvPr id="11" name="Rectangle 10"/>
          <p:cNvSpPr/>
          <p:nvPr/>
        </p:nvSpPr>
        <p:spPr>
          <a:xfrm>
            <a:off x="9006840" y="1920240"/>
            <a:ext cx="2697480" cy="960120"/>
          </a:xfrm>
          <a:prstGeom prst="rect">
            <a:avLst/>
          </a:prstGeom>
          <a:solidFill>
            <a:srgbClr val="B8BFC6"/>
          </a:solidFill>
          <a:ln>
            <a:solidFill>
              <a:srgbClr val="555B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06840" y="1920240"/>
            <a:ext cx="2697480" cy="960120"/>
          </a:xfrm>
          <a:prstGeom prst="rect">
            <a:avLst/>
          </a:prstGeom>
          <a:noFill/>
        </p:spPr>
        <p:txBody>
          <a:bodyPr wrap="square" lIns="0" rIns="0" tIns="0" bIns="0" anchor="ctr">
            <a:spAutoFit/>
          </a:bodyPr>
          <a:lstStyle/>
          <a:p>
            <a:pPr algn="ctr">
              <a:lnSpc>
                <a:spcPct val="115000"/>
              </a:lnSpc>
            </a:pPr>
            <a:r>
              <a:rPr sz="1400" b="0" i="1">
                <a:solidFill>
                  <a:srgbClr val="555B60"/>
                </a:solidFill>
                <a:latin typeface="Inter"/>
              </a:rPr>
              <a:t>GE Aerospace</a:t>
            </a:r>
          </a:p>
        </p:txBody>
      </p:sp>
      <p:sp>
        <p:nvSpPr>
          <p:cNvPr id="13" name="Rectangle 12"/>
          <p:cNvSpPr/>
          <p:nvPr/>
        </p:nvSpPr>
        <p:spPr>
          <a:xfrm>
            <a:off x="640080" y="2971800"/>
            <a:ext cx="2697480" cy="960120"/>
          </a:xfrm>
          <a:prstGeom prst="rect">
            <a:avLst/>
          </a:prstGeom>
          <a:solidFill>
            <a:srgbClr val="B8BFC6"/>
          </a:solidFill>
          <a:ln>
            <a:solidFill>
              <a:srgbClr val="555B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971800"/>
            <a:ext cx="2697480" cy="960120"/>
          </a:xfrm>
          <a:prstGeom prst="rect">
            <a:avLst/>
          </a:prstGeom>
          <a:noFill/>
        </p:spPr>
        <p:txBody>
          <a:bodyPr wrap="square" lIns="0" rIns="0" tIns="0" bIns="0" anchor="ctr">
            <a:spAutoFit/>
          </a:bodyPr>
          <a:lstStyle/>
          <a:p>
            <a:pPr algn="ctr">
              <a:lnSpc>
                <a:spcPct val="115000"/>
              </a:lnSpc>
            </a:pPr>
            <a:r>
              <a:rPr sz="1400" b="0" i="1">
                <a:solidFill>
                  <a:srgbClr val="555B60"/>
                </a:solidFill>
                <a:latin typeface="Inter"/>
              </a:rPr>
              <a:t>Honeywell</a:t>
            </a:r>
          </a:p>
        </p:txBody>
      </p:sp>
      <p:sp>
        <p:nvSpPr>
          <p:cNvPr id="15" name="Rectangle 14"/>
          <p:cNvSpPr/>
          <p:nvPr/>
        </p:nvSpPr>
        <p:spPr>
          <a:xfrm>
            <a:off x="3429000" y="2971800"/>
            <a:ext cx="2697480" cy="960120"/>
          </a:xfrm>
          <a:prstGeom prst="rect">
            <a:avLst/>
          </a:prstGeom>
          <a:solidFill>
            <a:srgbClr val="B8BFC6"/>
          </a:solidFill>
          <a:ln>
            <a:solidFill>
              <a:srgbClr val="555B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29000" y="2971800"/>
            <a:ext cx="2697480" cy="960120"/>
          </a:xfrm>
          <a:prstGeom prst="rect">
            <a:avLst/>
          </a:prstGeom>
          <a:noFill/>
        </p:spPr>
        <p:txBody>
          <a:bodyPr wrap="square" lIns="0" rIns="0" tIns="0" bIns="0" anchor="ctr">
            <a:spAutoFit/>
          </a:bodyPr>
          <a:lstStyle/>
          <a:p>
            <a:pPr algn="ctr">
              <a:lnSpc>
                <a:spcPct val="115000"/>
              </a:lnSpc>
            </a:pPr>
            <a:r>
              <a:rPr sz="1400" b="0" i="1">
                <a:solidFill>
                  <a:srgbClr val="555B60"/>
                </a:solidFill>
                <a:latin typeface="Inter"/>
              </a:rPr>
              <a:t>Southwest</a:t>
            </a:r>
          </a:p>
        </p:txBody>
      </p:sp>
      <p:sp>
        <p:nvSpPr>
          <p:cNvPr id="17" name="Rectangle 16"/>
          <p:cNvSpPr/>
          <p:nvPr/>
        </p:nvSpPr>
        <p:spPr>
          <a:xfrm>
            <a:off x="6217920" y="2971800"/>
            <a:ext cx="2697480" cy="960120"/>
          </a:xfrm>
          <a:prstGeom prst="rect">
            <a:avLst/>
          </a:prstGeom>
          <a:solidFill>
            <a:srgbClr val="B8BFC6"/>
          </a:solidFill>
          <a:ln>
            <a:solidFill>
              <a:srgbClr val="555B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0" y="2971800"/>
            <a:ext cx="2697480" cy="960120"/>
          </a:xfrm>
          <a:prstGeom prst="rect">
            <a:avLst/>
          </a:prstGeom>
          <a:noFill/>
        </p:spPr>
        <p:txBody>
          <a:bodyPr wrap="square" lIns="0" rIns="0" tIns="0" bIns="0" anchor="ctr">
            <a:spAutoFit/>
          </a:bodyPr>
          <a:lstStyle/>
          <a:p>
            <a:pPr algn="ctr">
              <a:lnSpc>
                <a:spcPct val="115000"/>
              </a:lnSpc>
            </a:pPr>
            <a:r>
              <a:rPr sz="1400" b="0" i="1">
                <a:solidFill>
                  <a:srgbClr val="555B60"/>
                </a:solidFill>
                <a:latin typeface="Inter"/>
              </a:rPr>
              <a:t>American</a:t>
            </a:r>
          </a:p>
        </p:txBody>
      </p:sp>
      <p:sp>
        <p:nvSpPr>
          <p:cNvPr id="19" name="Rectangle 18"/>
          <p:cNvSpPr/>
          <p:nvPr/>
        </p:nvSpPr>
        <p:spPr>
          <a:xfrm>
            <a:off x="9006840" y="2971800"/>
            <a:ext cx="2697480" cy="960120"/>
          </a:xfrm>
          <a:prstGeom prst="rect">
            <a:avLst/>
          </a:prstGeom>
          <a:solidFill>
            <a:srgbClr val="B8BFC6"/>
          </a:solidFill>
          <a:ln>
            <a:solidFill>
              <a:srgbClr val="555B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06840" y="2971800"/>
            <a:ext cx="2697480" cy="960120"/>
          </a:xfrm>
          <a:prstGeom prst="rect">
            <a:avLst/>
          </a:prstGeom>
          <a:noFill/>
        </p:spPr>
        <p:txBody>
          <a:bodyPr wrap="square" lIns="0" rIns="0" tIns="0" bIns="0" anchor="ctr">
            <a:spAutoFit/>
          </a:bodyPr>
          <a:lstStyle/>
          <a:p>
            <a:pPr algn="ctr">
              <a:lnSpc>
                <a:spcPct val="115000"/>
              </a:lnSpc>
            </a:pPr>
            <a:r>
              <a:rPr sz="1400" b="0" i="1">
                <a:solidFill>
                  <a:srgbClr val="555B60"/>
                </a:solidFill>
                <a:latin typeface="Inter"/>
              </a:rPr>
              <a:t>United</a:t>
            </a:r>
          </a:p>
        </p:txBody>
      </p:sp>
      <p:sp>
        <p:nvSpPr>
          <p:cNvPr id="21" name="Rectangle 20"/>
          <p:cNvSpPr/>
          <p:nvPr/>
        </p:nvSpPr>
        <p:spPr>
          <a:xfrm>
            <a:off x="640080" y="4023360"/>
            <a:ext cx="2697480" cy="960120"/>
          </a:xfrm>
          <a:prstGeom prst="rect">
            <a:avLst/>
          </a:prstGeom>
          <a:solidFill>
            <a:srgbClr val="B8BFC6"/>
          </a:solidFill>
          <a:ln>
            <a:solidFill>
              <a:srgbClr val="555B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697480" cy="960120"/>
          </a:xfrm>
          <a:prstGeom prst="rect">
            <a:avLst/>
          </a:prstGeom>
          <a:noFill/>
        </p:spPr>
        <p:txBody>
          <a:bodyPr wrap="square" lIns="0" rIns="0" tIns="0" bIns="0" anchor="ctr">
            <a:spAutoFit/>
          </a:bodyPr>
          <a:lstStyle/>
          <a:p>
            <a:pPr algn="ctr">
              <a:lnSpc>
                <a:spcPct val="115000"/>
              </a:lnSpc>
            </a:pPr>
            <a:r>
              <a:rPr sz="1400" b="0" i="1">
                <a:solidFill>
                  <a:srgbClr val="555B60"/>
                </a:solidFill>
                <a:latin typeface="Inter"/>
              </a:rPr>
              <a:t>Delta</a:t>
            </a:r>
          </a:p>
        </p:txBody>
      </p:sp>
      <p:sp>
        <p:nvSpPr>
          <p:cNvPr id="23" name="Rectangle 22"/>
          <p:cNvSpPr/>
          <p:nvPr/>
        </p:nvSpPr>
        <p:spPr>
          <a:xfrm>
            <a:off x="3429000" y="4023360"/>
            <a:ext cx="2697480" cy="960120"/>
          </a:xfrm>
          <a:prstGeom prst="rect">
            <a:avLst/>
          </a:prstGeom>
          <a:solidFill>
            <a:srgbClr val="B8BFC6"/>
          </a:solidFill>
          <a:ln>
            <a:solidFill>
              <a:srgbClr val="555B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429000" y="4023360"/>
            <a:ext cx="2697480" cy="960120"/>
          </a:xfrm>
          <a:prstGeom prst="rect">
            <a:avLst/>
          </a:prstGeom>
          <a:noFill/>
        </p:spPr>
        <p:txBody>
          <a:bodyPr wrap="square" lIns="0" rIns="0" tIns="0" bIns="0" anchor="ctr">
            <a:spAutoFit/>
          </a:bodyPr>
          <a:lstStyle/>
          <a:p>
            <a:pPr algn="ctr">
              <a:lnSpc>
                <a:spcPct val="115000"/>
              </a:lnSpc>
            </a:pPr>
            <a:r>
              <a:rPr sz="1400" b="0" i="1">
                <a:solidFill>
                  <a:srgbClr val="555B60"/>
                </a:solidFill>
                <a:latin typeface="Inter"/>
              </a:rPr>
              <a:t>JPMorgan</a:t>
            </a:r>
          </a:p>
        </p:txBody>
      </p:sp>
      <p:sp>
        <p:nvSpPr>
          <p:cNvPr id="25" name="Rectangle 24"/>
          <p:cNvSpPr/>
          <p:nvPr/>
        </p:nvSpPr>
        <p:spPr>
          <a:xfrm>
            <a:off x="6217920" y="4023360"/>
            <a:ext cx="2697480" cy="960120"/>
          </a:xfrm>
          <a:prstGeom prst="rect">
            <a:avLst/>
          </a:prstGeom>
          <a:solidFill>
            <a:srgbClr val="B8BFC6"/>
          </a:solidFill>
          <a:ln>
            <a:solidFill>
              <a:srgbClr val="555B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0" y="4023360"/>
            <a:ext cx="2697480" cy="960120"/>
          </a:xfrm>
          <a:prstGeom prst="rect">
            <a:avLst/>
          </a:prstGeom>
          <a:noFill/>
        </p:spPr>
        <p:txBody>
          <a:bodyPr wrap="square" lIns="0" rIns="0" tIns="0" bIns="0" anchor="ctr">
            <a:spAutoFit/>
          </a:bodyPr>
          <a:lstStyle/>
          <a:p>
            <a:pPr algn="ctr">
              <a:lnSpc>
                <a:spcPct val="115000"/>
              </a:lnSpc>
            </a:pPr>
            <a:r>
              <a:rPr sz="1400" b="0" i="1">
                <a:solidFill>
                  <a:srgbClr val="555B60"/>
                </a:solidFill>
                <a:latin typeface="Inter"/>
              </a:rPr>
              <a:t>Goldman Sachs</a:t>
            </a:r>
          </a:p>
        </p:txBody>
      </p:sp>
      <p:sp>
        <p:nvSpPr>
          <p:cNvPr id="27" name="Rectangle 26"/>
          <p:cNvSpPr/>
          <p:nvPr/>
        </p:nvSpPr>
        <p:spPr>
          <a:xfrm>
            <a:off x="9006840" y="4023360"/>
            <a:ext cx="2697480" cy="960120"/>
          </a:xfrm>
          <a:prstGeom prst="rect">
            <a:avLst/>
          </a:prstGeom>
          <a:solidFill>
            <a:srgbClr val="B8BFC6"/>
          </a:solidFill>
          <a:ln>
            <a:solidFill>
              <a:srgbClr val="555B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06840" y="4023360"/>
            <a:ext cx="2697480" cy="960120"/>
          </a:xfrm>
          <a:prstGeom prst="rect">
            <a:avLst/>
          </a:prstGeom>
          <a:noFill/>
        </p:spPr>
        <p:txBody>
          <a:bodyPr wrap="square" lIns="0" rIns="0" tIns="0" bIns="0" anchor="ctr">
            <a:spAutoFit/>
          </a:bodyPr>
          <a:lstStyle/>
          <a:p>
            <a:pPr algn="ctr">
              <a:lnSpc>
                <a:spcPct val="115000"/>
              </a:lnSpc>
            </a:pPr>
            <a:r>
              <a:rPr sz="1400" b="0" i="1">
                <a:solidFill>
                  <a:srgbClr val="555B60"/>
                </a:solidFill>
                <a:latin typeface="Inter"/>
              </a:rPr>
              <a:t>BlackRock</a:t>
            </a:r>
          </a:p>
        </p:txBody>
      </p:sp>
      <p:sp>
        <p:nvSpPr>
          <p:cNvPr id="29" name="Rectangle 28"/>
          <p:cNvSpPr/>
          <p:nvPr/>
        </p:nvSpPr>
        <p:spPr>
          <a:xfrm>
            <a:off x="640080" y="5532120"/>
            <a:ext cx="10908792" cy="960120"/>
          </a:xfrm>
          <a:prstGeom prst="rect">
            <a:avLst/>
          </a:prstGeom>
          <a:solidFill>
            <a:srgbClr val="0B2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5532120"/>
            <a:ext cx="10908792" cy="960120"/>
          </a:xfrm>
          <a:prstGeom prst="rect">
            <a:avLst/>
          </a:prstGeom>
          <a:noFill/>
        </p:spPr>
        <p:txBody>
          <a:bodyPr wrap="square" lIns="0" rIns="0" tIns="0" bIns="0" anchor="ctr">
            <a:spAutoFit/>
          </a:bodyPr>
          <a:lstStyle/>
          <a:p>
            <a:pPr algn="ctr">
              <a:lnSpc>
                <a:spcPct val="115000"/>
              </a:lnSpc>
            </a:pPr>
            <a:r>
              <a:rPr sz="2200" b="1" i="0">
                <a:solidFill>
                  <a:srgbClr val="FFFFFF"/>
                </a:solidFill>
                <a:latin typeface="Inter"/>
              </a:rPr>
              <a:t>Filter 2 doesn't kill individual articles.</a:t>
            </a:r>
          </a:p>
          <a:p>
            <a:pPr algn="ctr">
              <a:lnSpc>
                <a:spcPct val="115000"/>
              </a:lnSpc>
            </a:pPr>
            <a:r>
              <a:rPr sz="2200" b="1" i="0">
                <a:solidFill>
                  <a:srgbClr val="FFFFFF"/>
                </a:solidFill>
                <a:latin typeface="Inter"/>
              </a:rPr>
              <a:t>It kills sustained campaigns.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D6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72800" cy="822960"/>
          </a:xfrm>
          <a:prstGeom prst="rect">
            <a:avLst/>
          </a:prstGeom>
          <a:noFill/>
        </p:spPr>
        <p:txBody>
          <a:bodyPr wrap="square" lIns="0" rIns="0" tIns="0" bIns="0" anchor="t">
            <a:spAutoFit/>
          </a:bodyPr>
          <a:lstStyle/>
          <a:p>
            <a:pPr algn="l">
              <a:lnSpc>
                <a:spcPct val="115000"/>
              </a:lnSpc>
            </a:pPr>
            <a:r>
              <a:rPr sz="3600" b="1" i="0">
                <a:solidFill>
                  <a:srgbClr val="101010"/>
                </a:solidFill>
                <a:latin typeface="Inter"/>
              </a:rPr>
              <a:t>Filter 3: Sourcing</a:t>
            </a:r>
          </a:p>
        </p:txBody>
      </p:sp>
      <p:sp>
        <p:nvSpPr>
          <p:cNvPr id="4" name="TextBox 3"/>
          <p:cNvSpPr txBox="1"/>
          <p:nvPr/>
        </p:nvSpPr>
        <p:spPr>
          <a:xfrm>
            <a:off x="640080" y="1234440"/>
            <a:ext cx="10972800" cy="457200"/>
          </a:xfrm>
          <a:prstGeom prst="rect">
            <a:avLst/>
          </a:prstGeom>
          <a:noFill/>
        </p:spPr>
        <p:txBody>
          <a:bodyPr wrap="square" lIns="0" rIns="0" tIns="0" bIns="0" anchor="t">
            <a:spAutoFit/>
          </a:bodyPr>
          <a:lstStyle/>
          <a:p>
            <a:pPr algn="l">
              <a:lnSpc>
                <a:spcPct val="115000"/>
              </a:lnSpc>
            </a:pPr>
            <a:r>
              <a:rPr sz="1600" b="0" i="1">
                <a:solidFill>
                  <a:srgbClr val="555B60"/>
                </a:solidFill>
                <a:latin typeface="Inter"/>
              </a:rPr>
              <a:t>Whose voices structure the article — and whose appear only as reactions.</a:t>
            </a:r>
          </a:p>
        </p:txBody>
      </p:sp>
      <p:sp>
        <p:nvSpPr>
          <p:cNvPr id="5" name="Rectangle 4"/>
          <p:cNvSpPr/>
          <p:nvPr/>
        </p:nvSpPr>
        <p:spPr>
          <a:xfrm>
            <a:off x="640080" y="1828800"/>
            <a:ext cx="5440680" cy="594360"/>
          </a:xfrm>
          <a:prstGeom prst="rect">
            <a:avLst/>
          </a:prstGeom>
          <a:solidFill>
            <a:srgbClr val="0B2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126480" y="1828800"/>
            <a:ext cx="5440680" cy="59436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828800"/>
            <a:ext cx="5440680" cy="594360"/>
          </a:xfrm>
          <a:prstGeom prst="rect">
            <a:avLst/>
          </a:prstGeom>
          <a:noFill/>
        </p:spPr>
        <p:txBody>
          <a:bodyPr wrap="square" lIns="0" rIns="0" tIns="0" bIns="0" anchor="ctr">
            <a:spAutoFit/>
          </a:bodyPr>
          <a:lstStyle/>
          <a:p>
            <a:pPr algn="ctr">
              <a:lnSpc>
                <a:spcPct val="115000"/>
              </a:lnSpc>
            </a:pPr>
            <a:r>
              <a:rPr sz="1600" b="1" i="0">
                <a:solidFill>
                  <a:srgbClr val="FFFFFF"/>
                </a:solidFill>
                <a:latin typeface="Inter"/>
              </a:rPr>
              <a:t>Voices that structure the story</a:t>
            </a:r>
          </a:p>
        </p:txBody>
      </p:sp>
      <p:sp>
        <p:nvSpPr>
          <p:cNvPr id="8" name="TextBox 7"/>
          <p:cNvSpPr txBox="1"/>
          <p:nvPr/>
        </p:nvSpPr>
        <p:spPr>
          <a:xfrm>
            <a:off x="6126480" y="1828800"/>
            <a:ext cx="5440680" cy="594360"/>
          </a:xfrm>
          <a:prstGeom prst="rect">
            <a:avLst/>
          </a:prstGeom>
          <a:noFill/>
        </p:spPr>
        <p:txBody>
          <a:bodyPr wrap="square" lIns="0" rIns="0" tIns="0" bIns="0" anchor="ctr">
            <a:spAutoFit/>
          </a:bodyPr>
          <a:lstStyle/>
          <a:p>
            <a:pPr algn="ctr">
              <a:lnSpc>
                <a:spcPct val="115000"/>
              </a:lnSpc>
            </a:pPr>
            <a:r>
              <a:rPr sz="1600" b="1" i="0">
                <a:solidFill>
                  <a:srgbClr val="FFFFFF"/>
                </a:solidFill>
                <a:latin typeface="Inter"/>
              </a:rPr>
              <a:t>Voices that appear only as reactions  (or not at all)</a:t>
            </a:r>
          </a:p>
        </p:txBody>
      </p:sp>
      <p:sp>
        <p:nvSpPr>
          <p:cNvPr id="9" name="Rectangle 8"/>
          <p:cNvSpPr/>
          <p:nvPr/>
        </p:nvSpPr>
        <p:spPr>
          <a:xfrm>
            <a:off x="640080" y="2423160"/>
            <a:ext cx="5440680" cy="2331720"/>
          </a:xfrm>
          <a:prstGeom prst="rect">
            <a:avLst/>
          </a:prstGeom>
          <a:solidFill>
            <a:srgbClr val="C4CC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26480" y="2423160"/>
            <a:ext cx="5440680" cy="2331720"/>
          </a:xfrm>
          <a:prstGeom prst="rect">
            <a:avLst/>
          </a:prstGeom>
          <a:solidFill>
            <a:srgbClr val="C4CC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606040"/>
            <a:ext cx="4983480" cy="2194560"/>
          </a:xfrm>
          <a:prstGeom prst="rect">
            <a:avLst/>
          </a:prstGeom>
          <a:noFill/>
        </p:spPr>
        <p:txBody>
          <a:bodyPr wrap="square" lIns="0" rIns="0" tIns="0" bIns="0" anchor="t">
            <a:spAutoFit/>
          </a:bodyPr>
          <a:lstStyle/>
          <a:p>
            <a:pPr algn="l">
              <a:lnSpc>
                <a:spcPct val="150000"/>
              </a:lnSpc>
            </a:pPr>
            <a:r>
              <a:rPr sz="1400" b="0" i="0">
                <a:solidFill>
                  <a:srgbClr val="101010"/>
                </a:solidFill>
                <a:latin typeface="Inter"/>
              </a:rPr>
              <a:t>•  The FAA — authoritative on its own decision</a:t>
            </a:r>
          </a:p>
          <a:p>
            <a:pPr algn="l">
              <a:lnSpc>
                <a:spcPct val="150000"/>
              </a:lnSpc>
            </a:pPr>
            <a:r>
              <a:rPr sz="1400" b="0" i="0">
                <a:solidFill>
                  <a:srgbClr val="101010"/>
                </a:solidFill>
                <a:latin typeface="Inter"/>
              </a:rPr>
              <a:t>•  Boeing — authoritative on its own aircraft</a:t>
            </a:r>
          </a:p>
          <a:p>
            <a:pPr algn="l">
              <a:lnSpc>
                <a:spcPct val="150000"/>
              </a:lnSpc>
            </a:pPr>
            <a:r>
              <a:rPr sz="1400" b="0" i="0">
                <a:solidFill>
                  <a:srgbClr val="101010"/>
                </a:solidFill>
                <a:latin typeface="Inter"/>
              </a:rPr>
              <a:t>•  U.S. airline executives (Southwest, American, United)</a:t>
            </a:r>
          </a:p>
          <a:p>
            <a:pPr algn="l">
              <a:lnSpc>
                <a:spcPct val="150000"/>
              </a:lnSpc>
            </a:pPr>
            <a:r>
              <a:rPr sz="1400" b="0" i="0">
                <a:solidFill>
                  <a:srgbClr val="101010"/>
                </a:solidFill>
                <a:latin typeface="Inter"/>
              </a:rPr>
              <a:t>•  Anonymous “industry officials”</a:t>
            </a:r>
          </a:p>
        </p:txBody>
      </p:sp>
      <p:sp>
        <p:nvSpPr>
          <p:cNvPr id="12" name="TextBox 11"/>
          <p:cNvSpPr txBox="1"/>
          <p:nvPr/>
        </p:nvSpPr>
        <p:spPr>
          <a:xfrm>
            <a:off x="6446520" y="2606040"/>
            <a:ext cx="4983480" cy="2194560"/>
          </a:xfrm>
          <a:prstGeom prst="rect">
            <a:avLst/>
          </a:prstGeom>
          <a:noFill/>
        </p:spPr>
        <p:txBody>
          <a:bodyPr wrap="square" lIns="0" rIns="0" tIns="0" bIns="0" anchor="t">
            <a:spAutoFit/>
          </a:bodyPr>
          <a:lstStyle/>
          <a:p>
            <a:pPr algn="l">
              <a:lnSpc>
                <a:spcPct val="150000"/>
              </a:lnSpc>
            </a:pPr>
            <a:r>
              <a:rPr sz="1400" b="0" i="0">
                <a:solidFill>
                  <a:srgbClr val="101010"/>
                </a:solidFill>
                <a:latin typeface="Inter"/>
              </a:rPr>
              <a:t>•  Mitt Romney (calling for grounding)</a:t>
            </a:r>
          </a:p>
          <a:p>
            <a:pPr algn="l">
              <a:lnSpc>
                <a:spcPct val="150000"/>
              </a:lnSpc>
            </a:pPr>
            <a:r>
              <a:rPr sz="1400" b="0" i="0">
                <a:solidFill>
                  <a:srgbClr val="101010"/>
                </a:solidFill>
                <a:latin typeface="Inter"/>
              </a:rPr>
              <a:t>•  Foreign regulators (China, EU) — reactive framing</a:t>
            </a:r>
          </a:p>
          <a:p>
            <a:pPr algn="l">
              <a:lnSpc>
                <a:spcPct val="150000"/>
              </a:lnSpc>
            </a:pPr>
            <a:r>
              <a:rPr sz="1400" b="0" i="0">
                <a:solidFill>
                  <a:srgbClr val="101010"/>
                </a:solidFill>
                <a:latin typeface="Inter"/>
              </a:rPr>
              <a:t>•  Victims' families — absent</a:t>
            </a:r>
          </a:p>
          <a:p>
            <a:pPr algn="l">
              <a:lnSpc>
                <a:spcPct val="150000"/>
              </a:lnSpc>
            </a:pPr>
            <a:r>
              <a:rPr sz="1400" b="0" i="0">
                <a:solidFill>
                  <a:srgbClr val="101010"/>
                </a:solidFill>
                <a:latin typeface="Inter"/>
              </a:rPr>
              <a:t>•  Ethiopian / Indonesian regulators — absent</a:t>
            </a:r>
          </a:p>
        </p:txBody>
      </p:sp>
      <p:sp>
        <p:nvSpPr>
          <p:cNvPr id="13" name="Rectangle 12"/>
          <p:cNvSpPr/>
          <p:nvPr/>
        </p:nvSpPr>
        <p:spPr>
          <a:xfrm>
            <a:off x="640080" y="5074920"/>
            <a:ext cx="10908792" cy="1417320"/>
          </a:xfrm>
          <a:prstGeom prst="rect">
            <a:avLst/>
          </a:prstGeom>
          <a:solidFill>
            <a:srgbClr val="0B2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276088"/>
            <a:ext cx="10177272" cy="1097280"/>
          </a:xfrm>
          <a:prstGeom prst="rect">
            <a:avLst/>
          </a:prstGeom>
          <a:noFill/>
        </p:spPr>
        <p:txBody>
          <a:bodyPr wrap="square" lIns="0" rIns="0" tIns="0" bIns="0" anchor="t">
            <a:spAutoFit/>
          </a:bodyPr>
          <a:lstStyle/>
          <a:p>
            <a:pPr algn="l">
              <a:lnSpc>
                <a:spcPct val="115000"/>
              </a:lnSpc>
            </a:pPr>
            <a:r>
              <a:rPr sz="2200" b="0" i="1" u="none">
                <a:solidFill>
                  <a:srgbClr val="FFFFFF"/>
                </a:solidFill>
                <a:latin typeface="Cambria"/>
              </a:rPr>
              <a:t>“Officials have and give the facts; reporters merely get them.”</a:t>
            </a:r>
          </a:p>
          <a:p>
            <a:pPr algn="l">
              <a:lnSpc>
                <a:spcPct val="115000"/>
              </a:lnSpc>
            </a:pPr>
            <a:r>
              <a:rPr sz="600" b="0" i="0" u="none">
                <a:solidFill>
                  <a:srgbClr val="101010"/>
                </a:solidFill>
                <a:latin typeface="Inter"/>
              </a:rPr>
              <a:t> </a:t>
            </a:r>
          </a:p>
          <a:p>
            <a:pPr algn="l">
              <a:lnSpc>
                <a:spcPct val="115000"/>
              </a:lnSpc>
            </a:pPr>
            <a:r>
              <a:rPr sz="1300" b="0" i="0" u="none">
                <a:solidFill>
                  <a:srgbClr val="CFD6DE"/>
                </a:solidFill>
                <a:latin typeface="Inter"/>
              </a:rPr>
              <a:t>— Mark Fishman, quoted in Manufacturing Consent, p. 19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D6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72800" cy="822960"/>
          </a:xfrm>
          <a:prstGeom prst="rect">
            <a:avLst/>
          </a:prstGeom>
          <a:noFill/>
        </p:spPr>
        <p:txBody>
          <a:bodyPr wrap="square" lIns="0" rIns="0" tIns="0" bIns="0" anchor="t">
            <a:spAutoFit/>
          </a:bodyPr>
          <a:lstStyle/>
          <a:p>
            <a:pPr algn="l">
              <a:lnSpc>
                <a:spcPct val="115000"/>
              </a:lnSpc>
            </a:pPr>
            <a:r>
              <a:rPr sz="3600" b="1" i="0">
                <a:solidFill>
                  <a:srgbClr val="101010"/>
                </a:solidFill>
                <a:latin typeface="Inter"/>
              </a:rPr>
              <a:t>Filter 4: Flak</a:t>
            </a:r>
          </a:p>
        </p:txBody>
      </p:sp>
      <p:sp>
        <p:nvSpPr>
          <p:cNvPr id="4" name="TextBox 3"/>
          <p:cNvSpPr txBox="1"/>
          <p:nvPr/>
        </p:nvSpPr>
        <p:spPr>
          <a:xfrm>
            <a:off x="640080" y="1234440"/>
            <a:ext cx="10972800" cy="457200"/>
          </a:xfrm>
          <a:prstGeom prst="rect">
            <a:avLst/>
          </a:prstGeom>
          <a:noFill/>
        </p:spPr>
        <p:txBody>
          <a:bodyPr wrap="square" lIns="0" rIns="0" tIns="0" bIns="0" anchor="t">
            <a:spAutoFit/>
          </a:bodyPr>
          <a:lstStyle/>
          <a:p>
            <a:pPr algn="l">
              <a:lnSpc>
                <a:spcPct val="115000"/>
              </a:lnSpc>
            </a:pPr>
            <a:r>
              <a:rPr sz="1800" b="0" i="1">
                <a:solidFill>
                  <a:srgbClr val="555B60"/>
                </a:solidFill>
                <a:latin typeface="Inter"/>
              </a:rPr>
              <a:t>Boeing's flak apparatus, March 2019.</a:t>
            </a:r>
          </a:p>
        </p:txBody>
      </p:sp>
      <p:sp>
        <p:nvSpPr>
          <p:cNvPr id="5" name="Oval 4"/>
          <p:cNvSpPr/>
          <p:nvPr/>
        </p:nvSpPr>
        <p:spPr>
          <a:xfrm>
            <a:off x="640080" y="1993392"/>
            <a:ext cx="256032" cy="256032"/>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43000" y="1828800"/>
            <a:ext cx="10332720" cy="365760"/>
          </a:xfrm>
          <a:prstGeom prst="rect">
            <a:avLst/>
          </a:prstGeom>
          <a:noFill/>
        </p:spPr>
        <p:txBody>
          <a:bodyPr wrap="square" lIns="0" rIns="0" tIns="0" bIns="0" anchor="t">
            <a:spAutoFit/>
          </a:bodyPr>
          <a:lstStyle/>
          <a:p>
            <a:pPr algn="l">
              <a:lnSpc>
                <a:spcPct val="115000"/>
              </a:lnSpc>
            </a:pPr>
            <a:r>
              <a:rPr sz="1800" b="1" i="0">
                <a:solidFill>
                  <a:srgbClr val="101010"/>
                </a:solidFill>
                <a:latin typeface="Inter"/>
              </a:rPr>
              <a:t>White-shoe PR firms on retainer</a:t>
            </a:r>
          </a:p>
        </p:txBody>
      </p:sp>
      <p:sp>
        <p:nvSpPr>
          <p:cNvPr id="7" name="TextBox 6"/>
          <p:cNvSpPr txBox="1"/>
          <p:nvPr/>
        </p:nvSpPr>
        <p:spPr>
          <a:xfrm>
            <a:off x="1143000" y="2176272"/>
            <a:ext cx="10332720" cy="365760"/>
          </a:xfrm>
          <a:prstGeom prst="rect">
            <a:avLst/>
          </a:prstGeom>
          <a:noFill/>
        </p:spPr>
        <p:txBody>
          <a:bodyPr wrap="square" lIns="0" rIns="0" tIns="0" bIns="0" anchor="t">
            <a:spAutoFit/>
          </a:bodyPr>
          <a:lstStyle/>
          <a:p>
            <a:pPr algn="l">
              <a:lnSpc>
                <a:spcPct val="115000"/>
              </a:lnSpc>
            </a:pPr>
            <a:r>
              <a:rPr sz="1400" b="0" i="1">
                <a:solidFill>
                  <a:srgbClr val="555B60"/>
                </a:solidFill>
                <a:latin typeface="Inter"/>
              </a:rPr>
              <a:t>Multi-firm crisis-communications stack.</a:t>
            </a:r>
          </a:p>
        </p:txBody>
      </p:sp>
      <p:sp>
        <p:nvSpPr>
          <p:cNvPr id="8" name="Oval 7"/>
          <p:cNvSpPr/>
          <p:nvPr/>
        </p:nvSpPr>
        <p:spPr>
          <a:xfrm>
            <a:off x="640080" y="2724912"/>
            <a:ext cx="256032" cy="256032"/>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43000" y="2560320"/>
            <a:ext cx="10332720" cy="365760"/>
          </a:xfrm>
          <a:prstGeom prst="rect">
            <a:avLst/>
          </a:prstGeom>
          <a:noFill/>
        </p:spPr>
        <p:txBody>
          <a:bodyPr wrap="square" lIns="0" rIns="0" tIns="0" bIns="0" anchor="t">
            <a:spAutoFit/>
          </a:bodyPr>
          <a:lstStyle/>
          <a:p>
            <a:pPr algn="l">
              <a:lnSpc>
                <a:spcPct val="115000"/>
              </a:lnSpc>
            </a:pPr>
            <a:r>
              <a:rPr sz="1800" b="1" i="0">
                <a:solidFill>
                  <a:srgbClr val="101010"/>
                </a:solidFill>
                <a:latin typeface="Inter"/>
              </a:rPr>
              <a:t>Defamation lawyers ready to issue letters</a:t>
            </a:r>
          </a:p>
        </p:txBody>
      </p:sp>
      <p:sp>
        <p:nvSpPr>
          <p:cNvPr id="10" name="TextBox 9"/>
          <p:cNvSpPr txBox="1"/>
          <p:nvPr/>
        </p:nvSpPr>
        <p:spPr>
          <a:xfrm>
            <a:off x="1143000" y="2907792"/>
            <a:ext cx="10332720" cy="365760"/>
          </a:xfrm>
          <a:prstGeom prst="rect">
            <a:avLst/>
          </a:prstGeom>
          <a:noFill/>
        </p:spPr>
        <p:txBody>
          <a:bodyPr wrap="square" lIns="0" rIns="0" tIns="0" bIns="0" anchor="t">
            <a:spAutoFit/>
          </a:bodyPr>
          <a:lstStyle/>
          <a:p>
            <a:pPr algn="l">
              <a:lnSpc>
                <a:spcPct val="115000"/>
              </a:lnSpc>
            </a:pPr>
            <a:r>
              <a:rPr sz="1400" b="0" i="1">
                <a:solidFill>
                  <a:srgbClr val="555B60"/>
                </a:solidFill>
                <a:latin typeface="Inter"/>
              </a:rPr>
              <a:t>Cease-and-desist as a routine instrument.</a:t>
            </a:r>
          </a:p>
        </p:txBody>
      </p:sp>
      <p:sp>
        <p:nvSpPr>
          <p:cNvPr id="11" name="Oval 10"/>
          <p:cNvSpPr/>
          <p:nvPr/>
        </p:nvSpPr>
        <p:spPr>
          <a:xfrm>
            <a:off x="640080" y="3456432"/>
            <a:ext cx="256032" cy="256032"/>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43000" y="3291840"/>
            <a:ext cx="10332720" cy="365760"/>
          </a:xfrm>
          <a:prstGeom prst="rect">
            <a:avLst/>
          </a:prstGeom>
          <a:noFill/>
        </p:spPr>
        <p:txBody>
          <a:bodyPr wrap="square" lIns="0" rIns="0" tIns="0" bIns="0" anchor="t">
            <a:spAutoFit/>
          </a:bodyPr>
          <a:lstStyle/>
          <a:p>
            <a:pPr algn="l">
              <a:lnSpc>
                <a:spcPct val="115000"/>
              </a:lnSpc>
            </a:pPr>
            <a:r>
              <a:rPr sz="1800" b="1" i="0">
                <a:solidFill>
                  <a:srgbClr val="101010"/>
                </a:solidFill>
                <a:latin typeface="Inter"/>
              </a:rPr>
              <a:t>Pentagon relationships</a:t>
            </a:r>
          </a:p>
        </p:txBody>
      </p:sp>
      <p:sp>
        <p:nvSpPr>
          <p:cNvPr id="13" name="TextBox 12"/>
          <p:cNvSpPr txBox="1"/>
          <p:nvPr/>
        </p:nvSpPr>
        <p:spPr>
          <a:xfrm>
            <a:off x="1143000" y="3639312"/>
            <a:ext cx="10332720" cy="365760"/>
          </a:xfrm>
          <a:prstGeom prst="rect">
            <a:avLst/>
          </a:prstGeom>
          <a:noFill/>
        </p:spPr>
        <p:txBody>
          <a:bodyPr wrap="square" lIns="0" rIns="0" tIns="0" bIns="0" anchor="t">
            <a:spAutoFit/>
          </a:bodyPr>
          <a:lstStyle/>
          <a:p>
            <a:pPr algn="l">
              <a:lnSpc>
                <a:spcPct val="115000"/>
              </a:lnSpc>
            </a:pPr>
            <a:r>
              <a:rPr sz="1400" b="0" i="1">
                <a:solidFill>
                  <a:srgbClr val="555B60"/>
                </a:solidFill>
                <a:latin typeface="Inter"/>
              </a:rPr>
              <a:t>Top-tier U.S. defense contractor; revolving-door access.</a:t>
            </a:r>
          </a:p>
        </p:txBody>
      </p:sp>
      <p:sp>
        <p:nvSpPr>
          <p:cNvPr id="14" name="Oval 13"/>
          <p:cNvSpPr/>
          <p:nvPr/>
        </p:nvSpPr>
        <p:spPr>
          <a:xfrm>
            <a:off x="640080" y="4187952"/>
            <a:ext cx="256032" cy="256032"/>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3000" y="4023360"/>
            <a:ext cx="10332720" cy="365760"/>
          </a:xfrm>
          <a:prstGeom prst="rect">
            <a:avLst/>
          </a:prstGeom>
          <a:noFill/>
        </p:spPr>
        <p:txBody>
          <a:bodyPr wrap="square" lIns="0" rIns="0" tIns="0" bIns="0" anchor="t">
            <a:spAutoFit/>
          </a:bodyPr>
          <a:lstStyle/>
          <a:p>
            <a:pPr algn="l">
              <a:lnSpc>
                <a:spcPct val="115000"/>
              </a:lnSpc>
            </a:pPr>
            <a:r>
              <a:rPr sz="1800" b="1" i="0">
                <a:solidFill>
                  <a:srgbClr val="101010"/>
                </a:solidFill>
                <a:latin typeface="Inter"/>
              </a:rPr>
              <a:t>Acting Defense Secretary Patrick Shanahan</a:t>
            </a:r>
          </a:p>
        </p:txBody>
      </p:sp>
      <p:sp>
        <p:nvSpPr>
          <p:cNvPr id="16" name="TextBox 15"/>
          <p:cNvSpPr txBox="1"/>
          <p:nvPr/>
        </p:nvSpPr>
        <p:spPr>
          <a:xfrm>
            <a:off x="1143000" y="4370832"/>
            <a:ext cx="10332720" cy="365760"/>
          </a:xfrm>
          <a:prstGeom prst="rect">
            <a:avLst/>
          </a:prstGeom>
          <a:noFill/>
        </p:spPr>
        <p:txBody>
          <a:bodyPr wrap="square" lIns="0" rIns="0" tIns="0" bIns="0" anchor="t">
            <a:spAutoFit/>
          </a:bodyPr>
          <a:lstStyle/>
          <a:p>
            <a:pPr algn="l">
              <a:lnSpc>
                <a:spcPct val="115000"/>
              </a:lnSpc>
            </a:pPr>
            <a:r>
              <a:rPr sz="1400" b="0" i="1">
                <a:solidFill>
                  <a:srgbClr val="555B60"/>
                </a:solidFill>
                <a:latin typeface="Inter"/>
              </a:rPr>
              <a:t>Former Boeing executive of 30+ years.</a:t>
            </a:r>
          </a:p>
        </p:txBody>
      </p:sp>
      <p:sp>
        <p:nvSpPr>
          <p:cNvPr id="17" name="Oval 16"/>
          <p:cNvSpPr/>
          <p:nvPr/>
        </p:nvSpPr>
        <p:spPr>
          <a:xfrm>
            <a:off x="640080" y="4919472"/>
            <a:ext cx="256032" cy="256032"/>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43000" y="4754880"/>
            <a:ext cx="10332720" cy="365760"/>
          </a:xfrm>
          <a:prstGeom prst="rect">
            <a:avLst/>
          </a:prstGeom>
          <a:noFill/>
        </p:spPr>
        <p:txBody>
          <a:bodyPr wrap="square" lIns="0" rIns="0" tIns="0" bIns="0" anchor="t">
            <a:spAutoFit/>
          </a:bodyPr>
          <a:lstStyle/>
          <a:p>
            <a:pPr algn="l">
              <a:lnSpc>
                <a:spcPct val="115000"/>
              </a:lnSpc>
            </a:pPr>
            <a:r>
              <a:rPr sz="1800" b="1" i="0">
                <a:solidFill>
                  <a:srgbClr val="101010"/>
                </a:solidFill>
                <a:latin typeface="Inter"/>
              </a:rPr>
              <a:t>Congressional offices in every Boeing state</a:t>
            </a:r>
          </a:p>
        </p:txBody>
      </p:sp>
      <p:sp>
        <p:nvSpPr>
          <p:cNvPr id="19" name="TextBox 18"/>
          <p:cNvSpPr txBox="1"/>
          <p:nvPr/>
        </p:nvSpPr>
        <p:spPr>
          <a:xfrm>
            <a:off x="1143000" y="5102352"/>
            <a:ext cx="10332720" cy="365760"/>
          </a:xfrm>
          <a:prstGeom prst="rect">
            <a:avLst/>
          </a:prstGeom>
          <a:noFill/>
        </p:spPr>
        <p:txBody>
          <a:bodyPr wrap="square" lIns="0" rIns="0" tIns="0" bIns="0" anchor="t">
            <a:spAutoFit/>
          </a:bodyPr>
          <a:lstStyle/>
          <a:p>
            <a:pPr algn="l">
              <a:lnSpc>
                <a:spcPct val="115000"/>
              </a:lnSpc>
            </a:pPr>
            <a:r>
              <a:rPr sz="1400" b="0" i="1">
                <a:solidFill>
                  <a:srgbClr val="555B60"/>
                </a:solidFill>
                <a:latin typeface="Inter"/>
              </a:rPr>
              <a:t>Direct political channels in WA, SC, MO, KS, AL, CA, …</a:t>
            </a:r>
          </a:p>
        </p:txBody>
      </p:sp>
      <p:sp>
        <p:nvSpPr>
          <p:cNvPr id="20" name="Rectangle 19"/>
          <p:cNvSpPr/>
          <p:nvPr/>
        </p:nvSpPr>
        <p:spPr>
          <a:xfrm>
            <a:off x="640080" y="5806440"/>
            <a:ext cx="10908792" cy="685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5806440"/>
            <a:ext cx="10908792" cy="685800"/>
          </a:xfrm>
          <a:prstGeom prst="rect">
            <a:avLst/>
          </a:prstGeom>
          <a:noFill/>
        </p:spPr>
        <p:txBody>
          <a:bodyPr wrap="square" lIns="0" rIns="0" tIns="0" bIns="0" anchor="ctr">
            <a:spAutoFit/>
          </a:bodyPr>
          <a:lstStyle/>
          <a:p>
            <a:pPr algn="ctr">
              <a:lnSpc>
                <a:spcPct val="115000"/>
              </a:lnSpc>
            </a:pPr>
            <a:r>
              <a:rPr sz="2000" b="1" i="0">
                <a:solidFill>
                  <a:srgbClr val="FFFFFF"/>
                </a:solidFill>
                <a:latin typeface="Inter"/>
              </a:rPr>
              <a:t>Flak doesn't have to land.  It has to be anticipated.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D6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972800" cy="822960"/>
          </a:xfrm>
          <a:prstGeom prst="rect">
            <a:avLst/>
          </a:prstGeom>
          <a:noFill/>
        </p:spPr>
        <p:txBody>
          <a:bodyPr wrap="square" lIns="0" rIns="0" tIns="0" bIns="0" anchor="t">
            <a:spAutoFit/>
          </a:bodyPr>
          <a:lstStyle/>
          <a:p>
            <a:pPr algn="l">
              <a:lnSpc>
                <a:spcPct val="115000"/>
              </a:lnSpc>
            </a:pPr>
            <a:r>
              <a:rPr sz="3600" b="1" i="0">
                <a:solidFill>
                  <a:srgbClr val="101010"/>
                </a:solidFill>
                <a:latin typeface="Inter"/>
              </a:rPr>
              <a:t>Filter 5: The Updated Ideology</a:t>
            </a:r>
          </a:p>
        </p:txBody>
      </p:sp>
      <p:sp>
        <p:nvSpPr>
          <p:cNvPr id="4" name="TextBox 3"/>
          <p:cNvSpPr txBox="1"/>
          <p:nvPr/>
        </p:nvSpPr>
        <p:spPr>
          <a:xfrm>
            <a:off x="640080" y="1417320"/>
            <a:ext cx="3474720" cy="502920"/>
          </a:xfrm>
          <a:prstGeom prst="rect">
            <a:avLst/>
          </a:prstGeom>
          <a:noFill/>
        </p:spPr>
        <p:txBody>
          <a:bodyPr wrap="square" lIns="0" rIns="0" tIns="0" bIns="0" anchor="ctr">
            <a:spAutoFit/>
          </a:bodyPr>
          <a:lstStyle/>
          <a:p>
            <a:pPr algn="l">
              <a:lnSpc>
                <a:spcPct val="115000"/>
              </a:lnSpc>
            </a:pPr>
            <a:r>
              <a:rPr sz="2000" b="0" i="1">
                <a:solidFill>
                  <a:srgbClr val="555B60"/>
                </a:solidFill>
                <a:latin typeface="Inter"/>
              </a:rPr>
              <a:t>Chomsky 1988</a:t>
            </a:r>
          </a:p>
        </p:txBody>
      </p:sp>
      <p:sp>
        <p:nvSpPr>
          <p:cNvPr id="5" name="TextBox 4"/>
          <p:cNvSpPr txBox="1"/>
          <p:nvPr/>
        </p:nvSpPr>
        <p:spPr>
          <a:xfrm>
            <a:off x="4114800" y="1417320"/>
            <a:ext cx="7772400" cy="502920"/>
          </a:xfrm>
          <a:prstGeom prst="rect">
            <a:avLst/>
          </a:prstGeom>
          <a:noFill/>
        </p:spPr>
        <p:txBody>
          <a:bodyPr wrap="square" lIns="0" rIns="0" tIns="0" bIns="0" anchor="ctr">
            <a:spAutoFit/>
          </a:bodyPr>
          <a:lstStyle/>
          <a:p>
            <a:pPr algn="l">
              <a:lnSpc>
                <a:spcPct val="115000"/>
              </a:lnSpc>
            </a:pPr>
            <a:r>
              <a:rPr sz="2600" b="1" i="0">
                <a:solidFill>
                  <a:srgbClr val="101010"/>
                </a:solidFill>
                <a:latin typeface="Inter"/>
              </a:rPr>
              <a:t>Anticommunism</a:t>
            </a:r>
          </a:p>
        </p:txBody>
      </p:sp>
      <p:sp>
        <p:nvSpPr>
          <p:cNvPr id="6" name="TextBox 5"/>
          <p:cNvSpPr txBox="1"/>
          <p:nvPr/>
        </p:nvSpPr>
        <p:spPr>
          <a:xfrm>
            <a:off x="640080" y="1965960"/>
            <a:ext cx="3474720" cy="502920"/>
          </a:xfrm>
          <a:prstGeom prst="rect">
            <a:avLst/>
          </a:prstGeom>
          <a:noFill/>
        </p:spPr>
        <p:txBody>
          <a:bodyPr wrap="square" lIns="0" rIns="0" tIns="0" bIns="0" anchor="ctr">
            <a:spAutoFit/>
          </a:bodyPr>
          <a:lstStyle/>
          <a:p>
            <a:pPr algn="l">
              <a:lnSpc>
                <a:spcPct val="115000"/>
              </a:lnSpc>
            </a:pPr>
            <a:r>
              <a:rPr sz="2000" b="0" i="1">
                <a:solidFill>
                  <a:srgbClr val="555B60"/>
                </a:solidFill>
                <a:latin typeface="Inter"/>
              </a:rPr>
              <a:t>Chomsky 2002</a:t>
            </a:r>
          </a:p>
        </p:txBody>
      </p:sp>
      <p:sp>
        <p:nvSpPr>
          <p:cNvPr id="7" name="TextBox 6"/>
          <p:cNvSpPr txBox="1"/>
          <p:nvPr/>
        </p:nvSpPr>
        <p:spPr>
          <a:xfrm>
            <a:off x="4114800" y="1965960"/>
            <a:ext cx="7772400" cy="502920"/>
          </a:xfrm>
          <a:prstGeom prst="rect">
            <a:avLst/>
          </a:prstGeom>
          <a:noFill/>
        </p:spPr>
        <p:txBody>
          <a:bodyPr wrap="square" lIns="0" rIns="0" tIns="0" bIns="0" anchor="ctr">
            <a:spAutoFit/>
          </a:bodyPr>
          <a:lstStyle/>
          <a:p>
            <a:pPr algn="l">
              <a:lnSpc>
                <a:spcPct val="115000"/>
              </a:lnSpc>
            </a:pPr>
            <a:r>
              <a:rPr sz="2600" b="1" i="0">
                <a:solidFill>
                  <a:srgbClr val="101010"/>
                </a:solidFill>
                <a:latin typeface="Inter"/>
              </a:rPr>
              <a:t>The religion of the market</a:t>
            </a:r>
          </a:p>
        </p:txBody>
      </p:sp>
      <p:sp>
        <p:nvSpPr>
          <p:cNvPr id="8" name="TextBox 7"/>
          <p:cNvSpPr txBox="1"/>
          <p:nvPr/>
        </p:nvSpPr>
        <p:spPr>
          <a:xfrm>
            <a:off x="640080" y="2514600"/>
            <a:ext cx="3474720" cy="502920"/>
          </a:xfrm>
          <a:prstGeom prst="rect">
            <a:avLst/>
          </a:prstGeom>
          <a:noFill/>
        </p:spPr>
        <p:txBody>
          <a:bodyPr wrap="square" lIns="0" rIns="0" tIns="0" bIns="0" anchor="ctr">
            <a:spAutoFit/>
          </a:bodyPr>
          <a:lstStyle/>
          <a:p>
            <a:pPr algn="l">
              <a:lnSpc>
                <a:spcPct val="115000"/>
              </a:lnSpc>
            </a:pPr>
            <a:r>
              <a:rPr sz="2000" b="0" i="1">
                <a:solidFill>
                  <a:srgbClr val="555B60"/>
                </a:solidFill>
                <a:latin typeface="Inter"/>
              </a:rPr>
              <a:t>2019 aviation</a:t>
            </a:r>
          </a:p>
        </p:txBody>
      </p:sp>
      <p:sp>
        <p:nvSpPr>
          <p:cNvPr id="9" name="TextBox 8"/>
          <p:cNvSpPr txBox="1"/>
          <p:nvPr/>
        </p:nvSpPr>
        <p:spPr>
          <a:xfrm>
            <a:off x="4114800" y="2514600"/>
            <a:ext cx="7772400" cy="502920"/>
          </a:xfrm>
          <a:prstGeom prst="rect">
            <a:avLst/>
          </a:prstGeom>
          <a:noFill/>
        </p:spPr>
        <p:txBody>
          <a:bodyPr wrap="square" lIns="0" rIns="0" tIns="0" bIns="0" anchor="ctr">
            <a:spAutoFit/>
          </a:bodyPr>
          <a:lstStyle/>
          <a:p>
            <a:pPr algn="l">
              <a:lnSpc>
                <a:spcPct val="115000"/>
              </a:lnSpc>
            </a:pPr>
            <a:r>
              <a:rPr sz="2600" b="1" i="0">
                <a:solidFill>
                  <a:srgbClr val="C8102E"/>
                </a:solidFill>
                <a:latin typeface="Inter"/>
              </a:rPr>
              <a:t>Techno-industrial nationalism</a:t>
            </a:r>
          </a:p>
        </p:txBody>
      </p:sp>
      <p:sp>
        <p:nvSpPr>
          <p:cNvPr id="10" name="Rectangle 9"/>
          <p:cNvSpPr/>
          <p:nvPr/>
        </p:nvSpPr>
        <p:spPr>
          <a:xfrm>
            <a:off x="640080" y="3246120"/>
            <a:ext cx="5440680" cy="502920"/>
          </a:xfrm>
          <a:prstGeom prst="rect">
            <a:avLst/>
          </a:prstGeom>
          <a:solidFill>
            <a:srgbClr val="0B2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26480" y="3246120"/>
            <a:ext cx="5440680" cy="50292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246120"/>
            <a:ext cx="5440680" cy="502920"/>
          </a:xfrm>
          <a:prstGeom prst="rect">
            <a:avLst/>
          </a:prstGeom>
          <a:noFill/>
        </p:spPr>
        <p:txBody>
          <a:bodyPr wrap="square" lIns="0" rIns="0" tIns="0" bIns="0" anchor="ctr">
            <a:spAutoFit/>
          </a:bodyPr>
          <a:lstStyle/>
          <a:p>
            <a:pPr algn="ctr">
              <a:lnSpc>
                <a:spcPct val="115000"/>
              </a:lnSpc>
            </a:pPr>
            <a:r>
              <a:rPr sz="1600" b="1" i="0">
                <a:solidFill>
                  <a:srgbClr val="FFFFFF"/>
                </a:solidFill>
                <a:latin typeface="Inter"/>
              </a:rPr>
              <a:t>Worthy victims  (1983)</a:t>
            </a:r>
          </a:p>
        </p:txBody>
      </p:sp>
      <p:sp>
        <p:nvSpPr>
          <p:cNvPr id="13" name="TextBox 12"/>
          <p:cNvSpPr txBox="1"/>
          <p:nvPr/>
        </p:nvSpPr>
        <p:spPr>
          <a:xfrm>
            <a:off x="6126480" y="3246120"/>
            <a:ext cx="5440680" cy="502920"/>
          </a:xfrm>
          <a:prstGeom prst="rect">
            <a:avLst/>
          </a:prstGeom>
          <a:noFill/>
        </p:spPr>
        <p:txBody>
          <a:bodyPr wrap="square" lIns="0" rIns="0" tIns="0" bIns="0" anchor="ctr">
            <a:spAutoFit/>
          </a:bodyPr>
          <a:lstStyle/>
          <a:p>
            <a:pPr algn="ctr">
              <a:lnSpc>
                <a:spcPct val="115000"/>
              </a:lnSpc>
            </a:pPr>
            <a:r>
              <a:rPr sz="1600" b="1" i="0">
                <a:solidFill>
                  <a:srgbClr val="FFFFFF"/>
                </a:solidFill>
                <a:latin typeface="Inter"/>
              </a:rPr>
              <a:t>Unworthy victims  (2018–19)</a:t>
            </a:r>
          </a:p>
        </p:txBody>
      </p:sp>
      <p:sp>
        <p:nvSpPr>
          <p:cNvPr id="14" name="Rectangle 13"/>
          <p:cNvSpPr/>
          <p:nvPr/>
        </p:nvSpPr>
        <p:spPr>
          <a:xfrm>
            <a:off x="640080" y="3749040"/>
            <a:ext cx="5440680" cy="502920"/>
          </a:xfrm>
          <a:prstGeom prst="rect">
            <a:avLst/>
          </a:prstGeom>
          <a:solidFill>
            <a:srgbClr val="C4CC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26480" y="3749040"/>
            <a:ext cx="5440680" cy="502920"/>
          </a:xfrm>
          <a:prstGeom prst="rect">
            <a:avLst/>
          </a:prstGeom>
          <a:solidFill>
            <a:srgbClr val="C4CC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749040"/>
            <a:ext cx="5074920" cy="502920"/>
          </a:xfrm>
          <a:prstGeom prst="rect">
            <a:avLst/>
          </a:prstGeom>
          <a:noFill/>
        </p:spPr>
        <p:txBody>
          <a:bodyPr wrap="square" lIns="0" rIns="0" tIns="0" bIns="0" anchor="ctr">
            <a:spAutoFit/>
          </a:bodyPr>
          <a:lstStyle/>
          <a:p>
            <a:pPr algn="l">
              <a:lnSpc>
                <a:spcPct val="115000"/>
              </a:lnSpc>
            </a:pPr>
            <a:r>
              <a:rPr sz="1300" b="0" i="0">
                <a:solidFill>
                  <a:srgbClr val="101010"/>
                </a:solidFill>
                <a:latin typeface="Inter"/>
              </a:rPr>
              <a:t>KAL 007 passengers (Soviet shootdown)</a:t>
            </a:r>
          </a:p>
        </p:txBody>
      </p:sp>
      <p:sp>
        <p:nvSpPr>
          <p:cNvPr id="17" name="TextBox 16"/>
          <p:cNvSpPr txBox="1"/>
          <p:nvPr/>
        </p:nvSpPr>
        <p:spPr>
          <a:xfrm>
            <a:off x="6355080" y="3749040"/>
            <a:ext cx="5074920" cy="502920"/>
          </a:xfrm>
          <a:prstGeom prst="rect">
            <a:avLst/>
          </a:prstGeom>
          <a:noFill/>
        </p:spPr>
        <p:txBody>
          <a:bodyPr wrap="square" lIns="0" rIns="0" tIns="0" bIns="0" anchor="ctr">
            <a:spAutoFit/>
          </a:bodyPr>
          <a:lstStyle/>
          <a:p>
            <a:pPr algn="l">
              <a:lnSpc>
                <a:spcPct val="115000"/>
              </a:lnSpc>
            </a:pPr>
            <a:r>
              <a:rPr sz="1300" b="0" i="0">
                <a:solidFill>
                  <a:srgbClr val="101010"/>
                </a:solidFill>
                <a:latin typeface="Inter"/>
              </a:rPr>
              <a:t>Lion Air 610 — 189 Indonesians</a:t>
            </a:r>
          </a:p>
        </p:txBody>
      </p:sp>
      <p:sp>
        <p:nvSpPr>
          <p:cNvPr id="18" name="Rectangle 17"/>
          <p:cNvSpPr/>
          <p:nvPr/>
        </p:nvSpPr>
        <p:spPr>
          <a:xfrm>
            <a:off x="640080" y="4251960"/>
            <a:ext cx="5440680" cy="502920"/>
          </a:xfrm>
          <a:prstGeom prst="rect">
            <a:avLst/>
          </a:prstGeom>
          <a:solidFill>
            <a:srgbClr val="C4CC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0" y="4251960"/>
            <a:ext cx="5440680" cy="502920"/>
          </a:xfrm>
          <a:prstGeom prst="rect">
            <a:avLst/>
          </a:prstGeom>
          <a:solidFill>
            <a:srgbClr val="C4CC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251960"/>
            <a:ext cx="5074920" cy="502920"/>
          </a:xfrm>
          <a:prstGeom prst="rect">
            <a:avLst/>
          </a:prstGeom>
          <a:noFill/>
        </p:spPr>
        <p:txBody>
          <a:bodyPr wrap="square" lIns="0" rIns="0" tIns="0" bIns="0" anchor="ctr">
            <a:spAutoFit/>
          </a:bodyPr>
          <a:lstStyle/>
          <a:p>
            <a:pPr algn="l">
              <a:lnSpc>
                <a:spcPct val="115000"/>
              </a:lnSpc>
            </a:pPr>
            <a:r>
              <a:rPr sz="1300" b="0" i="0">
                <a:solidFill>
                  <a:srgbClr val="101010"/>
                </a:solidFill>
                <a:latin typeface="Inter"/>
              </a:rPr>
              <a:t>Sustained moral outrage; years of coverage</a:t>
            </a:r>
          </a:p>
        </p:txBody>
      </p:sp>
      <p:sp>
        <p:nvSpPr>
          <p:cNvPr id="21" name="TextBox 20"/>
          <p:cNvSpPr txBox="1"/>
          <p:nvPr/>
        </p:nvSpPr>
        <p:spPr>
          <a:xfrm>
            <a:off x="6355080" y="4251960"/>
            <a:ext cx="5074920" cy="502920"/>
          </a:xfrm>
          <a:prstGeom prst="rect">
            <a:avLst/>
          </a:prstGeom>
          <a:noFill/>
        </p:spPr>
        <p:txBody>
          <a:bodyPr wrap="square" lIns="0" rIns="0" tIns="0" bIns="0" anchor="ctr">
            <a:spAutoFit/>
          </a:bodyPr>
          <a:lstStyle/>
          <a:p>
            <a:pPr algn="l">
              <a:lnSpc>
                <a:spcPct val="115000"/>
              </a:lnSpc>
            </a:pPr>
            <a:r>
              <a:rPr sz="1300" b="0" i="0">
                <a:solidFill>
                  <a:srgbClr val="101010"/>
                </a:solidFill>
                <a:latin typeface="Inter"/>
              </a:rPr>
              <a:t>“Pilot training” framing</a:t>
            </a:r>
          </a:p>
        </p:txBody>
      </p:sp>
      <p:sp>
        <p:nvSpPr>
          <p:cNvPr id="22" name="Rectangle 21"/>
          <p:cNvSpPr/>
          <p:nvPr/>
        </p:nvSpPr>
        <p:spPr>
          <a:xfrm>
            <a:off x="640080" y="4754880"/>
            <a:ext cx="5440680" cy="502920"/>
          </a:xfrm>
          <a:prstGeom prst="rect">
            <a:avLst/>
          </a:prstGeom>
          <a:solidFill>
            <a:srgbClr val="C4CC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26480" y="4754880"/>
            <a:ext cx="5440680" cy="502920"/>
          </a:xfrm>
          <a:prstGeom prst="rect">
            <a:avLst/>
          </a:prstGeom>
          <a:solidFill>
            <a:srgbClr val="C4CC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4754880"/>
            <a:ext cx="5074920" cy="502920"/>
          </a:xfrm>
          <a:prstGeom prst="rect">
            <a:avLst/>
          </a:prstGeom>
          <a:noFill/>
        </p:spPr>
        <p:txBody>
          <a:bodyPr wrap="square" lIns="0" rIns="0" tIns="0" bIns="0" anchor="ctr">
            <a:spAutoFit/>
          </a:bodyPr>
          <a:lstStyle/>
          <a:p>
            <a:pPr algn="l">
              <a:lnSpc>
                <a:spcPct val="115000"/>
              </a:lnSpc>
            </a:pPr>
            <a:r>
              <a:rPr sz="1300" b="0" i="0">
                <a:solidFill>
                  <a:srgbClr val="101010"/>
                </a:solidFill>
                <a:latin typeface="Inter"/>
              </a:rPr>
              <a:t>Reagan: “cold-blooded murder”</a:t>
            </a:r>
          </a:p>
        </p:txBody>
      </p:sp>
      <p:sp>
        <p:nvSpPr>
          <p:cNvPr id="25" name="TextBox 24"/>
          <p:cNvSpPr txBox="1"/>
          <p:nvPr/>
        </p:nvSpPr>
        <p:spPr>
          <a:xfrm>
            <a:off x="6355080" y="4754880"/>
            <a:ext cx="5074920" cy="502920"/>
          </a:xfrm>
          <a:prstGeom prst="rect">
            <a:avLst/>
          </a:prstGeom>
          <a:noFill/>
        </p:spPr>
        <p:txBody>
          <a:bodyPr wrap="square" lIns="0" rIns="0" tIns="0" bIns="0" anchor="ctr">
            <a:spAutoFit/>
          </a:bodyPr>
          <a:lstStyle/>
          <a:p>
            <a:pPr algn="l">
              <a:lnSpc>
                <a:spcPct val="115000"/>
              </a:lnSpc>
            </a:pPr>
            <a:r>
              <a:rPr sz="1300" b="0" i="0">
                <a:solidFill>
                  <a:srgbClr val="101010"/>
                </a:solidFill>
                <a:latin typeface="Inter"/>
              </a:rPr>
              <a:t>Ethiopian 302 — 157 dead, 35 nations</a:t>
            </a:r>
          </a:p>
        </p:txBody>
      </p:sp>
      <p:sp>
        <p:nvSpPr>
          <p:cNvPr id="26" name="Rectangle 25"/>
          <p:cNvSpPr/>
          <p:nvPr/>
        </p:nvSpPr>
        <p:spPr>
          <a:xfrm>
            <a:off x="640080" y="5257800"/>
            <a:ext cx="5440680" cy="502920"/>
          </a:xfrm>
          <a:prstGeom prst="rect">
            <a:avLst/>
          </a:prstGeom>
          <a:solidFill>
            <a:srgbClr val="C4CC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26480" y="5257800"/>
            <a:ext cx="5440680" cy="502920"/>
          </a:xfrm>
          <a:prstGeom prst="rect">
            <a:avLst/>
          </a:prstGeom>
          <a:solidFill>
            <a:srgbClr val="C4CC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68680" y="5257800"/>
            <a:ext cx="5074920" cy="502920"/>
          </a:xfrm>
          <a:prstGeom prst="rect">
            <a:avLst/>
          </a:prstGeom>
          <a:noFill/>
        </p:spPr>
        <p:txBody>
          <a:bodyPr wrap="square" lIns="0" rIns="0" tIns="0" bIns="0" anchor="ctr">
            <a:spAutoFit/>
          </a:bodyPr>
          <a:lstStyle/>
          <a:p>
            <a:pPr algn="l">
              <a:lnSpc>
                <a:spcPct val="115000"/>
              </a:lnSpc>
            </a:pPr>
            <a:r>
              <a:rPr sz="1300" b="0" i="0">
                <a:solidFill>
                  <a:srgbClr val="101010"/>
                </a:solidFill>
                <a:latin typeface="Inter"/>
              </a:rPr>
              <a:t>Front-page treatment for years</a:t>
            </a:r>
          </a:p>
        </p:txBody>
      </p:sp>
      <p:sp>
        <p:nvSpPr>
          <p:cNvPr id="29" name="TextBox 28"/>
          <p:cNvSpPr txBox="1"/>
          <p:nvPr/>
        </p:nvSpPr>
        <p:spPr>
          <a:xfrm>
            <a:off x="6355080" y="5257800"/>
            <a:ext cx="5074920" cy="502920"/>
          </a:xfrm>
          <a:prstGeom prst="rect">
            <a:avLst/>
          </a:prstGeom>
          <a:noFill/>
        </p:spPr>
        <p:txBody>
          <a:bodyPr wrap="square" lIns="0" rIns="0" tIns="0" bIns="0" anchor="ctr">
            <a:spAutoFit/>
          </a:bodyPr>
          <a:lstStyle/>
          <a:p>
            <a:pPr algn="l">
              <a:lnSpc>
                <a:spcPct val="115000"/>
              </a:lnSpc>
            </a:pPr>
            <a:r>
              <a:rPr sz="1300" b="0" i="0">
                <a:solidFill>
                  <a:srgbClr val="101010"/>
                </a:solidFill>
                <a:latin typeface="Inter"/>
              </a:rPr>
              <a:t>132 days before grounding</a:t>
            </a:r>
          </a:p>
        </p:txBody>
      </p:sp>
      <p:sp>
        <p:nvSpPr>
          <p:cNvPr id="30" name="Rectangle 29"/>
          <p:cNvSpPr/>
          <p:nvPr/>
        </p:nvSpPr>
        <p:spPr>
          <a:xfrm>
            <a:off x="640080" y="5897880"/>
            <a:ext cx="10908792" cy="685800"/>
          </a:xfrm>
          <a:prstGeom prst="rect">
            <a:avLst/>
          </a:prstGeom>
          <a:solidFill>
            <a:srgbClr val="0B24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5897880"/>
            <a:ext cx="10515600" cy="685800"/>
          </a:xfrm>
          <a:prstGeom prst="rect">
            <a:avLst/>
          </a:prstGeom>
          <a:noFill/>
        </p:spPr>
        <p:txBody>
          <a:bodyPr wrap="square" lIns="0" rIns="0" tIns="0" bIns="0" anchor="t">
            <a:spAutoFit/>
          </a:bodyPr>
          <a:lstStyle/>
          <a:p>
            <a:pPr algn="ctr">
              <a:lnSpc>
                <a:spcPct val="115000"/>
              </a:lnSpc>
            </a:pPr>
            <a:r>
              <a:rPr sz="1600" b="0" i="1" u="none">
                <a:solidFill>
                  <a:srgbClr val="FFFFFF"/>
                </a:solidFill>
                <a:latin typeface="Cambria"/>
              </a:rPr>
              <a:t>“Concentrate on the victims of enemy powers and forget about the victims of friends.”     </a:t>
            </a:r>
            <a:r>
              <a:rPr sz="1200" b="0" i="0" u="none">
                <a:solidFill>
                  <a:srgbClr val="CFD6DE"/>
                </a:solidFill>
                <a:latin typeface="Inter"/>
              </a:rPr>
              <a:t>— Herman &amp; Chomsky, p. 32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D6DC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10972800" cy="640080"/>
          </a:xfrm>
          <a:prstGeom prst="rect">
            <a:avLst/>
          </a:prstGeom>
          <a:noFill/>
        </p:spPr>
        <p:txBody>
          <a:bodyPr wrap="square" lIns="0" rIns="0" tIns="0" bIns="0" anchor="t">
            <a:spAutoFit/>
          </a:bodyPr>
          <a:lstStyle/>
          <a:p>
            <a:pPr algn="l">
              <a:lnSpc>
                <a:spcPct val="115000"/>
              </a:lnSpc>
            </a:pPr>
            <a:r>
              <a:rPr sz="2800" b="1" i="0">
                <a:solidFill>
                  <a:srgbClr val="555B60"/>
                </a:solidFill>
                <a:latin typeface="Inter"/>
              </a:rPr>
              <a:t>The Counterfactual</a:t>
            </a:r>
          </a:p>
        </p:txBody>
      </p:sp>
      <p:sp>
        <p:nvSpPr>
          <p:cNvPr id="4" name="Rectangle 3"/>
          <p:cNvSpPr/>
          <p:nvPr/>
        </p:nvSpPr>
        <p:spPr>
          <a:xfrm>
            <a:off x="822960" y="1463040"/>
            <a:ext cx="10515600" cy="2926080"/>
          </a:xfrm>
          <a:prstGeom prst="rect">
            <a:avLst/>
          </a:prstGeom>
          <a:solidFill>
            <a:srgbClr val="FFFFFF"/>
          </a:solidFill>
          <a:ln>
            <a:solidFill>
              <a:srgbClr val="555B6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1691640"/>
            <a:ext cx="9875520" cy="2468880"/>
          </a:xfrm>
          <a:prstGeom prst="rect">
            <a:avLst/>
          </a:prstGeom>
          <a:noFill/>
        </p:spPr>
        <p:txBody>
          <a:bodyPr wrap="square" lIns="0" rIns="0" tIns="0" bIns="0" anchor="t">
            <a:spAutoFit/>
          </a:bodyPr>
          <a:lstStyle/>
          <a:p>
            <a:pPr algn="l">
              <a:lnSpc>
                <a:spcPct val="105000"/>
              </a:lnSpc>
            </a:pPr>
            <a:r>
              <a:rPr sz="1400" b="1" i="0" u="none">
                <a:solidFill>
                  <a:srgbClr val="555B60"/>
                </a:solidFill>
                <a:latin typeface="Inter"/>
              </a:rPr>
              <a:t>BUSINESS</a:t>
            </a:r>
          </a:p>
          <a:p>
            <a:pPr algn="l">
              <a:lnSpc>
                <a:spcPct val="105000"/>
              </a:lnSpc>
            </a:pPr>
            <a:r>
              <a:rPr sz="1000" b="0" i="0" u="none">
                <a:solidFill>
                  <a:srgbClr val="101010"/>
                </a:solidFill>
                <a:latin typeface="Inter"/>
              </a:rPr>
              <a:t> </a:t>
            </a:r>
          </a:p>
          <a:p>
            <a:pPr algn="l">
              <a:lnSpc>
                <a:spcPct val="105000"/>
              </a:lnSpc>
            </a:pPr>
            <a:r>
              <a:rPr sz="3600" b="1" i="0" u="none">
                <a:solidFill>
                  <a:srgbClr val="101010"/>
                </a:solidFill>
                <a:latin typeface="Cambria"/>
              </a:rPr>
              <a:t>Pressure Mounts on FAA to Ground 737 MAX</a:t>
            </a:r>
          </a:p>
          <a:p>
            <a:pPr algn="l">
              <a:lnSpc>
                <a:spcPct val="105000"/>
              </a:lnSpc>
            </a:pPr>
            <a:r>
              <a:rPr sz="3600" b="1" i="0" u="none">
                <a:solidFill>
                  <a:srgbClr val="101010"/>
                </a:solidFill>
                <a:latin typeface="Cambria"/>
              </a:rPr>
              <a:t>as Second Crash Kills 157 Americans</a:t>
            </a:r>
          </a:p>
          <a:p>
            <a:pPr algn="l">
              <a:lnSpc>
                <a:spcPct val="105000"/>
              </a:lnSpc>
            </a:pPr>
            <a:r>
              <a:rPr sz="800" b="0" i="0" u="none">
                <a:solidFill>
                  <a:srgbClr val="101010"/>
                </a:solidFill>
                <a:latin typeface="Inter"/>
              </a:rPr>
              <a:t> </a:t>
            </a:r>
          </a:p>
          <a:p>
            <a:pPr algn="l">
              <a:lnSpc>
                <a:spcPct val="105000"/>
              </a:lnSpc>
            </a:pPr>
            <a:r>
              <a:rPr sz="1600" b="0" i="1" u="none">
                <a:solidFill>
                  <a:srgbClr val="555B60"/>
                </a:solidFill>
                <a:latin typeface="Cambria"/>
              </a:rPr>
              <a:t>Lawmakers, victims' families, and foreign regulators demand immediate suspension; FAA's certification process under scrutiny.</a:t>
            </a:r>
          </a:p>
          <a:p>
            <a:pPr algn="l">
              <a:lnSpc>
                <a:spcPct val="105000"/>
              </a:lnSpc>
            </a:pPr>
            <a:r>
              <a:rPr sz="1200" b="0" i="0" u="none">
                <a:solidFill>
                  <a:srgbClr val="101010"/>
                </a:solidFill>
                <a:latin typeface="Inter"/>
              </a:rPr>
              <a:t> </a:t>
            </a:r>
          </a:p>
          <a:p>
            <a:pPr algn="l">
              <a:lnSpc>
                <a:spcPct val="105000"/>
              </a:lnSpc>
            </a:pPr>
            <a:r>
              <a:rPr sz="1300" b="1" i="0" u="none">
                <a:solidFill>
                  <a:srgbClr val="101010"/>
                </a:solidFill>
                <a:latin typeface="Inter"/>
              </a:rPr>
              <a:t>By [byline]    |    Updated March 11, 2019</a:t>
            </a:r>
          </a:p>
        </p:txBody>
      </p:sp>
      <p:sp>
        <p:nvSpPr>
          <p:cNvPr id="6" name="TextBox 5"/>
          <p:cNvSpPr txBox="1"/>
          <p:nvPr/>
        </p:nvSpPr>
        <p:spPr>
          <a:xfrm>
            <a:off x="640080" y="4709160"/>
            <a:ext cx="10908792" cy="502920"/>
          </a:xfrm>
          <a:prstGeom prst="rect">
            <a:avLst/>
          </a:prstGeom>
          <a:noFill/>
        </p:spPr>
        <p:txBody>
          <a:bodyPr wrap="square" lIns="0" rIns="0" tIns="0" bIns="0" anchor="t">
            <a:spAutoFit/>
          </a:bodyPr>
          <a:lstStyle/>
          <a:p>
            <a:pPr algn="ctr">
              <a:lnSpc>
                <a:spcPct val="115000"/>
              </a:lnSpc>
            </a:pPr>
            <a:r>
              <a:rPr sz="2200" b="1" i="0">
                <a:solidFill>
                  <a:srgbClr val="101010"/>
                </a:solidFill>
                <a:latin typeface="Inter"/>
              </a:rPr>
              <a:t>This is the headline if 346 Americans had died.</a:t>
            </a:r>
          </a:p>
        </p:txBody>
      </p:sp>
      <p:sp>
        <p:nvSpPr>
          <p:cNvPr id="7" name="Rectangle 6"/>
          <p:cNvSpPr/>
          <p:nvPr/>
        </p:nvSpPr>
        <p:spPr>
          <a:xfrm>
            <a:off x="640080" y="5532120"/>
            <a:ext cx="10908792" cy="96012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532120"/>
            <a:ext cx="10908792" cy="960120"/>
          </a:xfrm>
          <a:prstGeom prst="rect">
            <a:avLst/>
          </a:prstGeom>
          <a:noFill/>
        </p:spPr>
        <p:txBody>
          <a:bodyPr wrap="square" lIns="0" rIns="0" tIns="0" bIns="0" anchor="ctr">
            <a:spAutoFit/>
          </a:bodyPr>
          <a:lstStyle/>
          <a:p>
            <a:pPr algn="ctr">
              <a:lnSpc>
                <a:spcPct val="115000"/>
              </a:lnSpc>
            </a:pPr>
            <a:r>
              <a:rPr sz="2800" b="1" i="0">
                <a:solidFill>
                  <a:srgbClr val="FFFFFF"/>
                </a:solidFill>
                <a:latin typeface="Inter"/>
              </a:rPr>
              <a:t>The filters didn't lie.  They selected.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