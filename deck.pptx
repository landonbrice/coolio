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Set the death toll cold: 189 + 157 = 346, in 132 days.</a:t>
            </a:r>
          </a:p>
          <a:p>
            <a:r>
              <a:t>  2. Same aircraft, same MCAS system, same flight profile.</a:t>
            </a:r>
          </a:p>
          <a:p>
            <a:r>
              <a:t>  3. Show what the WSJ chose to frame as the news the next morning.</a:t>
            </a:r>
          </a:p>
          <a:p>
            <a:r>
              <a:t>  4. Pause and let the audience read the headline.</a:t>
            </a:r>
          </a:p>
          <a:p/>
          <a:p>
            <a:r>
              <a:t>SCRIPT</a:t>
            </a:r>
          </a:p>
          <a:p>
            <a:r>
              <a:t>On October 29, 2018, Lion Air Flight 610 crashed twelve minutes after takeoff. 189 dead. On March 10, 2019 — 132 days later — Ethiopian Airlines Flight 302 crashed six minutes after takeoff. 157 more dead. Same aircraft. Same MCAS system. Same fatal flight profile. The morning after the second crash, the Wall Street Journal — America's paper of business record — chose to frame the news this way.</a:t>
            </a:r>
          </a:p>
          <a:p/>
          <a:p>
            <a:r>
              <a:t>IMAGE SOURCES (to drop into deck/images/ for v3)</a:t>
            </a:r>
          </a:p>
          <a:p>
            <a:r>
              <a:t>  • WSJ Mar 11, 2019 article (ProQuest WSJ archive / UChicago library) — https://www.wsj.com/articles/the-faa-has-no-current-plans-to-ground-boeings-737-max-after-deadly-crash-11552324520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132 days between the two crashes; 51 regulators ground in 72 hours.</a:t>
            </a:r>
          </a:p>
          <a:p>
            <a:r>
              <a:t>  2. China grounded BEFORE the WSJ article ran.</a:t>
            </a:r>
          </a:p>
          <a:p>
            <a:r>
              <a:t>  3. FAA was the LAST major regulator to ground — not the first.</a:t>
            </a:r>
          </a:p>
          <a:p>
            <a:r>
              <a:t>  4. WSJ framed FAA's reluctance as the news, not the global consensus.</a:t>
            </a:r>
          </a:p>
          <a:p>
            <a:r>
              <a:t>  5. Transition: 'Why? That's what the propaganda model lets us see.'</a:t>
            </a:r>
          </a:p>
          <a:p/>
          <a:p>
            <a:r>
              <a:t>SCRIPT</a:t>
            </a:r>
          </a:p>
          <a:p>
            <a:r>
              <a:t>132 days separated these two crashes. Within hours of the Ethiopian crash, China's Civil Aviation Administration grounded the 737 MAX. Within 72 hours, 51 regulators worldwide had grounded it. By the time this article ran on the morning of March 11, China had already grounded the aircraft. The FAA stood alone — and would for another 72 hours, becoming the LAST major regulator to ground. But the Wall Street Journal didn't frame that worldwide consensus as the news. It framed the FAA's reluctance as the news. The article makes the American regulator the default position and treats global action as deviation requiring explanation. Why? That's what the propaganda model lets us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Structural, not moral. Filters select what survives — not who's lying.</a:t>
            </a:r>
          </a:p>
          <a:p>
            <a:r>
              <a:t>  2. Pasztor + Tangel broke the MCAS story. They are not bad reporters.</a:t>
            </a:r>
          </a:p>
          <a:p>
            <a:r>
              <a:t>  3. Filters reinforce one another; no single filter is decisive.</a:t>
            </a:r>
          </a:p>
          <a:p>
            <a:r>
              <a:t>  4. Transition: 'Let's see all five operating on this single article.'</a:t>
            </a:r>
          </a:p>
          <a:p/>
          <a:p>
            <a:r>
              <a:t>SCRIPT</a:t>
            </a:r>
          </a:p>
          <a:p>
            <a:r>
              <a:t>Chomsky's argument is structural, not moral. He is not saying the press is fake or that the journalists are corrupt. Pasztor and Tangel are not bad reporters — they are the team that BROKE the MCAS self-certification story four months earlier. The propaganda model claims that news passes through five sequential filters that select what survives: ownership, advertising, sourcing, flak, and a unifying ideology. The journalists are not the filters. They are the operators of a process whose constraints are determined upstream of any individual editorial choice. The proof of the model is that good-faith reporters working with complete integrity will still produce this kind of output — because the alternative framings cost too much.</a:t>
            </a:r>
          </a:p>
          <a:p/>
          <a:p>
            <a:r>
              <a:t>IMAGE SOURCES (to drop into deck/images/ for v3)</a:t>
            </a:r>
          </a:p>
          <a:p>
            <a:r>
              <a:t>  • Manufacturing Consent cover (book) — Penguin Random House — https://www.penguinrandomhouse.com/books/78912/manufacturing-consent-by-edward-s-herman-and-noam-chomsky/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Class position, not editorial orders.</a:t>
            </a:r>
          </a:p>
          <a:p>
            <a:r>
              <a:t>  2. WSJ literally calculates the Dow Jones — which includes Boeing.</a:t>
            </a:r>
          </a:p>
          <a:p>
            <a:r>
              <a:t>  3. Boeing in 2019: Dow component, top exporter, Pentagon prime.</a:t>
            </a:r>
          </a:p>
          <a:p>
            <a:r>
              <a:t>  4. Same elite ecology. Same board interlocks. Same class position.</a:t>
            </a:r>
          </a:p>
          <a:p>
            <a:r>
              <a:t>  5. Transition: 'But ownership alone doesn't pick the headline. Advertising shapes what coverage can sustain.'</a:t>
            </a:r>
          </a:p>
          <a:p/>
          <a:p>
            <a:r>
              <a:t>SCRIPT</a:t>
            </a:r>
          </a:p>
          <a:p>
            <a:r>
              <a:t>Filter 1: ownership. The Wall Street Journal is owned by News Corp — the Murdoch family. The WSJ literally calculates the Dow Jones Industrial Average, an index that included Boeing throughout 2019. Boeing in 2019 was a top-30 US corporation by market cap, the largest American exporter, the Pentagon's prime defense contractor, the anchor employer in Washington State and South Carolina. Same elite ecology. Same board interlocks. Same class position. Filter 1 is not about Murdoch picking up the phone and telling Pasztor what to write. It is about the structural fact that the WSJ exists as the publication of record for the corporate-financial elite that owns Boeing equity, supplies Boeing, sits on Boeing-adjacent boards, regulates Boeing. The publication's class identity makes Boeing a quasi-internal interest — not an external object of scrutiny.</a:t>
            </a:r>
          </a:p>
          <a:p/>
          <a:p>
            <a:r>
              <a:t>IMAGE SOURCES (to drop into deck/images/ for v3)</a:t>
            </a:r>
          </a:p>
          <a:p>
            <a:r>
              <a:t>  • News Corp ownership chart — already in deck/images/news_corp_chart.png — (local file)</a:t>
            </a:r>
          </a:p>
          <a:p>
            <a:r>
              <a:t>  • News Corp corporate structure (2019) — Wikipedia — https://en.wikipedia.org/wiki/News_Corp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WSJ's advertiser base IS Boeing's economic ecosystem.</a:t>
            </a:r>
          </a:p>
          <a:p>
            <a:r>
              <a:t>  2. Reader side matters more: WSJ readers HOLD Boeing in portfolios.</a:t>
            </a:r>
          </a:p>
          <a:p>
            <a:r>
              <a:t>  3. Single article ≠ sustained campaign. Filter 2 kills campaigns.</a:t>
            </a:r>
          </a:p>
          <a:p>
            <a:r>
              <a:t>  4. Transition: 'But Filter 2 alone doesn't pick voices. Filter 3 — sourcing — is visible inside the article itself.'</a:t>
            </a:r>
          </a:p>
          <a:p/>
          <a:p>
            <a:r>
              <a:t>SCRIPT</a:t>
            </a:r>
          </a:p>
          <a:p>
            <a:r>
              <a:t>Filter 2: advertising. The WSJ's 2019 advertiser base is essentially Boeing's economic ecosystem. Boeing itself. Its defense competitors: Lockheed, Northrop, Raytheon. Its suppliers: GE Aerospace, Honeywell, Spirit AeroSystems. Its airlines: Southwest, American, United. Its bankers: JPMorgan, Goldman, BlackRock. But the deeper move is on the reader side. WSJ readers are institutional investors, corporate executives, money managers. They HOLD Boeing in their portfolios. They hold Boeing in their pension funds. Their employers do business with Boeing. The reader-advertiser ecology IS Boeing's ecology. A single critical article is permitted — Pasztor's MCAS scoop in November proved that. What filter 2 prevents is a sustained campaign — multi-month coverage that reframes American manufacturing as systemically unsafe. That campaign would break the publication's relationship to its entire reader-advertiser ecology. So it does not happen.</a:t>
            </a:r>
          </a:p>
          <a:p/>
          <a:p>
            <a:r>
              <a:t>IMAGE SOURCES (to drop into deck/images/ for v3)</a:t>
            </a:r>
          </a:p>
          <a:p>
            <a:r>
              <a:t>  • Boeing 2019 annual ad spend / WSJ advertiser data (Statista / Kantar) — https://www.statista.com/topics/1349/boeing/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Filter 3 is visible INSIDE the article — name the voices.</a:t>
            </a:r>
          </a:p>
          <a:p>
            <a:r>
              <a:t>  2. Boeing media office: professionalized, US-hours, pre-prepped.</a:t>
            </a:r>
          </a:p>
          <a:p>
            <a:r>
              <a:t>  3. Foreign regulators + victim families: expensive to source.</a:t>
            </a:r>
          </a:p>
          <a:p>
            <a:r>
              <a:t>  4. Captured-regulator story was reportable — Gates broke it Mar 17/21.</a:t>
            </a:r>
          </a:p>
          <a:p>
            <a:r>
              <a:t>  5. Beat dependency = commercial infrastructure of the reporting.</a:t>
            </a:r>
          </a:p>
          <a:p>
            <a:r>
              <a:t>  6. Transition: 'Filter 4 — flak — explains why the beat survives.'</a:t>
            </a:r>
          </a:p>
          <a:p/>
          <a:p>
            <a:r>
              <a:t>SCRIPT</a:t>
            </a:r>
          </a:p>
          <a:p>
            <a:r>
              <a:t>Filter 3: sourcing — the filter you can see operating inside the article itself. Let me show you whose voices structure the story. The FAA. Boeing. US airline executives. Anonymous 'industry officials' — almost certainly Boeing or FAA staff giving background. These are the authoritative voices. Now whose voices appear, when they appear at all, as reactions? Mitt Romney calling for grounding. Foreign regulators — China, the EU — framed as deviations from default. The victims' families: absent. The Ethiopian and Indonesian regulators: absent. This is not Pasztor and Tangel ignoring foreign sources. This is cost economics. Boeing's media office is professionalized, on US business hours, with talking points pre-prepared. The Ethiopian Civil Aviation Authority is not. The captured-regulator framing — the story that Boeing employees were doing FAA self-certification — was reportable in March 2019. Dominic Gates at the Seattle Times broke it six days later. The WSJ team had the expertise. They didn't lead with it. Why? Because reframing the FAA from 'authoritative source' to 'captured regulator' breaks the aviation beat. The beat is commercial infrastructure. So the frame stays.</a:t>
            </a:r>
          </a:p>
          <a:p/>
          <a:p>
            <a:r>
              <a:t>IMAGE SOURCES (to drop into deck/images/ for v3)</a:t>
            </a:r>
          </a:p>
          <a:p>
            <a:r>
              <a:t>  • Gates, 'Flawed analysis, failed oversight' — Seattle Times, Mar 17/21, 2019 — https://www.seattletimes.com/business/boeing-aerospace/failed-certification-faa-missed-safety-issues-in-the-737-max-system-implicated-in-the-lion-air-crash/</a:t>
            </a:r>
          </a:p>
          <a:p>
            <a:r>
              <a:t>  • NPR coverage of the Gates piece (Mar 18, 2019) — https://www.npr.org/2019/03/18/704373869/seattle-times-questions-certification-process-of-boeings-737-max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Three kinds of evidence for filter 4 operating here.</a:t>
            </a:r>
          </a:p>
          <a:p>
            <a:r>
              <a:t>  2. (1) Softening WORDS visible inside the article itself.</a:t>
            </a:r>
          </a:p>
          <a:p>
            <a:r>
              <a:t>  3. (2) Same-beat comparison: Gates @ Seattle Times leads with capture; WSJ doesn't.</a:t>
            </a:r>
          </a:p>
          <a:p>
            <a:r>
              <a:t>  4. (3) Boeing's apparatus including Patrick Shanahan as Acting DefSec.</a:t>
            </a:r>
          </a:p>
          <a:p>
            <a:r>
              <a:t>  5. Chomsky: flak's power is anticipatory, not retaliatory.</a:t>
            </a:r>
          </a:p>
          <a:p>
            <a:r>
              <a:t>  6. Transition: 'But why those particular framings? Filter 5 — the unifying ideology — supplies the cognitive shortcut.'</a:t>
            </a:r>
          </a:p>
          <a:p/>
          <a:p>
            <a:r>
              <a:t>SCRIPT</a:t>
            </a:r>
          </a:p>
          <a:p>
            <a:r>
              <a:t>Filter 4: flak. Three kinds of evidence. First, the softening visible INSIDE the article itself. 'Deadly crash' rather than 'second mass-fatality crash of the same aircraft in five months.' 'The FAA's decision' rather than 'the regulator that delegated certification to the company it was regulating.' Foreign action framed as deviation, FAA framed as default. These are not lies; they are the framings that survive anticipated flak. Second, the same-beat comparison. Dominic Gates at the Seattle Times — same aviation beat — leads with captured-regulator framing six days later, and wins a Pulitzer for it. The WSJ team could have done this. The structural conditions of their publication selected against it. Third, Boeing's apparatus. White-shoe PR firms on retainer. Defamation lawyers ready. Pentagon access — the acting Defense Secretary at the time of these crashes, Patrick Shanahan, was a 30-year Boeing executive. Congressional offices in every Boeing state. Chomsky's deepest insight: flak is most powerful when it is invisible. Pasztor and Tangel are good enough to anticipate the flak boundaries without anyone having to tell them where the boundaries are.</a:t>
            </a:r>
          </a:p>
          <a:p/>
          <a:p>
            <a:r>
              <a:t>IMAGE SOURCES (to drop into deck/images/ for v3)</a:t>
            </a:r>
          </a:p>
          <a:p>
            <a:r>
              <a:t>  • Patrick Shanahan official DoD portrait — Wikimedia Commons (public domain, DoD) — https://upload.wikimedia.org/wikipedia/commons/9/9a/Patrick_M._Shanahan_official_portrait.jpg</a:t>
            </a:r>
          </a:p>
          <a:p>
            <a:r>
              <a:t>  • Frontline / NYT, 'Boeing's Fatal Flaw' (2021) documentary — https://www.pbs.org/wgbh/frontline/documentary/boeings-fatal-flaw/</a:t>
            </a:r>
          </a:p>
          <a:p>
            <a:r>
              <a:t>  • Gates, Seattle Times, Mar 17/21 2019 — already cited in slide 6 — https://www.seattletimes.com/business/boeing-aerospace/failed-certification-faa-missed-safety-issues-in-the-737-max-system-implicated-in-the-lion-air-crash/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The paper's analytical move: filter 5 has rotated content, not function.</a:t>
            </a:r>
          </a:p>
          <a:p>
            <a:r>
              <a:t>  2. 1988 anticommunism → 2002 religion of the market → 2019 techno-industrial nationalism.</a:t>
            </a:r>
          </a:p>
          <a:p>
            <a:r>
              <a:t>  3. KAL 007: sustained moral outrage, Reagan's denunciation, years of front-page.</a:t>
            </a:r>
          </a:p>
          <a:p>
            <a:r>
              <a:t>  4. Lion Air + Ethiopian: pilot-training framing, 132 days before grounding.</a:t>
            </a:r>
          </a:p>
          <a:p>
            <a:r>
              <a:t>  5. Different ideology — IDENTICAL filter function: worthy/unworthy victims.</a:t>
            </a:r>
          </a:p>
          <a:p>
            <a:r>
              <a:t>  6. Transition: 'If the model holds, then changing the victims should change the framing. The counterfactual.'</a:t>
            </a:r>
          </a:p>
          <a:p/>
          <a:p>
            <a:r>
              <a:t>SCRIPT</a:t>
            </a:r>
          </a:p>
          <a:p>
            <a:r>
              <a:t>Filter 5 is where this paper makes its analytical move beyond textbook Chomsky. Chomsky's original filter 5 in 1988 was anticommunism — the binary that defined worthy and unworthy victims. He updated it in 2002 to 'the religion of the market.' For 2019 aviation coverage, I argue the operative filter 5 is techno-industrial nationalism — the framing of American manufacturing supremacy, against Airbus and rising Chinese aviation, as quasi-religious national interest. Here is the proof that the structural function is identical. In 1983, the Soviets shot down a civilian airliner — KAL 007. Sustained moral outrage. Years of front-page coverage. Reagan called it 'cold-blooded murder.' In 2018 and 2019, an American aircraft killed 346 civilians — Indonesians, Indians, Ethiopians, Kenyans, Chinese. Initial framing: foreign pilot training was inadequate. 132 days passed before the aircraft was grounded. Different ideology, same filter. The unworthy victims merit, in Chomsky's words, 'only slight detail, minimal humanization, and little context that will excite and enrage.' That is the structural test. The model survives the update.</a:t>
            </a:r>
          </a:p>
          <a:p/>
          <a:p>
            <a:r>
              <a:t>IMAGE SOURCES (to drop into deck/images/ for v3)</a:t>
            </a:r>
          </a:p>
          <a:p>
            <a:r>
              <a:t>  • KAL 007 background — Wikipedia — https://en.wikipedia.org/wiki/Korean_Air_Lines_Flight_007</a:t>
            </a:r>
          </a:p>
          <a:p>
            <a:r>
              <a:t>  • Bhavye Suneja (Lion Air 610 captain) — coverage — https://www.republicworld.com/india-news/general-news/indian-pilot-bhavye-suneja-captained-the-lion-air-flight-which-crashed-into-the-sea-with-188-people-aboard.html</a:t>
            </a:r>
          </a:p>
          <a:p>
            <a:r>
              <a:t>  • Yared Getachew (Ethiopian 302 captain) — coverage — https://en.wikipedia.org/wiki/Ethiopian_Airlines_Flight_302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a:t>
            </a:r>
          </a:p>
          <a:p>
            <a:r>
              <a:t>  1. Build the counterfactual: if 346 AMERICANS had died, this is the headline.</a:t>
            </a:r>
          </a:p>
          <a:p>
            <a:r>
              <a:t>  2. Same facts, different victims, different filter output.</a:t>
            </a:r>
          </a:p>
          <a:p>
            <a:r>
              <a:t>  3. Restate Chomsky's KAL 007 logic, updated.</a:t>
            </a:r>
          </a:p>
          <a:p>
            <a:r>
              <a:t>  4. Land: 'The filters didn't lie. They selected.'</a:t>
            </a:r>
          </a:p>
          <a:p>
            <a:r>
              <a:t>  5. End cleanly. Pause. Thank them.</a:t>
            </a:r>
          </a:p>
          <a:p/>
          <a:p>
            <a:r>
              <a:t>SCRIPT</a:t>
            </a:r>
          </a:p>
          <a:p>
            <a:r>
              <a:t>If 346 Americans had died on two domestic flights of the same aircraft in five months, the Wall Street Journal headline on March 11, 2019 would not have read 'FAA Has No Current Plans to Ground Boeing's 737 MAX.' It would have read something like this. Same facts. Different victims. Different filter output. The propaganda model is not a claim that this article lied. It is a claim that the structural conditions of its production — Murdoch's WSJ covering America's largest exporter, Boeing's flak apparatus, the access economy on the aviation beat, the techno-nationalist common sense that makes American manufacturing a quasi-religious good — selected for the framing we got. Thirty-one years after publication, Chomsky's model holds. Filter 5 has just rotated from anticommunism to techno-industrial nationalism. The filters didn't lie. They selected.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MARCH 11, 2019</a:t>
            </a:r>
          </a:p>
        </p:txBody>
      </p:sp>
      <p:sp>
        <p:nvSpPr>
          <p:cNvPr id="4" name="TextBox 3"/>
          <p:cNvSpPr txBox="1"/>
          <p:nvPr/>
        </p:nvSpPr>
        <p:spPr>
          <a:xfrm>
            <a:off x="640080" y="804672"/>
            <a:ext cx="10972800" cy="502920"/>
          </a:xfrm>
          <a:prstGeom prst="rect">
            <a:avLst/>
          </a:prstGeom>
          <a:noFill/>
        </p:spPr>
        <p:txBody>
          <a:bodyPr wrap="square" lIns="0" rIns="0" tIns="0" bIns="0" anchor="t">
            <a:spAutoFit/>
          </a:bodyPr>
          <a:lstStyle/>
          <a:p>
            <a:pPr algn="l">
              <a:lnSpc>
                <a:spcPct val="118000"/>
              </a:lnSpc>
            </a:pPr>
            <a:r>
              <a:rPr sz="2200" b="0" i="1">
                <a:solidFill>
                  <a:srgbClr val="555B60"/>
                </a:solidFill>
                <a:latin typeface="Cambria"/>
              </a:rPr>
              <a:t>The framing that the propaganda model explains.</a:t>
            </a:r>
          </a:p>
        </p:txBody>
      </p:sp>
      <p:pic>
        <p:nvPicPr>
          <p:cNvPr id="5" name="Picture 4" descr="wsj_headline_march11.png"/>
          <p:cNvPicPr>
            <a:picLocks noChangeAspect="1"/>
          </p:cNvPicPr>
          <p:nvPr/>
        </p:nvPicPr>
        <p:blipFill>
          <a:blip r:embed="rId2"/>
          <a:stretch>
            <a:fillRect/>
          </a:stretch>
        </p:blipFill>
        <p:spPr>
          <a:xfrm>
            <a:off x="1066647" y="1691640"/>
            <a:ext cx="10058400" cy="3720230"/>
          </a:xfrm>
          <a:prstGeom prst="rect">
            <a:avLst/>
          </a:prstGeom>
        </p:spPr>
      </p:pic>
      <p:sp>
        <p:nvSpPr>
          <p:cNvPr id="6" name="TextBox 5"/>
          <p:cNvSpPr txBox="1"/>
          <p:nvPr/>
        </p:nvSpPr>
        <p:spPr>
          <a:xfrm>
            <a:off x="640080" y="5715000"/>
            <a:ext cx="10908792" cy="640080"/>
          </a:xfrm>
          <a:prstGeom prst="rect">
            <a:avLst/>
          </a:prstGeom>
          <a:noFill/>
        </p:spPr>
        <p:txBody>
          <a:bodyPr wrap="square" lIns="0" rIns="0" tIns="0" bIns="0" anchor="t">
            <a:spAutoFit/>
          </a:bodyPr>
          <a:lstStyle/>
          <a:p>
            <a:pPr algn="ctr">
              <a:lnSpc>
                <a:spcPct val="118000"/>
              </a:lnSpc>
            </a:pPr>
            <a:r>
              <a:rPr sz="3600" b="1" i="0" u="none">
                <a:solidFill>
                  <a:srgbClr val="C8102E"/>
                </a:solidFill>
                <a:latin typeface="Cambria"/>
              </a:rPr>
              <a:t>189</a:t>
            </a:r>
            <a:r>
              <a:rPr sz="1800" b="0" i="0" u="none">
                <a:solidFill>
                  <a:srgbClr val="555B60"/>
                </a:solidFill>
                <a:latin typeface="Inter"/>
              </a:rPr>
              <a:t>  Lion Air 610   ·   </a:t>
            </a:r>
            <a:r>
              <a:rPr sz="3600" b="1" i="0" u="none">
                <a:solidFill>
                  <a:srgbClr val="C8102E"/>
                </a:solidFill>
                <a:latin typeface="Cambria"/>
              </a:rPr>
              <a:t>157</a:t>
            </a:r>
            <a:r>
              <a:rPr sz="1800" b="0" i="0" u="none">
                <a:solidFill>
                  <a:srgbClr val="555B60"/>
                </a:solidFill>
                <a:latin typeface="Inter"/>
              </a:rPr>
              <a:t>  Ethiopian 302   ·   </a:t>
            </a:r>
            <a:r>
              <a:rPr sz="3600" b="1" i="0" u="none">
                <a:solidFill>
                  <a:srgbClr val="101010"/>
                </a:solidFill>
                <a:latin typeface="Cambria"/>
              </a:rPr>
              <a:t>346</a:t>
            </a:r>
            <a:r>
              <a:rPr sz="1800" b="0" i="0" u="none">
                <a:solidFill>
                  <a:srgbClr val="555B60"/>
                </a:solidFill>
                <a:latin typeface="Inter"/>
              </a:rPr>
              <a:t>  dead</a:t>
            </a:r>
          </a:p>
        </p:txBody>
      </p:sp>
      <p:sp>
        <p:nvSpPr>
          <p:cNvPr id="7" name="TextBox 6"/>
          <p:cNvSpPr txBox="1"/>
          <p:nvPr/>
        </p:nvSpPr>
        <p:spPr>
          <a:xfrm>
            <a:off x="0" y="6446520"/>
            <a:ext cx="12191695" cy="320040"/>
          </a:xfrm>
          <a:prstGeom prst="rect">
            <a:avLst/>
          </a:prstGeom>
          <a:noFill/>
        </p:spPr>
        <p:txBody>
          <a:bodyPr wrap="square" lIns="0" rIns="0" tIns="0" bIns="0" anchor="t">
            <a:spAutoFit/>
          </a:bodyPr>
          <a:lstStyle/>
          <a:p>
            <a:pPr algn="ctr">
              <a:lnSpc>
                <a:spcPct val="118000"/>
              </a:lnSpc>
            </a:pPr>
            <a:r>
              <a:rPr sz="1100" b="0" i="0">
                <a:solidFill>
                  <a:srgbClr val="888E94"/>
                </a:solidFill>
                <a:latin typeface="Inter"/>
              </a:rPr>
              <a:t>Robert Wall  ·  Andrew Tangel  ·  Andy Pasztor   |   The Wall Street Journal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ARTICLE IN CONTEXT</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Same aircraft.  No changes.</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thiopian_302_wreckage.png"/>
          <p:cNvPicPr>
            <a:picLocks noChangeAspect="1"/>
          </p:cNvPicPr>
          <p:nvPr/>
        </p:nvPicPr>
        <p:blipFill>
          <a:blip r:embed="rId2"/>
          <a:stretch>
            <a:fillRect/>
          </a:stretch>
        </p:blipFill>
        <p:spPr>
          <a:xfrm>
            <a:off x="8595360" y="411480"/>
            <a:ext cx="3200400" cy="1802892"/>
          </a:xfrm>
          <a:prstGeom prst="rect">
            <a:avLst/>
          </a:prstGeom>
        </p:spPr>
      </p:pic>
      <p:sp>
        <p:nvSpPr>
          <p:cNvPr id="7" name="Rectangle 6"/>
          <p:cNvSpPr/>
          <p:nvPr/>
        </p:nvSpPr>
        <p:spPr>
          <a:xfrm>
            <a:off x="640080" y="3337560"/>
            <a:ext cx="10908792" cy="3810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 y="3236976"/>
            <a:ext cx="201168" cy="201168"/>
          </a:xfrm>
          <a:prstGeom prst="ellipse">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191256" y="3236976"/>
            <a:ext cx="201168" cy="201168"/>
          </a:xfrm>
          <a:prstGeom prst="ellipse">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68696" y="3236976"/>
            <a:ext cx="201168" cy="201168"/>
          </a:xfrm>
          <a:prstGeom prst="ellipse">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54695" y="3236976"/>
            <a:ext cx="201168" cy="201168"/>
          </a:xfrm>
          <a:prstGeom prst="ellipse">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72216" y="3236976"/>
            <a:ext cx="201168" cy="201168"/>
          </a:xfrm>
          <a:prstGeom prst="ellipse">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 y="2331720"/>
            <a:ext cx="2286000" cy="365760"/>
          </a:xfrm>
          <a:prstGeom prst="rect">
            <a:avLst/>
          </a:prstGeom>
          <a:noFill/>
        </p:spPr>
        <p:txBody>
          <a:bodyPr wrap="square" lIns="0" rIns="0" tIns="0" bIns="0" anchor="t">
            <a:spAutoFit/>
          </a:bodyPr>
          <a:lstStyle/>
          <a:p>
            <a:pPr algn="ctr">
              <a:lnSpc>
                <a:spcPct val="118000"/>
              </a:lnSpc>
            </a:pPr>
            <a:r>
              <a:rPr sz="1300" b="1" i="0">
                <a:solidFill>
                  <a:srgbClr val="101010"/>
                </a:solidFill>
                <a:latin typeface="Inter"/>
              </a:rPr>
              <a:t>Oct 29, 2018</a:t>
            </a:r>
          </a:p>
        </p:txBody>
      </p:sp>
      <p:sp>
        <p:nvSpPr>
          <p:cNvPr id="14" name="TextBox 13"/>
          <p:cNvSpPr txBox="1"/>
          <p:nvPr/>
        </p:nvSpPr>
        <p:spPr>
          <a:xfrm>
            <a:off x="-228600" y="2670048"/>
            <a:ext cx="2286000" cy="365760"/>
          </a:xfrm>
          <a:prstGeom prst="rect">
            <a:avLst/>
          </a:prstGeom>
          <a:noFill/>
        </p:spPr>
        <p:txBody>
          <a:bodyPr wrap="square" lIns="0" rIns="0" tIns="0" bIns="0" anchor="t">
            <a:spAutoFit/>
          </a:bodyPr>
          <a:lstStyle/>
          <a:p>
            <a:pPr algn="ctr">
              <a:lnSpc>
                <a:spcPct val="118000"/>
              </a:lnSpc>
            </a:pPr>
            <a:r>
              <a:rPr sz="1500" b="0" i="1">
                <a:solidFill>
                  <a:srgbClr val="101010"/>
                </a:solidFill>
                <a:latin typeface="Cambria"/>
              </a:rPr>
              <a:t>Lion Air 610</a:t>
            </a:r>
          </a:p>
        </p:txBody>
      </p:sp>
      <p:sp>
        <p:nvSpPr>
          <p:cNvPr id="15" name="TextBox 14"/>
          <p:cNvSpPr txBox="1"/>
          <p:nvPr/>
        </p:nvSpPr>
        <p:spPr>
          <a:xfrm>
            <a:off x="-228600" y="2971800"/>
            <a:ext cx="2286000" cy="320040"/>
          </a:xfrm>
          <a:prstGeom prst="rect">
            <a:avLst/>
          </a:prstGeom>
          <a:noFill/>
        </p:spPr>
        <p:txBody>
          <a:bodyPr wrap="square" lIns="0" rIns="0" tIns="0" bIns="0" anchor="t">
            <a:spAutoFit/>
          </a:bodyPr>
          <a:lstStyle/>
          <a:p>
            <a:pPr algn="ctr">
              <a:lnSpc>
                <a:spcPct val="118000"/>
              </a:lnSpc>
            </a:pPr>
            <a:r>
              <a:rPr sz="1100" b="0" i="0">
                <a:solidFill>
                  <a:srgbClr val="C8102E"/>
                </a:solidFill>
                <a:latin typeface="Inter"/>
              </a:rPr>
              <a:t>189 dead</a:t>
            </a:r>
          </a:p>
        </p:txBody>
      </p:sp>
      <p:sp>
        <p:nvSpPr>
          <p:cNvPr id="16" name="TextBox 15"/>
          <p:cNvSpPr txBox="1"/>
          <p:nvPr/>
        </p:nvSpPr>
        <p:spPr>
          <a:xfrm>
            <a:off x="2148840" y="2331720"/>
            <a:ext cx="2286000" cy="365760"/>
          </a:xfrm>
          <a:prstGeom prst="rect">
            <a:avLst/>
          </a:prstGeom>
          <a:noFill/>
        </p:spPr>
        <p:txBody>
          <a:bodyPr wrap="square" lIns="0" rIns="0" tIns="0" bIns="0" anchor="t">
            <a:spAutoFit/>
          </a:bodyPr>
          <a:lstStyle/>
          <a:p>
            <a:pPr algn="ctr">
              <a:lnSpc>
                <a:spcPct val="118000"/>
              </a:lnSpc>
            </a:pPr>
            <a:r>
              <a:rPr sz="1300" b="1" i="0">
                <a:solidFill>
                  <a:srgbClr val="101010"/>
                </a:solidFill>
                <a:latin typeface="Inter"/>
              </a:rPr>
              <a:t>Nov 13, 2018</a:t>
            </a:r>
          </a:p>
        </p:txBody>
      </p:sp>
      <p:sp>
        <p:nvSpPr>
          <p:cNvPr id="17" name="TextBox 16"/>
          <p:cNvSpPr txBox="1"/>
          <p:nvPr/>
        </p:nvSpPr>
        <p:spPr>
          <a:xfrm>
            <a:off x="2148840" y="2670048"/>
            <a:ext cx="2286000" cy="365760"/>
          </a:xfrm>
          <a:prstGeom prst="rect">
            <a:avLst/>
          </a:prstGeom>
          <a:noFill/>
        </p:spPr>
        <p:txBody>
          <a:bodyPr wrap="square" lIns="0" rIns="0" tIns="0" bIns="0" anchor="t">
            <a:spAutoFit/>
          </a:bodyPr>
          <a:lstStyle/>
          <a:p>
            <a:pPr algn="ctr">
              <a:lnSpc>
                <a:spcPct val="118000"/>
              </a:lnSpc>
            </a:pPr>
            <a:r>
              <a:rPr sz="1500" b="0" i="1">
                <a:solidFill>
                  <a:srgbClr val="101010"/>
                </a:solidFill>
                <a:latin typeface="Cambria"/>
              </a:rPr>
              <a:t>MCAS revealed (WSJ)</a:t>
            </a:r>
          </a:p>
        </p:txBody>
      </p:sp>
      <p:sp>
        <p:nvSpPr>
          <p:cNvPr id="18" name="TextBox 17"/>
          <p:cNvSpPr txBox="1"/>
          <p:nvPr/>
        </p:nvSpPr>
        <p:spPr>
          <a:xfrm>
            <a:off x="2148840" y="2971800"/>
            <a:ext cx="2286000" cy="320040"/>
          </a:xfrm>
          <a:prstGeom prst="rect">
            <a:avLst/>
          </a:prstGeom>
          <a:noFill/>
        </p:spPr>
        <p:txBody>
          <a:bodyPr wrap="square" lIns="0" rIns="0" tIns="0" bIns="0" anchor="t">
            <a:spAutoFit/>
          </a:bodyPr>
          <a:lstStyle/>
          <a:p>
            <a:pPr algn="ctr">
              <a:lnSpc>
                <a:spcPct val="118000"/>
              </a:lnSpc>
            </a:pPr>
            <a:r>
              <a:rPr sz="1100" b="0" i="0">
                <a:solidFill>
                  <a:srgbClr val="C8102E"/>
                </a:solidFill>
                <a:latin typeface="Inter"/>
              </a:rPr>
              <a:t>Pasztor/Tangel scoop</a:t>
            </a:r>
          </a:p>
        </p:txBody>
      </p:sp>
      <p:sp>
        <p:nvSpPr>
          <p:cNvPr id="19" name="TextBox 18"/>
          <p:cNvSpPr txBox="1"/>
          <p:nvPr/>
        </p:nvSpPr>
        <p:spPr>
          <a:xfrm>
            <a:off x="4526280" y="2331720"/>
            <a:ext cx="2286000" cy="365760"/>
          </a:xfrm>
          <a:prstGeom prst="rect">
            <a:avLst/>
          </a:prstGeom>
          <a:noFill/>
        </p:spPr>
        <p:txBody>
          <a:bodyPr wrap="square" lIns="0" rIns="0" tIns="0" bIns="0" anchor="t">
            <a:spAutoFit/>
          </a:bodyPr>
          <a:lstStyle/>
          <a:p>
            <a:pPr algn="ctr">
              <a:lnSpc>
                <a:spcPct val="118000"/>
              </a:lnSpc>
            </a:pPr>
            <a:r>
              <a:rPr sz="1300" b="1" i="0">
                <a:solidFill>
                  <a:srgbClr val="101010"/>
                </a:solidFill>
                <a:latin typeface="Inter"/>
              </a:rPr>
              <a:t>Mar 10, 2019</a:t>
            </a:r>
          </a:p>
        </p:txBody>
      </p:sp>
      <p:sp>
        <p:nvSpPr>
          <p:cNvPr id="20" name="TextBox 19"/>
          <p:cNvSpPr txBox="1"/>
          <p:nvPr/>
        </p:nvSpPr>
        <p:spPr>
          <a:xfrm>
            <a:off x="4526280" y="2670048"/>
            <a:ext cx="2286000" cy="365760"/>
          </a:xfrm>
          <a:prstGeom prst="rect">
            <a:avLst/>
          </a:prstGeom>
          <a:noFill/>
        </p:spPr>
        <p:txBody>
          <a:bodyPr wrap="square" lIns="0" rIns="0" tIns="0" bIns="0" anchor="t">
            <a:spAutoFit/>
          </a:bodyPr>
          <a:lstStyle/>
          <a:p>
            <a:pPr algn="ctr">
              <a:lnSpc>
                <a:spcPct val="118000"/>
              </a:lnSpc>
            </a:pPr>
            <a:r>
              <a:rPr sz="1500" b="0" i="1">
                <a:solidFill>
                  <a:srgbClr val="101010"/>
                </a:solidFill>
                <a:latin typeface="Cambria"/>
              </a:rPr>
              <a:t>Ethiopian 302</a:t>
            </a:r>
          </a:p>
        </p:txBody>
      </p:sp>
      <p:sp>
        <p:nvSpPr>
          <p:cNvPr id="21" name="TextBox 20"/>
          <p:cNvSpPr txBox="1"/>
          <p:nvPr/>
        </p:nvSpPr>
        <p:spPr>
          <a:xfrm>
            <a:off x="4526280" y="2971800"/>
            <a:ext cx="2286000" cy="320040"/>
          </a:xfrm>
          <a:prstGeom prst="rect">
            <a:avLst/>
          </a:prstGeom>
          <a:noFill/>
        </p:spPr>
        <p:txBody>
          <a:bodyPr wrap="square" lIns="0" rIns="0" tIns="0" bIns="0" anchor="t">
            <a:spAutoFit/>
          </a:bodyPr>
          <a:lstStyle/>
          <a:p>
            <a:pPr algn="ctr">
              <a:lnSpc>
                <a:spcPct val="118000"/>
              </a:lnSpc>
            </a:pPr>
            <a:r>
              <a:rPr sz="1100" b="0" i="0">
                <a:solidFill>
                  <a:srgbClr val="C8102E"/>
                </a:solidFill>
                <a:latin typeface="Inter"/>
              </a:rPr>
              <a:t>157 dead</a:t>
            </a:r>
          </a:p>
        </p:txBody>
      </p:sp>
      <p:sp>
        <p:nvSpPr>
          <p:cNvPr id="22" name="TextBox 21"/>
          <p:cNvSpPr txBox="1"/>
          <p:nvPr/>
        </p:nvSpPr>
        <p:spPr>
          <a:xfrm>
            <a:off x="6812279" y="2331720"/>
            <a:ext cx="2286000" cy="365760"/>
          </a:xfrm>
          <a:prstGeom prst="rect">
            <a:avLst/>
          </a:prstGeom>
          <a:noFill/>
        </p:spPr>
        <p:txBody>
          <a:bodyPr wrap="square" lIns="0" rIns="0" tIns="0" bIns="0" anchor="t">
            <a:spAutoFit/>
          </a:bodyPr>
          <a:lstStyle/>
          <a:p>
            <a:pPr algn="ctr">
              <a:lnSpc>
                <a:spcPct val="118000"/>
              </a:lnSpc>
            </a:pPr>
            <a:r>
              <a:rPr sz="1300" b="1" i="0">
                <a:solidFill>
                  <a:srgbClr val="101010"/>
                </a:solidFill>
                <a:latin typeface="Inter"/>
              </a:rPr>
              <a:t>Mar 11, 2019 (AM)</a:t>
            </a:r>
          </a:p>
        </p:txBody>
      </p:sp>
      <p:sp>
        <p:nvSpPr>
          <p:cNvPr id="23" name="TextBox 22"/>
          <p:cNvSpPr txBox="1"/>
          <p:nvPr/>
        </p:nvSpPr>
        <p:spPr>
          <a:xfrm>
            <a:off x="6812279" y="2670048"/>
            <a:ext cx="2286000" cy="365760"/>
          </a:xfrm>
          <a:prstGeom prst="rect">
            <a:avLst/>
          </a:prstGeom>
          <a:noFill/>
        </p:spPr>
        <p:txBody>
          <a:bodyPr wrap="square" lIns="0" rIns="0" tIns="0" bIns="0" anchor="t">
            <a:spAutoFit/>
          </a:bodyPr>
          <a:lstStyle/>
          <a:p>
            <a:pPr algn="ctr">
              <a:lnSpc>
                <a:spcPct val="118000"/>
              </a:lnSpc>
            </a:pPr>
            <a:r>
              <a:rPr sz="1500" b="0" i="1">
                <a:solidFill>
                  <a:srgbClr val="101010"/>
                </a:solidFill>
                <a:latin typeface="Cambria"/>
              </a:rPr>
              <a:t>China grounds 737 MAX</a:t>
            </a:r>
          </a:p>
        </p:txBody>
      </p:sp>
      <p:sp>
        <p:nvSpPr>
          <p:cNvPr id="24" name="TextBox 23"/>
          <p:cNvSpPr txBox="1"/>
          <p:nvPr/>
        </p:nvSpPr>
        <p:spPr>
          <a:xfrm>
            <a:off x="6812279" y="2971800"/>
            <a:ext cx="2286000" cy="320040"/>
          </a:xfrm>
          <a:prstGeom prst="rect">
            <a:avLst/>
          </a:prstGeom>
          <a:noFill/>
        </p:spPr>
        <p:txBody>
          <a:bodyPr wrap="square" lIns="0" rIns="0" tIns="0" bIns="0" anchor="t">
            <a:spAutoFit/>
          </a:bodyPr>
          <a:lstStyle/>
          <a:p>
            <a:pPr algn="ctr">
              <a:lnSpc>
                <a:spcPct val="118000"/>
              </a:lnSpc>
            </a:pPr>
            <a:r>
              <a:rPr sz="1100" b="0" i="0">
                <a:solidFill>
                  <a:srgbClr val="C8102E"/>
                </a:solidFill>
                <a:latin typeface="Inter"/>
              </a:rPr>
              <a:t>before WSJ article ran</a:t>
            </a:r>
          </a:p>
        </p:txBody>
      </p:sp>
      <p:sp>
        <p:nvSpPr>
          <p:cNvPr id="25" name="TextBox 24"/>
          <p:cNvSpPr txBox="1"/>
          <p:nvPr/>
        </p:nvSpPr>
        <p:spPr>
          <a:xfrm>
            <a:off x="9829800" y="2331720"/>
            <a:ext cx="2286000" cy="365760"/>
          </a:xfrm>
          <a:prstGeom prst="rect">
            <a:avLst/>
          </a:prstGeom>
          <a:noFill/>
        </p:spPr>
        <p:txBody>
          <a:bodyPr wrap="square" lIns="0" rIns="0" tIns="0" bIns="0" anchor="t">
            <a:spAutoFit/>
          </a:bodyPr>
          <a:lstStyle/>
          <a:p>
            <a:pPr algn="ctr">
              <a:lnSpc>
                <a:spcPct val="118000"/>
              </a:lnSpc>
            </a:pPr>
            <a:r>
              <a:rPr sz="1300" b="1" i="0">
                <a:solidFill>
                  <a:srgbClr val="101010"/>
                </a:solidFill>
                <a:latin typeface="Inter"/>
              </a:rPr>
              <a:t>Mar 13, 2019</a:t>
            </a:r>
          </a:p>
        </p:txBody>
      </p:sp>
      <p:sp>
        <p:nvSpPr>
          <p:cNvPr id="26" name="TextBox 25"/>
          <p:cNvSpPr txBox="1"/>
          <p:nvPr/>
        </p:nvSpPr>
        <p:spPr>
          <a:xfrm>
            <a:off x="9829800" y="2670048"/>
            <a:ext cx="2286000" cy="365760"/>
          </a:xfrm>
          <a:prstGeom prst="rect">
            <a:avLst/>
          </a:prstGeom>
          <a:noFill/>
        </p:spPr>
        <p:txBody>
          <a:bodyPr wrap="square" lIns="0" rIns="0" tIns="0" bIns="0" anchor="t">
            <a:spAutoFit/>
          </a:bodyPr>
          <a:lstStyle/>
          <a:p>
            <a:pPr algn="ctr">
              <a:lnSpc>
                <a:spcPct val="118000"/>
              </a:lnSpc>
            </a:pPr>
            <a:r>
              <a:rPr sz="1500" b="0" i="1">
                <a:solidFill>
                  <a:srgbClr val="101010"/>
                </a:solidFill>
                <a:latin typeface="Cambria"/>
              </a:rPr>
              <a:t>FAA finally grounds</a:t>
            </a:r>
          </a:p>
        </p:txBody>
      </p:sp>
      <p:sp>
        <p:nvSpPr>
          <p:cNvPr id="27" name="TextBox 26"/>
          <p:cNvSpPr txBox="1"/>
          <p:nvPr/>
        </p:nvSpPr>
        <p:spPr>
          <a:xfrm>
            <a:off x="9829800" y="2971800"/>
            <a:ext cx="2286000" cy="320040"/>
          </a:xfrm>
          <a:prstGeom prst="rect">
            <a:avLst/>
          </a:prstGeom>
          <a:noFill/>
        </p:spPr>
        <p:txBody>
          <a:bodyPr wrap="square" lIns="0" rIns="0" tIns="0" bIns="0" anchor="t">
            <a:spAutoFit/>
          </a:bodyPr>
          <a:lstStyle/>
          <a:p>
            <a:pPr algn="ctr">
              <a:lnSpc>
                <a:spcPct val="118000"/>
              </a:lnSpc>
            </a:pPr>
            <a:r>
              <a:rPr sz="1100" b="0" i="0">
                <a:solidFill>
                  <a:srgbClr val="C8102E"/>
                </a:solidFill>
                <a:latin typeface="Inter"/>
              </a:rPr>
              <a:t>(last major regulator)</a:t>
            </a:r>
          </a:p>
        </p:txBody>
      </p:sp>
      <p:pic>
        <p:nvPicPr>
          <p:cNvPr id="28" name="Picture 27" descr="lion_air_610_wreckage.png"/>
          <p:cNvPicPr>
            <a:picLocks noChangeAspect="1"/>
          </p:cNvPicPr>
          <p:nvPr/>
        </p:nvPicPr>
        <p:blipFill>
          <a:blip r:embed="rId3"/>
          <a:stretch>
            <a:fillRect/>
          </a:stretch>
        </p:blipFill>
        <p:spPr>
          <a:xfrm>
            <a:off x="640080" y="3794760"/>
            <a:ext cx="2377440" cy="1582078"/>
          </a:xfrm>
          <a:prstGeom prst="rect">
            <a:avLst/>
          </a:prstGeom>
        </p:spPr>
      </p:pic>
      <p:pic>
        <p:nvPicPr>
          <p:cNvPr id="29" name="Picture 28" descr="wsj_headline_nov21.png"/>
          <p:cNvPicPr>
            <a:picLocks noChangeAspect="1"/>
          </p:cNvPicPr>
          <p:nvPr/>
        </p:nvPicPr>
        <p:blipFill>
          <a:blip r:embed="rId4"/>
          <a:stretch>
            <a:fillRect/>
          </a:stretch>
        </p:blipFill>
        <p:spPr>
          <a:xfrm>
            <a:off x="3246120" y="4069080"/>
            <a:ext cx="4206240" cy="1597681"/>
          </a:xfrm>
          <a:prstGeom prst="rect">
            <a:avLst/>
          </a:prstGeom>
        </p:spPr>
      </p:pic>
      <p:pic>
        <p:nvPicPr>
          <p:cNvPr id="30" name="Picture 29" descr="wsj_headline_march11.png"/>
          <p:cNvPicPr>
            <a:picLocks noChangeAspect="1"/>
          </p:cNvPicPr>
          <p:nvPr/>
        </p:nvPicPr>
        <p:blipFill>
          <a:blip r:embed="rId5"/>
          <a:stretch>
            <a:fillRect/>
          </a:stretch>
        </p:blipFill>
        <p:spPr>
          <a:xfrm>
            <a:off x="7680960" y="4069080"/>
            <a:ext cx="4206240" cy="1555733"/>
          </a:xfrm>
          <a:prstGeom prst="rect">
            <a:avLst/>
          </a:prstGeom>
        </p:spPr>
      </p:pic>
      <p:sp>
        <p:nvSpPr>
          <p:cNvPr id="31" name="TextBox 30"/>
          <p:cNvSpPr txBox="1"/>
          <p:nvPr/>
        </p:nvSpPr>
        <p:spPr>
          <a:xfrm>
            <a:off x="640080" y="6400800"/>
            <a:ext cx="10908792" cy="365760"/>
          </a:xfrm>
          <a:prstGeom prst="rect">
            <a:avLst/>
          </a:prstGeom>
          <a:noFill/>
        </p:spPr>
        <p:txBody>
          <a:bodyPr wrap="square" lIns="0" rIns="0" tIns="0" bIns="0" anchor="t">
            <a:spAutoFit/>
          </a:bodyPr>
          <a:lstStyle/>
          <a:p>
            <a:pPr algn="ctr">
              <a:lnSpc>
                <a:spcPct val="118000"/>
              </a:lnSpc>
            </a:pPr>
            <a:r>
              <a:rPr sz="1400" b="0" i="0" u="none">
                <a:solidFill>
                  <a:srgbClr val="101010"/>
                </a:solidFill>
                <a:latin typeface="Inter"/>
              </a:rPr>
              <a:t>Within 72 hours of Ethiopian:  </a:t>
            </a:r>
            <a:r>
              <a:rPr sz="1400" b="1" i="0" u="none">
                <a:solidFill>
                  <a:srgbClr val="C8102E"/>
                </a:solidFill>
                <a:latin typeface="Inter"/>
              </a:rPr>
              <a:t>51 regulators worldwide</a:t>
            </a:r>
            <a:r>
              <a:rPr sz="1400" b="0" i="0" u="none">
                <a:solidFill>
                  <a:srgbClr val="101010"/>
                </a:solidFill>
                <a:latin typeface="Inter"/>
              </a:rPr>
              <a:t>  grounded the 737 MAX.   The FAA stood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MANUFACTURING CONSENT</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Chomsky's Five Filters</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3163" y="1874519"/>
            <a:ext cx="2057400" cy="1874519"/>
          </a:xfrm>
          <a:prstGeom prst="round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3163" y="2039111"/>
            <a:ext cx="2057400" cy="548640"/>
          </a:xfrm>
          <a:prstGeom prst="rect">
            <a:avLst/>
          </a:prstGeom>
          <a:noFill/>
        </p:spPr>
        <p:txBody>
          <a:bodyPr wrap="square" lIns="0" rIns="0" tIns="0" bIns="0" anchor="t">
            <a:spAutoFit/>
          </a:bodyPr>
          <a:lstStyle/>
          <a:p>
            <a:pPr algn="ctr">
              <a:lnSpc>
                <a:spcPct val="118000"/>
              </a:lnSpc>
            </a:pPr>
            <a:r>
              <a:rPr sz="3000" b="1" i="0">
                <a:solidFill>
                  <a:srgbClr val="FFFFFF"/>
                </a:solidFill>
                <a:latin typeface="Cambria"/>
              </a:rPr>
              <a:t>1</a:t>
            </a:r>
          </a:p>
        </p:txBody>
      </p:sp>
      <p:sp>
        <p:nvSpPr>
          <p:cNvPr id="8" name="TextBox 7"/>
          <p:cNvSpPr txBox="1"/>
          <p:nvPr/>
        </p:nvSpPr>
        <p:spPr>
          <a:xfrm>
            <a:off x="623163" y="2743199"/>
            <a:ext cx="2057400" cy="457200"/>
          </a:xfrm>
          <a:prstGeom prst="rect">
            <a:avLst/>
          </a:prstGeom>
          <a:noFill/>
        </p:spPr>
        <p:txBody>
          <a:bodyPr wrap="square" lIns="0" rIns="0" tIns="0" bIns="0" anchor="t">
            <a:spAutoFit/>
          </a:bodyPr>
          <a:lstStyle/>
          <a:p>
            <a:pPr algn="ctr">
              <a:lnSpc>
                <a:spcPct val="118000"/>
              </a:lnSpc>
            </a:pPr>
            <a:r>
              <a:rPr sz="1800" b="0" i="1">
                <a:solidFill>
                  <a:srgbClr val="FFFFFF"/>
                </a:solidFill>
                <a:latin typeface="Cambria"/>
              </a:rPr>
              <a:t>Ownership</a:t>
            </a:r>
          </a:p>
        </p:txBody>
      </p:sp>
      <p:sp>
        <p:nvSpPr>
          <p:cNvPr id="9" name="TextBox 8"/>
          <p:cNvSpPr txBox="1"/>
          <p:nvPr/>
        </p:nvSpPr>
        <p:spPr>
          <a:xfrm>
            <a:off x="623163" y="3200399"/>
            <a:ext cx="2057400" cy="457200"/>
          </a:xfrm>
          <a:prstGeom prst="rect">
            <a:avLst/>
          </a:prstGeom>
          <a:noFill/>
        </p:spPr>
        <p:txBody>
          <a:bodyPr wrap="square" lIns="0" rIns="0" tIns="0" bIns="0" anchor="t">
            <a:spAutoFit/>
          </a:bodyPr>
          <a:lstStyle/>
          <a:p>
            <a:pPr algn="ctr">
              <a:lnSpc>
                <a:spcPct val="118000"/>
              </a:lnSpc>
            </a:pPr>
            <a:r>
              <a:rPr sz="1100" b="0" i="0">
                <a:solidFill>
                  <a:srgbClr val="CFD6DE"/>
                </a:solidFill>
                <a:latin typeface="Inter"/>
              </a:rPr>
              <a:t>&amp; profit orientation</a:t>
            </a:r>
          </a:p>
        </p:txBody>
      </p:sp>
      <p:sp>
        <p:nvSpPr>
          <p:cNvPr id="10" name="Right Triangle 9"/>
          <p:cNvSpPr/>
          <p:nvPr/>
        </p:nvSpPr>
        <p:spPr>
          <a:xfrm>
            <a:off x="2698851" y="2747770"/>
            <a:ext cx="128016" cy="128016"/>
          </a:xfrm>
          <a:prstGeom prst="rtTriangle">
            <a:avLst/>
          </a:prstGeom>
          <a:solidFill>
            <a:srgbClr val="555B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45155" y="1874519"/>
            <a:ext cx="2057400" cy="1874519"/>
          </a:xfrm>
          <a:prstGeom prst="round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45155" y="2039111"/>
            <a:ext cx="2057400" cy="548640"/>
          </a:xfrm>
          <a:prstGeom prst="rect">
            <a:avLst/>
          </a:prstGeom>
          <a:noFill/>
        </p:spPr>
        <p:txBody>
          <a:bodyPr wrap="square" lIns="0" rIns="0" tIns="0" bIns="0" anchor="t">
            <a:spAutoFit/>
          </a:bodyPr>
          <a:lstStyle/>
          <a:p>
            <a:pPr algn="ctr">
              <a:lnSpc>
                <a:spcPct val="118000"/>
              </a:lnSpc>
            </a:pPr>
            <a:r>
              <a:rPr sz="3000" b="1" i="0">
                <a:solidFill>
                  <a:srgbClr val="FFFFFF"/>
                </a:solidFill>
                <a:latin typeface="Cambria"/>
              </a:rPr>
              <a:t>2</a:t>
            </a:r>
          </a:p>
        </p:txBody>
      </p:sp>
      <p:sp>
        <p:nvSpPr>
          <p:cNvPr id="13" name="TextBox 12"/>
          <p:cNvSpPr txBox="1"/>
          <p:nvPr/>
        </p:nvSpPr>
        <p:spPr>
          <a:xfrm>
            <a:off x="2845155" y="2743199"/>
            <a:ext cx="2057400" cy="457200"/>
          </a:xfrm>
          <a:prstGeom prst="rect">
            <a:avLst/>
          </a:prstGeom>
          <a:noFill/>
        </p:spPr>
        <p:txBody>
          <a:bodyPr wrap="square" lIns="0" rIns="0" tIns="0" bIns="0" anchor="t">
            <a:spAutoFit/>
          </a:bodyPr>
          <a:lstStyle/>
          <a:p>
            <a:pPr algn="ctr">
              <a:lnSpc>
                <a:spcPct val="118000"/>
              </a:lnSpc>
            </a:pPr>
            <a:r>
              <a:rPr sz="1800" b="0" i="1">
                <a:solidFill>
                  <a:srgbClr val="FFFFFF"/>
                </a:solidFill>
                <a:latin typeface="Cambria"/>
              </a:rPr>
              <a:t>Advertising</a:t>
            </a:r>
          </a:p>
        </p:txBody>
      </p:sp>
      <p:sp>
        <p:nvSpPr>
          <p:cNvPr id="14" name="TextBox 13"/>
          <p:cNvSpPr txBox="1"/>
          <p:nvPr/>
        </p:nvSpPr>
        <p:spPr>
          <a:xfrm>
            <a:off x="2845155" y="3200399"/>
            <a:ext cx="2057400" cy="457200"/>
          </a:xfrm>
          <a:prstGeom prst="rect">
            <a:avLst/>
          </a:prstGeom>
          <a:noFill/>
        </p:spPr>
        <p:txBody>
          <a:bodyPr wrap="square" lIns="0" rIns="0" tIns="0" bIns="0" anchor="t">
            <a:spAutoFit/>
          </a:bodyPr>
          <a:lstStyle/>
          <a:p>
            <a:pPr algn="ctr">
              <a:lnSpc>
                <a:spcPct val="118000"/>
              </a:lnSpc>
            </a:pPr>
            <a:r>
              <a:rPr sz="1100" b="0" i="0">
                <a:solidFill>
                  <a:srgbClr val="CFD6DE"/>
                </a:solidFill>
                <a:latin typeface="Inter"/>
              </a:rPr>
              <a:t>the reader economy</a:t>
            </a:r>
          </a:p>
        </p:txBody>
      </p:sp>
      <p:sp>
        <p:nvSpPr>
          <p:cNvPr id="15" name="Right Triangle 14"/>
          <p:cNvSpPr/>
          <p:nvPr/>
        </p:nvSpPr>
        <p:spPr>
          <a:xfrm>
            <a:off x="4920843" y="2747770"/>
            <a:ext cx="128016" cy="128016"/>
          </a:xfrm>
          <a:prstGeom prst="rtTriangle">
            <a:avLst/>
          </a:prstGeom>
          <a:solidFill>
            <a:srgbClr val="555B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67147" y="1874519"/>
            <a:ext cx="2057400" cy="1874519"/>
          </a:xfrm>
          <a:prstGeom prst="round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67147" y="2039111"/>
            <a:ext cx="2057400" cy="548640"/>
          </a:xfrm>
          <a:prstGeom prst="rect">
            <a:avLst/>
          </a:prstGeom>
          <a:noFill/>
        </p:spPr>
        <p:txBody>
          <a:bodyPr wrap="square" lIns="0" rIns="0" tIns="0" bIns="0" anchor="t">
            <a:spAutoFit/>
          </a:bodyPr>
          <a:lstStyle/>
          <a:p>
            <a:pPr algn="ctr">
              <a:lnSpc>
                <a:spcPct val="118000"/>
              </a:lnSpc>
            </a:pPr>
            <a:r>
              <a:rPr sz="3000" b="1" i="0">
                <a:solidFill>
                  <a:srgbClr val="FFFFFF"/>
                </a:solidFill>
                <a:latin typeface="Cambria"/>
              </a:rPr>
              <a:t>3</a:t>
            </a:r>
          </a:p>
        </p:txBody>
      </p:sp>
      <p:sp>
        <p:nvSpPr>
          <p:cNvPr id="18" name="TextBox 17"/>
          <p:cNvSpPr txBox="1"/>
          <p:nvPr/>
        </p:nvSpPr>
        <p:spPr>
          <a:xfrm>
            <a:off x="5067147" y="2743199"/>
            <a:ext cx="2057400" cy="457200"/>
          </a:xfrm>
          <a:prstGeom prst="rect">
            <a:avLst/>
          </a:prstGeom>
          <a:noFill/>
        </p:spPr>
        <p:txBody>
          <a:bodyPr wrap="square" lIns="0" rIns="0" tIns="0" bIns="0" anchor="t">
            <a:spAutoFit/>
          </a:bodyPr>
          <a:lstStyle/>
          <a:p>
            <a:pPr algn="ctr">
              <a:lnSpc>
                <a:spcPct val="118000"/>
              </a:lnSpc>
            </a:pPr>
            <a:r>
              <a:rPr sz="1800" b="0" i="1">
                <a:solidFill>
                  <a:srgbClr val="FFFFFF"/>
                </a:solidFill>
                <a:latin typeface="Cambria"/>
              </a:rPr>
              <a:t>Sourcing</a:t>
            </a:r>
          </a:p>
        </p:txBody>
      </p:sp>
      <p:sp>
        <p:nvSpPr>
          <p:cNvPr id="19" name="TextBox 18"/>
          <p:cNvSpPr txBox="1"/>
          <p:nvPr/>
        </p:nvSpPr>
        <p:spPr>
          <a:xfrm>
            <a:off x="5067147" y="3200399"/>
            <a:ext cx="2057400" cy="457200"/>
          </a:xfrm>
          <a:prstGeom prst="rect">
            <a:avLst/>
          </a:prstGeom>
          <a:noFill/>
        </p:spPr>
        <p:txBody>
          <a:bodyPr wrap="square" lIns="0" rIns="0" tIns="0" bIns="0" anchor="t">
            <a:spAutoFit/>
          </a:bodyPr>
          <a:lstStyle/>
          <a:p>
            <a:pPr algn="ctr">
              <a:lnSpc>
                <a:spcPct val="118000"/>
              </a:lnSpc>
            </a:pPr>
            <a:r>
              <a:rPr sz="1100" b="0" i="0">
                <a:solidFill>
                  <a:srgbClr val="CFD6DE"/>
                </a:solidFill>
                <a:latin typeface="Inter"/>
              </a:rPr>
              <a:t>the beat &amp; access economy</a:t>
            </a:r>
          </a:p>
        </p:txBody>
      </p:sp>
      <p:sp>
        <p:nvSpPr>
          <p:cNvPr id="20" name="Right Triangle 19"/>
          <p:cNvSpPr/>
          <p:nvPr/>
        </p:nvSpPr>
        <p:spPr>
          <a:xfrm>
            <a:off x="7142835" y="2747770"/>
            <a:ext cx="128016" cy="128016"/>
          </a:xfrm>
          <a:prstGeom prst="rtTriangle">
            <a:avLst/>
          </a:prstGeom>
          <a:solidFill>
            <a:srgbClr val="555B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89139" y="1874519"/>
            <a:ext cx="2057400" cy="1874519"/>
          </a:xfrm>
          <a:prstGeom prst="round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89139" y="2039111"/>
            <a:ext cx="2057400" cy="548640"/>
          </a:xfrm>
          <a:prstGeom prst="rect">
            <a:avLst/>
          </a:prstGeom>
          <a:noFill/>
        </p:spPr>
        <p:txBody>
          <a:bodyPr wrap="square" lIns="0" rIns="0" tIns="0" bIns="0" anchor="t">
            <a:spAutoFit/>
          </a:bodyPr>
          <a:lstStyle/>
          <a:p>
            <a:pPr algn="ctr">
              <a:lnSpc>
                <a:spcPct val="118000"/>
              </a:lnSpc>
            </a:pPr>
            <a:r>
              <a:rPr sz="3000" b="1" i="0">
                <a:solidFill>
                  <a:srgbClr val="FFFFFF"/>
                </a:solidFill>
                <a:latin typeface="Cambria"/>
              </a:rPr>
              <a:t>4</a:t>
            </a:r>
          </a:p>
        </p:txBody>
      </p:sp>
      <p:sp>
        <p:nvSpPr>
          <p:cNvPr id="23" name="TextBox 22"/>
          <p:cNvSpPr txBox="1"/>
          <p:nvPr/>
        </p:nvSpPr>
        <p:spPr>
          <a:xfrm>
            <a:off x="7289139" y="2743199"/>
            <a:ext cx="2057400" cy="457200"/>
          </a:xfrm>
          <a:prstGeom prst="rect">
            <a:avLst/>
          </a:prstGeom>
          <a:noFill/>
        </p:spPr>
        <p:txBody>
          <a:bodyPr wrap="square" lIns="0" rIns="0" tIns="0" bIns="0" anchor="t">
            <a:spAutoFit/>
          </a:bodyPr>
          <a:lstStyle/>
          <a:p>
            <a:pPr algn="ctr">
              <a:lnSpc>
                <a:spcPct val="118000"/>
              </a:lnSpc>
            </a:pPr>
            <a:r>
              <a:rPr sz="1800" b="0" i="1">
                <a:solidFill>
                  <a:srgbClr val="FFFFFF"/>
                </a:solidFill>
                <a:latin typeface="Cambria"/>
              </a:rPr>
              <a:t>Flak</a:t>
            </a:r>
          </a:p>
        </p:txBody>
      </p:sp>
      <p:sp>
        <p:nvSpPr>
          <p:cNvPr id="24" name="TextBox 23"/>
          <p:cNvSpPr txBox="1"/>
          <p:nvPr/>
        </p:nvSpPr>
        <p:spPr>
          <a:xfrm>
            <a:off x="7289139" y="3200399"/>
            <a:ext cx="2057400" cy="457200"/>
          </a:xfrm>
          <a:prstGeom prst="rect">
            <a:avLst/>
          </a:prstGeom>
          <a:noFill/>
        </p:spPr>
        <p:txBody>
          <a:bodyPr wrap="square" lIns="0" rIns="0" tIns="0" bIns="0" anchor="t">
            <a:spAutoFit/>
          </a:bodyPr>
          <a:lstStyle/>
          <a:p>
            <a:pPr algn="ctr">
              <a:lnSpc>
                <a:spcPct val="118000"/>
              </a:lnSpc>
            </a:pPr>
            <a:r>
              <a:rPr sz="1100" b="0" i="0">
                <a:solidFill>
                  <a:srgbClr val="CFD6DE"/>
                </a:solidFill>
                <a:latin typeface="Inter"/>
              </a:rPr>
              <a:t>as anticipatory discipline</a:t>
            </a:r>
          </a:p>
        </p:txBody>
      </p:sp>
      <p:sp>
        <p:nvSpPr>
          <p:cNvPr id="25" name="Right Triangle 24"/>
          <p:cNvSpPr/>
          <p:nvPr/>
        </p:nvSpPr>
        <p:spPr>
          <a:xfrm>
            <a:off x="9364827" y="2747770"/>
            <a:ext cx="128016" cy="128016"/>
          </a:xfrm>
          <a:prstGeom prst="rtTriangle">
            <a:avLst/>
          </a:prstGeom>
          <a:solidFill>
            <a:srgbClr val="555B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11131" y="1874519"/>
            <a:ext cx="2057400" cy="1874519"/>
          </a:xfrm>
          <a:prstGeom prst="round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11131" y="2039111"/>
            <a:ext cx="2057400" cy="548640"/>
          </a:xfrm>
          <a:prstGeom prst="rect">
            <a:avLst/>
          </a:prstGeom>
          <a:noFill/>
        </p:spPr>
        <p:txBody>
          <a:bodyPr wrap="square" lIns="0" rIns="0" tIns="0" bIns="0" anchor="t">
            <a:spAutoFit/>
          </a:bodyPr>
          <a:lstStyle/>
          <a:p>
            <a:pPr algn="ctr">
              <a:lnSpc>
                <a:spcPct val="118000"/>
              </a:lnSpc>
            </a:pPr>
            <a:r>
              <a:rPr sz="3000" b="1" i="0">
                <a:solidFill>
                  <a:srgbClr val="FFFFFF"/>
                </a:solidFill>
                <a:latin typeface="Cambria"/>
              </a:rPr>
              <a:t>5</a:t>
            </a:r>
          </a:p>
        </p:txBody>
      </p:sp>
      <p:sp>
        <p:nvSpPr>
          <p:cNvPr id="28" name="TextBox 27"/>
          <p:cNvSpPr txBox="1"/>
          <p:nvPr/>
        </p:nvSpPr>
        <p:spPr>
          <a:xfrm>
            <a:off x="9511131" y="2743199"/>
            <a:ext cx="2057400" cy="457200"/>
          </a:xfrm>
          <a:prstGeom prst="rect">
            <a:avLst/>
          </a:prstGeom>
          <a:noFill/>
        </p:spPr>
        <p:txBody>
          <a:bodyPr wrap="square" lIns="0" rIns="0" tIns="0" bIns="0" anchor="t">
            <a:spAutoFit/>
          </a:bodyPr>
          <a:lstStyle/>
          <a:p>
            <a:pPr algn="ctr">
              <a:lnSpc>
                <a:spcPct val="118000"/>
              </a:lnSpc>
            </a:pPr>
            <a:r>
              <a:rPr sz="1800" b="0" i="1">
                <a:solidFill>
                  <a:srgbClr val="FFFFFF"/>
                </a:solidFill>
                <a:latin typeface="Cambria"/>
              </a:rPr>
              <a:t>Unifying ideology</a:t>
            </a:r>
          </a:p>
        </p:txBody>
      </p:sp>
      <p:sp>
        <p:nvSpPr>
          <p:cNvPr id="29" name="TextBox 28"/>
          <p:cNvSpPr txBox="1"/>
          <p:nvPr/>
        </p:nvSpPr>
        <p:spPr>
          <a:xfrm>
            <a:off x="9511131" y="3200399"/>
            <a:ext cx="2057400" cy="457200"/>
          </a:xfrm>
          <a:prstGeom prst="rect">
            <a:avLst/>
          </a:prstGeom>
          <a:noFill/>
        </p:spPr>
        <p:txBody>
          <a:bodyPr wrap="square" lIns="0" rIns="0" tIns="0" bIns="0" anchor="t">
            <a:spAutoFit/>
          </a:bodyPr>
          <a:lstStyle/>
          <a:p>
            <a:pPr algn="ctr">
              <a:lnSpc>
                <a:spcPct val="118000"/>
              </a:lnSpc>
            </a:pPr>
            <a:r>
              <a:rPr sz="1100" b="0" i="0">
                <a:solidFill>
                  <a:srgbClr val="CFD6DE"/>
                </a:solidFill>
                <a:latin typeface="Inter"/>
              </a:rPr>
              <a:t>anticommunism  →  ?</a:t>
            </a:r>
          </a:p>
        </p:txBody>
      </p:sp>
      <p:sp>
        <p:nvSpPr>
          <p:cNvPr id="30" name="Rectangle 29"/>
          <p:cNvSpPr/>
          <p:nvPr/>
        </p:nvSpPr>
        <p:spPr>
          <a:xfrm>
            <a:off x="640080" y="4434840"/>
            <a:ext cx="10908792" cy="150876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599432"/>
            <a:ext cx="10177272" cy="1234440"/>
          </a:xfrm>
          <a:prstGeom prst="rect">
            <a:avLst/>
          </a:prstGeom>
          <a:noFill/>
        </p:spPr>
        <p:txBody>
          <a:bodyPr wrap="square" lIns="0" rIns="0" tIns="0" bIns="0" anchor="t">
            <a:spAutoFit/>
          </a:bodyPr>
          <a:lstStyle/>
          <a:p>
            <a:pPr algn="l">
              <a:lnSpc>
                <a:spcPct val="125000"/>
              </a:lnSpc>
            </a:pPr>
            <a:r>
              <a:rPr sz="1800" b="0" i="1" u="none">
                <a:solidFill>
                  <a:srgbClr val="FFFFFF"/>
                </a:solidFill>
                <a:latin typeface="Cambria"/>
              </a:rPr>
              <a:t>“The constraints are so powerful, and are built into the system in such a fundamental way, that alternative bases of news choices are hardly imaginable.”</a:t>
            </a:r>
          </a:p>
          <a:p>
            <a:pPr algn="l">
              <a:lnSpc>
                <a:spcPct val="125000"/>
              </a:lnSpc>
            </a:pPr>
            <a:r>
              <a:rPr sz="600" b="0" i="0" u="none">
                <a:solidFill>
                  <a:srgbClr val="101010"/>
                </a:solidFill>
                <a:latin typeface="Inter"/>
              </a:rPr>
              <a:t> </a:t>
            </a:r>
          </a:p>
          <a:p>
            <a:pPr algn="l">
              <a:lnSpc>
                <a:spcPct val="125000"/>
              </a:lnSpc>
            </a:pPr>
            <a:r>
              <a:rPr sz="1200" b="0" i="0" u="none">
                <a:solidFill>
                  <a:srgbClr val="CFD6DE"/>
                </a:solidFill>
                <a:latin typeface="Inter"/>
              </a:rPr>
              <a:t>— Herman &amp; Chomsky, Manufacturing Consent, p. 2</a:t>
            </a:r>
          </a:p>
        </p:txBody>
      </p:sp>
      <p:sp>
        <p:nvSpPr>
          <p:cNvPr id="32" name="TextBox 31"/>
          <p:cNvSpPr txBox="1"/>
          <p:nvPr/>
        </p:nvSpPr>
        <p:spPr>
          <a:xfrm>
            <a:off x="640080" y="6172200"/>
            <a:ext cx="10908792" cy="365760"/>
          </a:xfrm>
          <a:prstGeom prst="rect">
            <a:avLst/>
          </a:prstGeom>
          <a:noFill/>
        </p:spPr>
        <p:txBody>
          <a:bodyPr wrap="square" lIns="0" rIns="0" tIns="0" bIns="0" anchor="t">
            <a:spAutoFit/>
          </a:bodyPr>
          <a:lstStyle/>
          <a:p>
            <a:pPr algn="ctr">
              <a:lnSpc>
                <a:spcPct val="118000"/>
              </a:lnSpc>
            </a:pPr>
            <a:r>
              <a:rPr sz="1400" b="0" i="1">
                <a:solidFill>
                  <a:srgbClr val="555B60"/>
                </a:solidFill>
                <a:latin typeface="Inter"/>
              </a:rPr>
              <a:t>Not propaganda in the colloquial sense.  Filtered: structural conditions select what survives.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FILTER 1</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Ownership and Structural Class Identity</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783080"/>
            <a:ext cx="4983480" cy="5029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0" y="1783080"/>
            <a:ext cx="4983480" cy="5029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83080"/>
            <a:ext cx="4983480" cy="502920"/>
          </a:xfrm>
          <a:prstGeom prst="rect">
            <a:avLst/>
          </a:prstGeom>
          <a:noFill/>
        </p:spPr>
        <p:txBody>
          <a:bodyPr wrap="square" lIns="0" rIns="0" tIns="0" bIns="0" anchor="ctr">
            <a:spAutoFit/>
          </a:bodyPr>
          <a:lstStyle/>
          <a:p>
            <a:pPr algn="ctr">
              <a:lnSpc>
                <a:spcPct val="118000"/>
              </a:lnSpc>
            </a:pPr>
            <a:r>
              <a:rPr sz="1800" b="1" i="1">
                <a:solidFill>
                  <a:srgbClr val="FFFFFF"/>
                </a:solidFill>
                <a:latin typeface="Cambria"/>
              </a:rPr>
              <a:t>WSJ</a:t>
            </a:r>
          </a:p>
        </p:txBody>
      </p:sp>
      <p:sp>
        <p:nvSpPr>
          <p:cNvPr id="9" name="TextBox 8"/>
          <p:cNvSpPr txBox="1"/>
          <p:nvPr/>
        </p:nvSpPr>
        <p:spPr>
          <a:xfrm>
            <a:off x="6583680" y="1783080"/>
            <a:ext cx="4983480" cy="502920"/>
          </a:xfrm>
          <a:prstGeom prst="rect">
            <a:avLst/>
          </a:prstGeom>
          <a:noFill/>
        </p:spPr>
        <p:txBody>
          <a:bodyPr wrap="square" lIns="0" rIns="0" tIns="0" bIns="0" anchor="ctr">
            <a:spAutoFit/>
          </a:bodyPr>
          <a:lstStyle/>
          <a:p>
            <a:pPr algn="ctr">
              <a:lnSpc>
                <a:spcPct val="118000"/>
              </a:lnSpc>
            </a:pPr>
            <a:r>
              <a:rPr sz="1800" b="1" i="1">
                <a:solidFill>
                  <a:srgbClr val="FFFFFF"/>
                </a:solidFill>
                <a:latin typeface="Cambria"/>
              </a:rPr>
              <a:t>Boeing</a:t>
            </a:r>
          </a:p>
        </p:txBody>
      </p:sp>
      <p:sp>
        <p:nvSpPr>
          <p:cNvPr id="10" name="Rectangle 9"/>
          <p:cNvSpPr/>
          <p:nvPr/>
        </p:nvSpPr>
        <p:spPr>
          <a:xfrm>
            <a:off x="640080" y="2286000"/>
            <a:ext cx="4983480" cy="224028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0" y="2286000"/>
            <a:ext cx="4983480" cy="224028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4526280" cy="2011680"/>
          </a:xfrm>
          <a:prstGeom prst="rect">
            <a:avLst/>
          </a:prstGeom>
          <a:noFill/>
        </p:spPr>
        <p:txBody>
          <a:bodyPr wrap="square" lIns="0" rIns="0" tIns="0" bIns="0" anchor="t">
            <a:spAutoFit/>
          </a:bodyPr>
          <a:lstStyle/>
          <a:p>
            <a:pPr algn="l">
              <a:lnSpc>
                <a:spcPct val="145000"/>
              </a:lnSpc>
            </a:pPr>
            <a:r>
              <a:rPr sz="1400" b="0" i="0">
                <a:solidFill>
                  <a:srgbClr val="101010"/>
                </a:solidFill>
                <a:latin typeface="Inter"/>
              </a:rPr>
              <a:t>•   Owned by News Corp (Murdoch family)</a:t>
            </a:r>
          </a:p>
          <a:p>
            <a:pPr algn="l">
              <a:lnSpc>
                <a:spcPct val="145000"/>
              </a:lnSpc>
            </a:pPr>
            <a:r>
              <a:rPr sz="1400" b="0" i="0">
                <a:solidFill>
                  <a:srgbClr val="101010"/>
                </a:solidFill>
                <a:latin typeface="Inter"/>
              </a:rPr>
              <a:t>•   World's largest English-language business publication</a:t>
            </a:r>
          </a:p>
          <a:p>
            <a:pPr algn="l">
              <a:lnSpc>
                <a:spcPct val="145000"/>
              </a:lnSpc>
            </a:pPr>
            <a:r>
              <a:rPr sz="1400" b="0" i="0">
                <a:solidFill>
                  <a:srgbClr val="101010"/>
                </a:solidFill>
                <a:latin typeface="Inter"/>
              </a:rPr>
              <a:t>•   Calculates the Dow Jones Industrial Average</a:t>
            </a:r>
          </a:p>
          <a:p>
            <a:pPr algn="l">
              <a:lnSpc>
                <a:spcPct val="145000"/>
              </a:lnSpc>
            </a:pPr>
            <a:r>
              <a:rPr sz="1400" b="0" i="0">
                <a:solidFill>
                  <a:srgbClr val="101010"/>
                </a:solidFill>
                <a:latin typeface="Inter"/>
              </a:rPr>
              <a:t>•   Reader base:  corporate-financial elite</a:t>
            </a:r>
          </a:p>
        </p:txBody>
      </p:sp>
      <p:sp>
        <p:nvSpPr>
          <p:cNvPr id="13" name="TextBox 12"/>
          <p:cNvSpPr txBox="1"/>
          <p:nvPr/>
        </p:nvSpPr>
        <p:spPr>
          <a:xfrm>
            <a:off x="6858000" y="2468880"/>
            <a:ext cx="4526280" cy="2011680"/>
          </a:xfrm>
          <a:prstGeom prst="rect">
            <a:avLst/>
          </a:prstGeom>
          <a:noFill/>
        </p:spPr>
        <p:txBody>
          <a:bodyPr wrap="square" lIns="0" rIns="0" tIns="0" bIns="0" anchor="t">
            <a:spAutoFit/>
          </a:bodyPr>
          <a:lstStyle/>
          <a:p>
            <a:pPr algn="l">
              <a:lnSpc>
                <a:spcPct val="145000"/>
              </a:lnSpc>
            </a:pPr>
            <a:r>
              <a:rPr sz="1400" b="0" i="0">
                <a:solidFill>
                  <a:srgbClr val="101010"/>
                </a:solidFill>
                <a:latin typeface="Inter"/>
              </a:rPr>
              <a:t>•   Top-30 U.S. corporation  (~$240B mkt cap)</a:t>
            </a:r>
          </a:p>
          <a:p>
            <a:pPr algn="l">
              <a:lnSpc>
                <a:spcPct val="145000"/>
              </a:lnSpc>
            </a:pPr>
            <a:r>
              <a:rPr sz="1400" b="0" i="0">
                <a:solidFill>
                  <a:srgbClr val="101010"/>
                </a:solidFill>
                <a:latin typeface="Inter"/>
              </a:rPr>
              <a:t>•   Largest American exporter (2019)</a:t>
            </a:r>
          </a:p>
          <a:p>
            <a:pPr algn="l">
              <a:lnSpc>
                <a:spcPct val="145000"/>
              </a:lnSpc>
            </a:pPr>
            <a:r>
              <a:rPr sz="1400" b="0" i="0">
                <a:solidFill>
                  <a:srgbClr val="101010"/>
                </a:solidFill>
                <a:latin typeface="Inter"/>
              </a:rPr>
              <a:t>•   Dow Jones Industrial Average component</a:t>
            </a:r>
          </a:p>
          <a:p>
            <a:pPr algn="l">
              <a:lnSpc>
                <a:spcPct val="145000"/>
              </a:lnSpc>
            </a:pPr>
            <a:r>
              <a:rPr sz="1400" b="0" i="0">
                <a:solidFill>
                  <a:srgbClr val="101010"/>
                </a:solidFill>
                <a:latin typeface="Inter"/>
              </a:rPr>
              <a:t>•   Pentagon prime defense contractor</a:t>
            </a:r>
          </a:p>
          <a:p>
            <a:pPr algn="l">
              <a:lnSpc>
                <a:spcPct val="145000"/>
              </a:lnSpc>
            </a:pPr>
            <a:r>
              <a:rPr sz="1400" b="0" i="0">
                <a:solidFill>
                  <a:srgbClr val="101010"/>
                </a:solidFill>
                <a:latin typeface="Inter"/>
              </a:rPr>
              <a:t>•   Anchor employer for Washington + South Carolina</a:t>
            </a:r>
          </a:p>
        </p:txBody>
      </p:sp>
      <p:sp>
        <p:nvSpPr>
          <p:cNvPr id="14" name="Rectangle 13"/>
          <p:cNvSpPr/>
          <p:nvPr/>
        </p:nvSpPr>
        <p:spPr>
          <a:xfrm>
            <a:off x="5623560" y="2286000"/>
            <a:ext cx="914400" cy="22402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0" y="2286000"/>
            <a:ext cx="914400" cy="2240280"/>
          </a:xfrm>
          <a:prstGeom prst="rect">
            <a:avLst/>
          </a:prstGeom>
          <a:noFill/>
        </p:spPr>
        <p:txBody>
          <a:bodyPr wrap="square" lIns="0" rIns="0" tIns="0" bIns="0" anchor="ctr">
            <a:spAutoFit/>
          </a:bodyPr>
          <a:lstStyle/>
          <a:p>
            <a:pPr algn="ctr">
              <a:lnSpc>
                <a:spcPct val="140000"/>
              </a:lnSpc>
            </a:pPr>
            <a:r>
              <a:rPr sz="1400" b="1" i="0">
                <a:solidFill>
                  <a:srgbClr val="FFFFFF"/>
                </a:solidFill>
                <a:latin typeface="Cambria"/>
              </a:rPr>
              <a:t>S A M E</a:t>
            </a:r>
          </a:p>
          <a:p>
            <a:pPr algn="ctr">
              <a:lnSpc>
                <a:spcPct val="140000"/>
              </a:lnSpc>
            </a:pPr>
            <a:r>
              <a:rPr sz="1400" b="1" i="0">
                <a:solidFill>
                  <a:srgbClr val="FFFFFF"/>
                </a:solidFill>
                <a:latin typeface="Cambria"/>
              </a:rPr>
              <a:t>C L A S S</a:t>
            </a:r>
          </a:p>
        </p:txBody>
      </p:sp>
      <p:sp>
        <p:nvSpPr>
          <p:cNvPr id="16" name="Rectangle 15"/>
          <p:cNvSpPr/>
          <p:nvPr/>
        </p:nvSpPr>
        <p:spPr>
          <a:xfrm>
            <a:off x="640080" y="4709160"/>
            <a:ext cx="10908792" cy="173736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873752"/>
            <a:ext cx="10177272" cy="1463040"/>
          </a:xfrm>
          <a:prstGeom prst="rect">
            <a:avLst/>
          </a:prstGeom>
          <a:noFill/>
        </p:spPr>
        <p:txBody>
          <a:bodyPr wrap="square" lIns="0" rIns="0" tIns="0" bIns="0" anchor="t">
            <a:spAutoFit/>
          </a:bodyPr>
          <a:lstStyle/>
          <a:p>
            <a:pPr algn="l">
              <a:lnSpc>
                <a:spcPct val="125000"/>
              </a:lnSpc>
            </a:pPr>
            <a:r>
              <a:rPr sz="1800" b="0" i="1" u="none">
                <a:solidFill>
                  <a:srgbClr val="FFFFFF"/>
                </a:solidFill>
                <a:latin typeface="Cambria"/>
              </a:rPr>
              <a:t>“the dominant media firms are quite large businesses; they are controlled by very wealthy people or by managers who are subject to sharp constraints by owners and other market-profit-oriented forces; and they are closely interlocked, and have important common interests, with other major corporations, banks, and government.”</a:t>
            </a:r>
          </a:p>
          <a:p>
            <a:pPr algn="l">
              <a:lnSpc>
                <a:spcPct val="125000"/>
              </a:lnSpc>
            </a:pPr>
            <a:r>
              <a:rPr sz="600" b="0" i="0" u="none">
                <a:solidFill>
                  <a:srgbClr val="101010"/>
                </a:solidFill>
                <a:latin typeface="Inter"/>
              </a:rPr>
              <a:t> </a:t>
            </a:r>
          </a:p>
          <a:p>
            <a:pPr algn="l">
              <a:lnSpc>
                <a:spcPct val="125000"/>
              </a:lnSpc>
            </a:pPr>
            <a:r>
              <a:rPr sz="1200" b="0" i="0" u="none">
                <a:solidFill>
                  <a:srgbClr val="CFD6DE"/>
                </a:solidFill>
                <a:latin typeface="Inter"/>
              </a:rPr>
              <a:t>— Herman &amp; Chomsky, p. 14</a:t>
            </a:r>
          </a:p>
        </p:txBody>
      </p:sp>
      <p:sp>
        <p:nvSpPr>
          <p:cNvPr id="18" name="TextBox 17"/>
          <p:cNvSpPr txBox="1"/>
          <p:nvPr/>
        </p:nvSpPr>
        <p:spPr>
          <a:xfrm>
            <a:off x="640080" y="6537960"/>
            <a:ext cx="10908792" cy="274320"/>
          </a:xfrm>
          <a:prstGeom prst="rect">
            <a:avLst/>
          </a:prstGeom>
          <a:noFill/>
        </p:spPr>
        <p:txBody>
          <a:bodyPr wrap="square" lIns="0" rIns="0" tIns="0" bIns="0" anchor="t">
            <a:spAutoFit/>
          </a:bodyPr>
          <a:lstStyle/>
          <a:p>
            <a:pPr algn="ctr">
              <a:lnSpc>
                <a:spcPct val="118000"/>
              </a:lnSpc>
            </a:pPr>
            <a:r>
              <a:rPr sz="1200" b="0" i="1">
                <a:solidFill>
                  <a:srgbClr val="555B60"/>
                </a:solidFill>
                <a:latin typeface="Inter"/>
              </a:rPr>
              <a:t>News Corp doesn't tell Pasztor what to write.  The class composition makes Boeing a quasi-internal interest.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FILTER 2</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Advertising and the Reader Economy</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319064" y="2880360"/>
            <a:ext cx="1554480" cy="77724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19064" y="2880360"/>
            <a:ext cx="1554480" cy="777240"/>
          </a:xfrm>
          <a:prstGeom prst="rect">
            <a:avLst/>
          </a:prstGeom>
          <a:noFill/>
        </p:spPr>
        <p:txBody>
          <a:bodyPr wrap="square" lIns="0" rIns="0" tIns="0" bIns="0" anchor="ctr">
            <a:spAutoFit/>
          </a:bodyPr>
          <a:lstStyle/>
          <a:p>
            <a:pPr algn="ctr">
              <a:lnSpc>
                <a:spcPct val="118000"/>
              </a:lnSpc>
            </a:pPr>
            <a:r>
              <a:rPr sz="2200" b="1" i="1">
                <a:solidFill>
                  <a:srgbClr val="FFFFFF"/>
                </a:solidFill>
                <a:latin typeface="Cambria"/>
              </a:rPr>
              <a:t>WSJ</a:t>
            </a:r>
          </a:p>
        </p:txBody>
      </p:sp>
      <p:sp>
        <p:nvSpPr>
          <p:cNvPr id="8" name="TextBox 7"/>
          <p:cNvSpPr txBox="1"/>
          <p:nvPr/>
        </p:nvSpPr>
        <p:spPr>
          <a:xfrm>
            <a:off x="1554480" y="1783080"/>
            <a:ext cx="2743200" cy="274320"/>
          </a:xfrm>
          <a:prstGeom prst="rect">
            <a:avLst/>
          </a:prstGeom>
          <a:noFill/>
        </p:spPr>
        <p:txBody>
          <a:bodyPr wrap="square" lIns="0" rIns="0" tIns="0" bIns="0" anchor="t">
            <a:spAutoFit/>
          </a:bodyPr>
          <a:lstStyle/>
          <a:p>
            <a:pPr algn="l">
              <a:lnSpc>
                <a:spcPct val="118000"/>
              </a:lnSpc>
            </a:pPr>
            <a:r>
              <a:rPr sz="1000" b="1" i="0">
                <a:solidFill>
                  <a:srgbClr val="C8102E"/>
                </a:solidFill>
                <a:latin typeface="Inter"/>
              </a:rPr>
              <a:t>→   AD SPEND</a:t>
            </a:r>
          </a:p>
        </p:txBody>
      </p:sp>
      <p:sp>
        <p:nvSpPr>
          <p:cNvPr id="9" name="TextBox 8"/>
          <p:cNvSpPr txBox="1"/>
          <p:nvPr/>
        </p:nvSpPr>
        <p:spPr>
          <a:xfrm>
            <a:off x="7863840" y="1783080"/>
            <a:ext cx="3200400" cy="274320"/>
          </a:xfrm>
          <a:prstGeom prst="rect">
            <a:avLst/>
          </a:prstGeom>
          <a:noFill/>
        </p:spPr>
        <p:txBody>
          <a:bodyPr wrap="square" lIns="0" rIns="0" tIns="0" bIns="0" anchor="t">
            <a:spAutoFit/>
          </a:bodyPr>
          <a:lstStyle/>
          <a:p>
            <a:pPr algn="r">
              <a:lnSpc>
                <a:spcPct val="118000"/>
              </a:lnSpc>
            </a:pPr>
            <a:r>
              <a:rPr sz="1000" b="1" i="0">
                <a:solidFill>
                  <a:srgbClr val="C8102E"/>
                </a:solidFill>
                <a:latin typeface="Inter"/>
              </a:rPr>
              <a:t>SUBSCRIPTIONS  /  EQUITY HOLDINGS   ←</a:t>
            </a:r>
          </a:p>
        </p:txBody>
      </p:sp>
      <p:sp>
        <p:nvSpPr>
          <p:cNvPr id="10" name="Rectangle 9"/>
          <p:cNvSpPr/>
          <p:nvPr/>
        </p:nvSpPr>
        <p:spPr>
          <a:xfrm>
            <a:off x="1074420" y="2034540"/>
            <a:ext cx="1874519" cy="77724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4420" y="2034540"/>
            <a:ext cx="1874519" cy="777240"/>
          </a:xfrm>
          <a:prstGeom prst="rect">
            <a:avLst/>
          </a:prstGeom>
          <a:noFill/>
        </p:spPr>
        <p:txBody>
          <a:bodyPr wrap="square" lIns="0" rIns="0" tIns="0" bIns="0" anchor="ctr">
            <a:spAutoFit/>
          </a:bodyPr>
          <a:lstStyle/>
          <a:p>
            <a:pPr algn="ctr">
              <a:lnSpc>
                <a:spcPct val="115000"/>
              </a:lnSpc>
            </a:pPr>
            <a:r>
              <a:rPr sz="1100" b="0" i="0">
                <a:solidFill>
                  <a:srgbClr val="101010"/>
                </a:solidFill>
                <a:latin typeface="Inter"/>
              </a:rPr>
              <a:t>Boeing</a:t>
            </a:r>
          </a:p>
        </p:txBody>
      </p:sp>
      <p:cxnSp>
        <p:nvCxnSpPr>
          <p:cNvPr id="12" name="Connector 11"/>
          <p:cNvCxnSpPr/>
          <p:nvPr/>
        </p:nvCxnSpPr>
        <p:spPr>
          <a:xfrm>
            <a:off x="2948939.5" y="2423160"/>
            <a:ext cx="2370124.5" cy="845820.0"/>
          </a:xfrm>
          <a:prstGeom prst="line">
            <a:avLst/>
          </a:prstGeom>
          <a:ln w="15875">
            <a:solidFill>
              <a:srgbClr val="555B6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1074420" y="3131820"/>
            <a:ext cx="1874519" cy="77724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4420" y="3131820"/>
            <a:ext cx="1874519" cy="777240"/>
          </a:xfrm>
          <a:prstGeom prst="rect">
            <a:avLst/>
          </a:prstGeom>
          <a:noFill/>
        </p:spPr>
        <p:txBody>
          <a:bodyPr wrap="square" lIns="0" rIns="0" tIns="0" bIns="0" anchor="ctr">
            <a:spAutoFit/>
          </a:bodyPr>
          <a:lstStyle/>
          <a:p>
            <a:pPr algn="ctr">
              <a:lnSpc>
                <a:spcPct val="115000"/>
              </a:lnSpc>
            </a:pPr>
            <a:r>
              <a:rPr sz="1100" b="0" i="0">
                <a:solidFill>
                  <a:srgbClr val="101010"/>
                </a:solidFill>
                <a:latin typeface="Inter"/>
              </a:rPr>
              <a:t>Defense</a:t>
            </a:r>
          </a:p>
          <a:p>
            <a:pPr algn="ctr">
              <a:lnSpc>
                <a:spcPct val="115000"/>
              </a:lnSpc>
            </a:pPr>
            <a:r>
              <a:rPr sz="1100" b="0" i="0">
                <a:solidFill>
                  <a:srgbClr val="101010"/>
                </a:solidFill>
                <a:latin typeface="Inter"/>
              </a:rPr>
              <a:t>(LMT / NOC / RTX)</a:t>
            </a:r>
          </a:p>
        </p:txBody>
      </p:sp>
      <p:cxnSp>
        <p:nvCxnSpPr>
          <p:cNvPr id="15" name="Connector 14"/>
          <p:cNvCxnSpPr/>
          <p:nvPr/>
        </p:nvCxnSpPr>
        <p:spPr>
          <a:xfrm flipV="1">
            <a:off x="2948939.5" y="3268980.0"/>
            <a:ext cx="2370124.5" cy="251460.0"/>
          </a:xfrm>
          <a:prstGeom prst="line">
            <a:avLst/>
          </a:prstGeom>
          <a:ln w="15875">
            <a:solidFill>
              <a:srgbClr val="555B60"/>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074420" y="4229100"/>
            <a:ext cx="1874519" cy="77724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4420" y="4229100"/>
            <a:ext cx="1874519" cy="777240"/>
          </a:xfrm>
          <a:prstGeom prst="rect">
            <a:avLst/>
          </a:prstGeom>
          <a:noFill/>
        </p:spPr>
        <p:txBody>
          <a:bodyPr wrap="square" lIns="0" rIns="0" tIns="0" bIns="0" anchor="ctr">
            <a:spAutoFit/>
          </a:bodyPr>
          <a:lstStyle/>
          <a:p>
            <a:pPr algn="ctr">
              <a:lnSpc>
                <a:spcPct val="115000"/>
              </a:lnSpc>
            </a:pPr>
            <a:r>
              <a:rPr sz="1100" b="0" i="0">
                <a:solidFill>
                  <a:srgbClr val="101010"/>
                </a:solidFill>
                <a:latin typeface="Inter"/>
              </a:rPr>
              <a:t>Suppliers</a:t>
            </a:r>
          </a:p>
          <a:p>
            <a:pPr algn="ctr">
              <a:lnSpc>
                <a:spcPct val="115000"/>
              </a:lnSpc>
            </a:pPr>
            <a:r>
              <a:rPr sz="1100" b="0" i="0">
                <a:solidFill>
                  <a:srgbClr val="101010"/>
                </a:solidFill>
                <a:latin typeface="Inter"/>
              </a:rPr>
              <a:t>(GE / Honeywell)</a:t>
            </a:r>
          </a:p>
        </p:txBody>
      </p:sp>
      <p:cxnSp>
        <p:nvCxnSpPr>
          <p:cNvPr id="18" name="Connector 17"/>
          <p:cNvCxnSpPr/>
          <p:nvPr/>
        </p:nvCxnSpPr>
        <p:spPr>
          <a:xfrm flipV="1">
            <a:off x="2948939.5" y="3268980.0"/>
            <a:ext cx="2370124.5" cy="1348740.0"/>
          </a:xfrm>
          <a:prstGeom prst="line">
            <a:avLst/>
          </a:prstGeom>
          <a:ln w="15875">
            <a:solidFill>
              <a:srgbClr val="555B60"/>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9212580" y="2034540"/>
            <a:ext cx="1874519" cy="77724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2580" y="2034540"/>
            <a:ext cx="1874519" cy="777240"/>
          </a:xfrm>
          <a:prstGeom prst="rect">
            <a:avLst/>
          </a:prstGeom>
          <a:noFill/>
        </p:spPr>
        <p:txBody>
          <a:bodyPr wrap="square" lIns="0" rIns="0" tIns="0" bIns="0" anchor="ctr">
            <a:spAutoFit/>
          </a:bodyPr>
          <a:lstStyle/>
          <a:p>
            <a:pPr algn="ctr">
              <a:lnSpc>
                <a:spcPct val="115000"/>
              </a:lnSpc>
            </a:pPr>
            <a:r>
              <a:rPr sz="1100" b="0" i="0">
                <a:solidFill>
                  <a:srgbClr val="101010"/>
                </a:solidFill>
                <a:latin typeface="Inter"/>
              </a:rPr>
              <a:t>Airlines</a:t>
            </a:r>
          </a:p>
          <a:p>
            <a:pPr algn="ctr">
              <a:lnSpc>
                <a:spcPct val="115000"/>
              </a:lnSpc>
            </a:pPr>
            <a:r>
              <a:rPr sz="1100" b="0" i="0">
                <a:solidFill>
                  <a:srgbClr val="101010"/>
                </a:solidFill>
                <a:latin typeface="Inter"/>
              </a:rPr>
              <a:t>(SWA / AAL / UAL)</a:t>
            </a:r>
          </a:p>
        </p:txBody>
      </p:sp>
      <p:cxnSp>
        <p:nvCxnSpPr>
          <p:cNvPr id="21" name="Connector 20"/>
          <p:cNvCxnSpPr/>
          <p:nvPr/>
        </p:nvCxnSpPr>
        <p:spPr>
          <a:xfrm flipH="1">
            <a:off x="6873544.0" y="2423160"/>
            <a:ext cx="2339036.5" cy="845820.0"/>
          </a:xfrm>
          <a:prstGeom prst="line">
            <a:avLst/>
          </a:prstGeom>
          <a:ln w="15875">
            <a:solidFill>
              <a:srgbClr val="555B6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212580" y="3131820"/>
            <a:ext cx="1874519" cy="77724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2580" y="3131820"/>
            <a:ext cx="1874519" cy="777240"/>
          </a:xfrm>
          <a:prstGeom prst="rect">
            <a:avLst/>
          </a:prstGeom>
          <a:noFill/>
        </p:spPr>
        <p:txBody>
          <a:bodyPr wrap="square" lIns="0" rIns="0" tIns="0" bIns="0" anchor="ctr">
            <a:spAutoFit/>
          </a:bodyPr>
          <a:lstStyle/>
          <a:p>
            <a:pPr algn="ctr">
              <a:lnSpc>
                <a:spcPct val="115000"/>
              </a:lnSpc>
            </a:pPr>
            <a:r>
              <a:rPr sz="1100" b="0" i="0">
                <a:solidFill>
                  <a:srgbClr val="101010"/>
                </a:solidFill>
                <a:latin typeface="Inter"/>
              </a:rPr>
              <a:t>Banks</a:t>
            </a:r>
          </a:p>
          <a:p>
            <a:pPr algn="ctr">
              <a:lnSpc>
                <a:spcPct val="115000"/>
              </a:lnSpc>
            </a:pPr>
            <a:r>
              <a:rPr sz="1100" b="0" i="0">
                <a:solidFill>
                  <a:srgbClr val="101010"/>
                </a:solidFill>
                <a:latin typeface="Inter"/>
              </a:rPr>
              <a:t>(JPM / GS / BLK)</a:t>
            </a:r>
          </a:p>
        </p:txBody>
      </p:sp>
      <p:cxnSp>
        <p:nvCxnSpPr>
          <p:cNvPr id="24" name="Connector 23"/>
          <p:cNvCxnSpPr/>
          <p:nvPr/>
        </p:nvCxnSpPr>
        <p:spPr>
          <a:xfrm flipH="1" flipV="1">
            <a:off x="6873544.0" y="3268980.0"/>
            <a:ext cx="2339036.5" cy="251460.0"/>
          </a:xfrm>
          <a:prstGeom prst="line">
            <a:avLst/>
          </a:prstGeom>
          <a:ln w="15875">
            <a:solidFill>
              <a:srgbClr val="555B60"/>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212580" y="4229100"/>
            <a:ext cx="1874519" cy="77724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2580" y="4229100"/>
            <a:ext cx="1874519" cy="777240"/>
          </a:xfrm>
          <a:prstGeom prst="rect">
            <a:avLst/>
          </a:prstGeom>
          <a:noFill/>
        </p:spPr>
        <p:txBody>
          <a:bodyPr wrap="square" lIns="0" rIns="0" tIns="0" bIns="0" anchor="ctr">
            <a:spAutoFit/>
          </a:bodyPr>
          <a:lstStyle/>
          <a:p>
            <a:pPr algn="ctr">
              <a:lnSpc>
                <a:spcPct val="115000"/>
              </a:lnSpc>
            </a:pPr>
            <a:r>
              <a:rPr sz="1100" b="0" i="0">
                <a:solidFill>
                  <a:srgbClr val="101010"/>
                </a:solidFill>
                <a:latin typeface="Inter"/>
              </a:rPr>
              <a:t>Reader-investors</a:t>
            </a:r>
          </a:p>
        </p:txBody>
      </p:sp>
      <p:cxnSp>
        <p:nvCxnSpPr>
          <p:cNvPr id="27" name="Connector 26"/>
          <p:cNvCxnSpPr/>
          <p:nvPr/>
        </p:nvCxnSpPr>
        <p:spPr>
          <a:xfrm flipH="1" flipV="1">
            <a:off x="6873544.0" y="3268980.0"/>
            <a:ext cx="2339036.5" cy="1348740.0"/>
          </a:xfrm>
          <a:prstGeom prst="line">
            <a:avLst/>
          </a:prstGeom>
          <a:ln w="15875">
            <a:solidFill>
              <a:srgbClr val="555B6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5074920"/>
            <a:ext cx="10908792" cy="640080"/>
          </a:xfrm>
          <a:prstGeom prst="rect">
            <a:avLst/>
          </a:prstGeom>
          <a:noFill/>
        </p:spPr>
        <p:txBody>
          <a:bodyPr wrap="square" lIns="0" rIns="0" tIns="0" bIns="0" anchor="t">
            <a:spAutoFit/>
          </a:bodyPr>
          <a:lstStyle/>
          <a:p>
            <a:pPr algn="ctr">
              <a:lnSpc>
                <a:spcPct val="135000"/>
              </a:lnSpc>
            </a:pPr>
            <a:r>
              <a:rPr sz="1500" b="0" i="1">
                <a:solidFill>
                  <a:srgbClr val="101010"/>
                </a:solidFill>
                <a:latin typeface="Cambria"/>
              </a:rPr>
              <a:t>A single critical article does not threaten this loop.</a:t>
            </a:r>
          </a:p>
          <a:p>
            <a:pPr algn="ctr">
              <a:lnSpc>
                <a:spcPct val="135000"/>
              </a:lnSpc>
            </a:pPr>
            <a:r>
              <a:rPr sz="1500" b="0" i="1">
                <a:solidFill>
                  <a:srgbClr val="101010"/>
                </a:solidFill>
                <a:latin typeface="Cambria"/>
              </a:rPr>
              <a:t>A sustained campaign reframing American manufacturing as systemically unsafe does.</a:t>
            </a:r>
          </a:p>
        </p:txBody>
      </p:sp>
      <p:sp>
        <p:nvSpPr>
          <p:cNvPr id="29" name="Rectangle 28"/>
          <p:cNvSpPr/>
          <p:nvPr/>
        </p:nvSpPr>
        <p:spPr>
          <a:xfrm>
            <a:off x="640080" y="5806440"/>
            <a:ext cx="10908792" cy="86868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5971032"/>
            <a:ext cx="10177272" cy="594360"/>
          </a:xfrm>
          <a:prstGeom prst="rect">
            <a:avLst/>
          </a:prstGeom>
          <a:noFill/>
        </p:spPr>
        <p:txBody>
          <a:bodyPr wrap="square" lIns="0" rIns="0" tIns="0" bIns="0" anchor="t">
            <a:spAutoFit/>
          </a:bodyPr>
          <a:lstStyle/>
          <a:p>
            <a:pPr algn="l">
              <a:lnSpc>
                <a:spcPct val="125000"/>
              </a:lnSpc>
            </a:pPr>
            <a:r>
              <a:rPr sz="1800" b="0" i="1" u="none">
                <a:solidFill>
                  <a:srgbClr val="FFFFFF"/>
                </a:solidFill>
                <a:latin typeface="Cambria"/>
              </a:rPr>
              <a:t>“advertisers thus acquired a de facto licensing authority since, without their support, newspapers ceased to be economically viable.”</a:t>
            </a:r>
          </a:p>
          <a:p>
            <a:pPr algn="l">
              <a:lnSpc>
                <a:spcPct val="125000"/>
              </a:lnSpc>
            </a:pPr>
            <a:r>
              <a:rPr sz="600" b="0" i="0" u="none">
                <a:solidFill>
                  <a:srgbClr val="101010"/>
                </a:solidFill>
                <a:latin typeface="Inter"/>
              </a:rPr>
              <a:t> </a:t>
            </a:r>
          </a:p>
          <a:p>
            <a:pPr algn="l">
              <a:lnSpc>
                <a:spcPct val="125000"/>
              </a:lnSpc>
            </a:pPr>
            <a:r>
              <a:rPr sz="1200" b="0" i="0" u="none">
                <a:solidFill>
                  <a:srgbClr val="CFD6DE"/>
                </a:solidFill>
                <a:latin typeface="Inter"/>
              </a:rPr>
              <a:t>— Curran &amp; Seaton, quoted in Manufacturing Consent, p.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FILTER 3</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Sourcing and the Beat Economy</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00200"/>
            <a:ext cx="10908792" cy="365760"/>
          </a:xfrm>
          <a:prstGeom prst="rect">
            <a:avLst/>
          </a:prstGeom>
          <a:noFill/>
        </p:spPr>
        <p:txBody>
          <a:bodyPr wrap="square" lIns="0" rIns="0" tIns="0" bIns="0" anchor="t">
            <a:spAutoFit/>
          </a:bodyPr>
          <a:lstStyle/>
          <a:p>
            <a:pPr algn="l">
              <a:lnSpc>
                <a:spcPct val="118000"/>
              </a:lnSpc>
            </a:pPr>
            <a:r>
              <a:rPr sz="1400" b="0" i="1">
                <a:solidFill>
                  <a:srgbClr val="555B60"/>
                </a:solidFill>
                <a:latin typeface="Inter"/>
              </a:rPr>
              <a:t>Whose voices structure the March 11 article — and whose appear only as reactions.</a:t>
            </a:r>
          </a:p>
        </p:txBody>
      </p:sp>
      <p:sp>
        <p:nvSpPr>
          <p:cNvPr id="7" name="Rectangle 6"/>
          <p:cNvSpPr/>
          <p:nvPr/>
        </p:nvSpPr>
        <p:spPr>
          <a:xfrm>
            <a:off x="640080" y="2148840"/>
            <a:ext cx="5440680" cy="54864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26480" y="2148840"/>
            <a:ext cx="5440680" cy="5486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48840"/>
            <a:ext cx="5440680" cy="548640"/>
          </a:xfrm>
          <a:prstGeom prst="rect">
            <a:avLst/>
          </a:prstGeom>
          <a:noFill/>
        </p:spPr>
        <p:txBody>
          <a:bodyPr wrap="square" lIns="0" rIns="0" tIns="0" bIns="0" anchor="ctr">
            <a:spAutoFit/>
          </a:bodyPr>
          <a:lstStyle/>
          <a:p>
            <a:pPr algn="ctr">
              <a:lnSpc>
                <a:spcPct val="118000"/>
              </a:lnSpc>
            </a:pPr>
            <a:r>
              <a:rPr sz="1500" b="1" i="1">
                <a:solidFill>
                  <a:srgbClr val="FFFFFF"/>
                </a:solidFill>
                <a:latin typeface="Cambria"/>
              </a:rPr>
              <a:t>Voices that structure the story</a:t>
            </a:r>
          </a:p>
        </p:txBody>
      </p:sp>
      <p:sp>
        <p:nvSpPr>
          <p:cNvPr id="10" name="TextBox 9"/>
          <p:cNvSpPr txBox="1"/>
          <p:nvPr/>
        </p:nvSpPr>
        <p:spPr>
          <a:xfrm>
            <a:off x="6126480" y="2148840"/>
            <a:ext cx="5440680" cy="548640"/>
          </a:xfrm>
          <a:prstGeom prst="rect">
            <a:avLst/>
          </a:prstGeom>
          <a:noFill/>
        </p:spPr>
        <p:txBody>
          <a:bodyPr wrap="square" lIns="0" rIns="0" tIns="0" bIns="0" anchor="ctr">
            <a:spAutoFit/>
          </a:bodyPr>
          <a:lstStyle/>
          <a:p>
            <a:pPr algn="ctr">
              <a:lnSpc>
                <a:spcPct val="118000"/>
              </a:lnSpc>
            </a:pPr>
            <a:r>
              <a:rPr sz="1500" b="1" i="1">
                <a:solidFill>
                  <a:srgbClr val="FFFFFF"/>
                </a:solidFill>
                <a:latin typeface="Cambria"/>
              </a:rPr>
              <a:t>Voices that appear only as reactions  (or not at all)</a:t>
            </a:r>
          </a:p>
        </p:txBody>
      </p:sp>
      <p:sp>
        <p:nvSpPr>
          <p:cNvPr id="11" name="Rectangle 10"/>
          <p:cNvSpPr/>
          <p:nvPr/>
        </p:nvSpPr>
        <p:spPr>
          <a:xfrm>
            <a:off x="640080" y="2697480"/>
            <a:ext cx="5440680" cy="214884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2697480"/>
            <a:ext cx="5440680" cy="214884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880360"/>
            <a:ext cx="4983480" cy="1965960"/>
          </a:xfrm>
          <a:prstGeom prst="rect">
            <a:avLst/>
          </a:prstGeom>
          <a:noFill/>
        </p:spPr>
        <p:txBody>
          <a:bodyPr wrap="square" lIns="0" rIns="0" tIns="0" bIns="0" anchor="t">
            <a:spAutoFit/>
          </a:bodyPr>
          <a:lstStyle/>
          <a:p>
            <a:pPr algn="l">
              <a:lnSpc>
                <a:spcPct val="155000"/>
              </a:lnSpc>
            </a:pPr>
            <a:r>
              <a:rPr sz="1400" b="0" i="0">
                <a:solidFill>
                  <a:srgbClr val="101010"/>
                </a:solidFill>
                <a:latin typeface="Inter"/>
              </a:rPr>
              <a:t>•   The FAA  —  authoritative on its own decision</a:t>
            </a:r>
          </a:p>
          <a:p>
            <a:pPr algn="l">
              <a:lnSpc>
                <a:spcPct val="155000"/>
              </a:lnSpc>
            </a:pPr>
            <a:r>
              <a:rPr sz="1400" b="0" i="0">
                <a:solidFill>
                  <a:srgbClr val="101010"/>
                </a:solidFill>
                <a:latin typeface="Inter"/>
              </a:rPr>
              <a:t>•   Boeing  —  authoritative on its own aircraft</a:t>
            </a:r>
          </a:p>
          <a:p>
            <a:pPr algn="l">
              <a:lnSpc>
                <a:spcPct val="155000"/>
              </a:lnSpc>
            </a:pPr>
            <a:r>
              <a:rPr sz="1400" b="0" i="0">
                <a:solidFill>
                  <a:srgbClr val="101010"/>
                </a:solidFill>
                <a:latin typeface="Inter"/>
              </a:rPr>
              <a:t>•   U.S. airline executives  (Southwest, American, United)</a:t>
            </a:r>
          </a:p>
          <a:p>
            <a:pPr algn="l">
              <a:lnSpc>
                <a:spcPct val="155000"/>
              </a:lnSpc>
            </a:pPr>
            <a:r>
              <a:rPr sz="1400" b="0" i="0">
                <a:solidFill>
                  <a:srgbClr val="101010"/>
                </a:solidFill>
                <a:latin typeface="Inter"/>
              </a:rPr>
              <a:t>•   Anonymous “industry officials”</a:t>
            </a:r>
          </a:p>
        </p:txBody>
      </p:sp>
      <p:sp>
        <p:nvSpPr>
          <p:cNvPr id="14" name="TextBox 13"/>
          <p:cNvSpPr txBox="1"/>
          <p:nvPr/>
        </p:nvSpPr>
        <p:spPr>
          <a:xfrm>
            <a:off x="6446520" y="2880360"/>
            <a:ext cx="4983480" cy="1965960"/>
          </a:xfrm>
          <a:prstGeom prst="rect">
            <a:avLst/>
          </a:prstGeom>
          <a:noFill/>
        </p:spPr>
        <p:txBody>
          <a:bodyPr wrap="square" lIns="0" rIns="0" tIns="0" bIns="0" anchor="t">
            <a:spAutoFit/>
          </a:bodyPr>
          <a:lstStyle/>
          <a:p>
            <a:pPr algn="l">
              <a:lnSpc>
                <a:spcPct val="155000"/>
              </a:lnSpc>
            </a:pPr>
            <a:r>
              <a:rPr sz="1400" b="0" i="0">
                <a:solidFill>
                  <a:srgbClr val="101010"/>
                </a:solidFill>
                <a:latin typeface="Inter"/>
              </a:rPr>
              <a:t>•   Mitt Romney  (calling for grounding)</a:t>
            </a:r>
          </a:p>
          <a:p>
            <a:pPr algn="l">
              <a:lnSpc>
                <a:spcPct val="155000"/>
              </a:lnSpc>
            </a:pPr>
            <a:r>
              <a:rPr sz="1400" b="0" i="0">
                <a:solidFill>
                  <a:srgbClr val="101010"/>
                </a:solidFill>
                <a:latin typeface="Inter"/>
              </a:rPr>
              <a:t>•   Foreign regulators  (China, EU)  —  framed as deviations</a:t>
            </a:r>
          </a:p>
          <a:p>
            <a:pPr algn="l">
              <a:lnSpc>
                <a:spcPct val="155000"/>
              </a:lnSpc>
            </a:pPr>
            <a:r>
              <a:rPr sz="1400" b="0" i="0">
                <a:solidFill>
                  <a:srgbClr val="101010"/>
                </a:solidFill>
                <a:latin typeface="Inter"/>
              </a:rPr>
              <a:t>•   Victims' families  —  absent</a:t>
            </a:r>
          </a:p>
          <a:p>
            <a:pPr algn="l">
              <a:lnSpc>
                <a:spcPct val="155000"/>
              </a:lnSpc>
            </a:pPr>
            <a:r>
              <a:rPr sz="1400" b="0" i="0">
                <a:solidFill>
                  <a:srgbClr val="101010"/>
                </a:solidFill>
                <a:latin typeface="Inter"/>
              </a:rPr>
              <a:t>•   Ethiopian / Indonesian regulators  —  absent</a:t>
            </a:r>
          </a:p>
        </p:txBody>
      </p:sp>
      <p:sp>
        <p:nvSpPr>
          <p:cNvPr id="15" name="Rectangle 14"/>
          <p:cNvSpPr/>
          <p:nvPr/>
        </p:nvSpPr>
        <p:spPr>
          <a:xfrm>
            <a:off x="640080" y="5212080"/>
            <a:ext cx="10908792" cy="82296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376672"/>
            <a:ext cx="10177272" cy="548640"/>
          </a:xfrm>
          <a:prstGeom prst="rect">
            <a:avLst/>
          </a:prstGeom>
          <a:noFill/>
        </p:spPr>
        <p:txBody>
          <a:bodyPr wrap="square" lIns="0" rIns="0" tIns="0" bIns="0" anchor="t">
            <a:spAutoFit/>
          </a:bodyPr>
          <a:lstStyle/>
          <a:p>
            <a:pPr algn="l">
              <a:lnSpc>
                <a:spcPct val="125000"/>
              </a:lnSpc>
            </a:pPr>
            <a:r>
              <a:rPr sz="1800" b="0" i="1" u="none">
                <a:solidFill>
                  <a:srgbClr val="FFFFFF"/>
                </a:solidFill>
                <a:latin typeface="Cambria"/>
              </a:rPr>
              <a:t>“Officials have and give the facts; reporters merely get them.”</a:t>
            </a:r>
          </a:p>
          <a:p>
            <a:pPr algn="l">
              <a:lnSpc>
                <a:spcPct val="125000"/>
              </a:lnSpc>
            </a:pPr>
            <a:r>
              <a:rPr sz="600" b="0" i="0" u="none">
                <a:solidFill>
                  <a:srgbClr val="101010"/>
                </a:solidFill>
                <a:latin typeface="Inter"/>
              </a:rPr>
              <a:t> </a:t>
            </a:r>
          </a:p>
          <a:p>
            <a:pPr algn="l">
              <a:lnSpc>
                <a:spcPct val="125000"/>
              </a:lnSpc>
            </a:pPr>
            <a:r>
              <a:rPr sz="1200" b="0" i="0" u="none">
                <a:solidFill>
                  <a:srgbClr val="CFD6DE"/>
                </a:solidFill>
                <a:latin typeface="Inter"/>
              </a:rPr>
              <a:t>— Mark Fishman, quoted in Manufacturing Consent, p. 19</a:t>
            </a:r>
          </a:p>
        </p:txBody>
      </p:sp>
      <p:sp>
        <p:nvSpPr>
          <p:cNvPr id="17" name="TextBox 16"/>
          <p:cNvSpPr txBox="1"/>
          <p:nvPr/>
        </p:nvSpPr>
        <p:spPr>
          <a:xfrm>
            <a:off x="640080" y="6263640"/>
            <a:ext cx="10908792" cy="365760"/>
          </a:xfrm>
          <a:prstGeom prst="rect">
            <a:avLst/>
          </a:prstGeom>
          <a:noFill/>
        </p:spPr>
        <p:txBody>
          <a:bodyPr wrap="square" lIns="0" rIns="0" tIns="0" bIns="0" anchor="t">
            <a:spAutoFit/>
          </a:bodyPr>
          <a:lstStyle/>
          <a:p>
            <a:pPr algn="ctr">
              <a:lnSpc>
                <a:spcPct val="118000"/>
              </a:lnSpc>
            </a:pPr>
            <a:r>
              <a:rPr sz="1200" b="0" i="1">
                <a:solidFill>
                  <a:srgbClr val="555B60"/>
                </a:solidFill>
                <a:latin typeface="Inter"/>
              </a:rPr>
              <a:t>Six days later, Dominic Gates (Seattle Times) broke FAA self-certification.  The story was reportable on Mar 11 — it just broke the beat.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FILTER 4</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Flak as Anticipatory Discipline</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783080"/>
            <a:ext cx="3611880" cy="5029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611880" cy="502920"/>
          </a:xfrm>
          <a:prstGeom prst="rect">
            <a:avLst/>
          </a:prstGeom>
          <a:noFill/>
        </p:spPr>
        <p:txBody>
          <a:bodyPr wrap="square" lIns="0" rIns="0" tIns="0" bIns="0" anchor="ctr">
            <a:spAutoFit/>
          </a:bodyPr>
          <a:lstStyle/>
          <a:p>
            <a:pPr algn="ctr">
              <a:lnSpc>
                <a:spcPct val="118000"/>
              </a:lnSpc>
            </a:pPr>
            <a:r>
              <a:rPr sz="1400" b="1" i="1">
                <a:solidFill>
                  <a:srgbClr val="FFFFFF"/>
                </a:solidFill>
                <a:latin typeface="Cambria"/>
              </a:rPr>
              <a:t>1.  Softening inside the article</a:t>
            </a:r>
          </a:p>
        </p:txBody>
      </p:sp>
      <p:sp>
        <p:nvSpPr>
          <p:cNvPr id="8" name="Rectangle 7"/>
          <p:cNvSpPr/>
          <p:nvPr/>
        </p:nvSpPr>
        <p:spPr>
          <a:xfrm>
            <a:off x="640080" y="2286000"/>
            <a:ext cx="3611880" cy="288036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468880"/>
            <a:ext cx="3154680" cy="365760"/>
          </a:xfrm>
          <a:prstGeom prst="rect">
            <a:avLst/>
          </a:prstGeom>
          <a:noFill/>
        </p:spPr>
        <p:txBody>
          <a:bodyPr wrap="square" lIns="0" rIns="0" tIns="0" bIns="0" anchor="t">
            <a:spAutoFit/>
          </a:bodyPr>
          <a:lstStyle/>
          <a:p>
            <a:pPr algn="l">
              <a:lnSpc>
                <a:spcPct val="118000"/>
              </a:lnSpc>
            </a:pPr>
            <a:r>
              <a:rPr sz="1300" b="1" i="1">
                <a:solidFill>
                  <a:srgbClr val="C8102E"/>
                </a:solidFill>
                <a:latin typeface="Cambria"/>
              </a:rPr>
              <a:t>“deadly crash”</a:t>
            </a:r>
          </a:p>
        </p:txBody>
      </p:sp>
      <p:sp>
        <p:nvSpPr>
          <p:cNvPr id="10" name="TextBox 9"/>
          <p:cNvSpPr txBox="1"/>
          <p:nvPr/>
        </p:nvSpPr>
        <p:spPr>
          <a:xfrm>
            <a:off x="868680" y="2834640"/>
            <a:ext cx="3154680" cy="822960"/>
          </a:xfrm>
          <a:prstGeom prst="rect">
            <a:avLst/>
          </a:prstGeom>
          <a:noFill/>
        </p:spPr>
        <p:txBody>
          <a:bodyPr wrap="square" lIns="0" rIns="0" tIns="0" bIns="0" anchor="t">
            <a:spAutoFit/>
          </a:bodyPr>
          <a:lstStyle/>
          <a:p>
            <a:pPr algn="l">
              <a:lnSpc>
                <a:spcPct val="130000"/>
              </a:lnSpc>
            </a:pPr>
            <a:r>
              <a:rPr sz="1100" b="0" i="0">
                <a:solidFill>
                  <a:srgbClr val="555B60"/>
                </a:solidFill>
                <a:latin typeface="Inter"/>
              </a:rPr>
              <a:t>instead of</a:t>
            </a:r>
          </a:p>
          <a:p>
            <a:pPr algn="l">
              <a:lnSpc>
                <a:spcPct val="130000"/>
              </a:lnSpc>
            </a:pPr>
            <a:r>
              <a:rPr sz="1100" b="0" i="0">
                <a:solidFill>
                  <a:srgbClr val="555B60"/>
                </a:solidFill>
                <a:latin typeface="Inter"/>
              </a:rPr>
              <a:t>“second mass-fatality crash of the same</a:t>
            </a:r>
          </a:p>
          <a:p>
            <a:pPr algn="l">
              <a:lnSpc>
                <a:spcPct val="130000"/>
              </a:lnSpc>
            </a:pPr>
            <a:r>
              <a:rPr sz="1100" b="0" i="0">
                <a:solidFill>
                  <a:srgbClr val="555B60"/>
                </a:solidFill>
                <a:latin typeface="Inter"/>
              </a:rPr>
              <a:t>aircraft in five months”</a:t>
            </a:r>
          </a:p>
        </p:txBody>
      </p:sp>
      <p:sp>
        <p:nvSpPr>
          <p:cNvPr id="11" name="TextBox 10"/>
          <p:cNvSpPr txBox="1"/>
          <p:nvPr/>
        </p:nvSpPr>
        <p:spPr>
          <a:xfrm>
            <a:off x="868680" y="3794760"/>
            <a:ext cx="3154680" cy="365760"/>
          </a:xfrm>
          <a:prstGeom prst="rect">
            <a:avLst/>
          </a:prstGeom>
          <a:noFill/>
        </p:spPr>
        <p:txBody>
          <a:bodyPr wrap="square" lIns="0" rIns="0" tIns="0" bIns="0" anchor="t">
            <a:spAutoFit/>
          </a:bodyPr>
          <a:lstStyle/>
          <a:p>
            <a:pPr algn="l">
              <a:lnSpc>
                <a:spcPct val="118000"/>
              </a:lnSpc>
            </a:pPr>
            <a:r>
              <a:rPr sz="1300" b="1" i="1">
                <a:solidFill>
                  <a:srgbClr val="C8102E"/>
                </a:solidFill>
                <a:latin typeface="Cambria"/>
              </a:rPr>
              <a:t>“The FAA’s decision”</a:t>
            </a:r>
          </a:p>
        </p:txBody>
      </p:sp>
      <p:sp>
        <p:nvSpPr>
          <p:cNvPr id="12" name="TextBox 11"/>
          <p:cNvSpPr txBox="1"/>
          <p:nvPr/>
        </p:nvSpPr>
        <p:spPr>
          <a:xfrm>
            <a:off x="868680" y="4160520"/>
            <a:ext cx="3154680" cy="822960"/>
          </a:xfrm>
          <a:prstGeom prst="rect">
            <a:avLst/>
          </a:prstGeom>
          <a:noFill/>
        </p:spPr>
        <p:txBody>
          <a:bodyPr wrap="square" lIns="0" rIns="0" tIns="0" bIns="0" anchor="t">
            <a:spAutoFit/>
          </a:bodyPr>
          <a:lstStyle/>
          <a:p>
            <a:pPr algn="l">
              <a:lnSpc>
                <a:spcPct val="130000"/>
              </a:lnSpc>
            </a:pPr>
            <a:r>
              <a:rPr sz="1100" b="0" i="0">
                <a:solidFill>
                  <a:srgbClr val="555B60"/>
                </a:solidFill>
                <a:latin typeface="Inter"/>
              </a:rPr>
              <a:t>instead of</a:t>
            </a:r>
          </a:p>
          <a:p>
            <a:pPr algn="l">
              <a:lnSpc>
                <a:spcPct val="130000"/>
              </a:lnSpc>
            </a:pPr>
            <a:r>
              <a:rPr sz="1100" b="0" i="0">
                <a:solidFill>
                  <a:srgbClr val="555B60"/>
                </a:solidFill>
                <a:latin typeface="Inter"/>
              </a:rPr>
              <a:t>“the regulator that delegated certification</a:t>
            </a:r>
          </a:p>
          <a:p>
            <a:pPr algn="l">
              <a:lnSpc>
                <a:spcPct val="130000"/>
              </a:lnSpc>
            </a:pPr>
            <a:r>
              <a:rPr sz="1100" b="0" i="0">
                <a:solidFill>
                  <a:srgbClr val="555B60"/>
                </a:solidFill>
                <a:latin typeface="Inter"/>
              </a:rPr>
              <a:t>to the company it was regulating”</a:t>
            </a:r>
          </a:p>
        </p:txBody>
      </p:sp>
      <p:sp>
        <p:nvSpPr>
          <p:cNvPr id="13" name="Rectangle 12"/>
          <p:cNvSpPr/>
          <p:nvPr/>
        </p:nvSpPr>
        <p:spPr>
          <a:xfrm>
            <a:off x="4389120" y="1783080"/>
            <a:ext cx="3611880" cy="5029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1783080"/>
            <a:ext cx="3611880" cy="502920"/>
          </a:xfrm>
          <a:prstGeom prst="rect">
            <a:avLst/>
          </a:prstGeom>
          <a:noFill/>
        </p:spPr>
        <p:txBody>
          <a:bodyPr wrap="square" lIns="0" rIns="0" tIns="0" bIns="0" anchor="ctr">
            <a:spAutoFit/>
          </a:bodyPr>
          <a:lstStyle/>
          <a:p>
            <a:pPr algn="ctr">
              <a:lnSpc>
                <a:spcPct val="118000"/>
              </a:lnSpc>
            </a:pPr>
            <a:r>
              <a:rPr sz="1400" b="1" i="1">
                <a:solidFill>
                  <a:srgbClr val="FFFFFF"/>
                </a:solidFill>
                <a:latin typeface="Cambria"/>
              </a:rPr>
              <a:t>2.  Compare:  same beat, different frame</a:t>
            </a:r>
          </a:p>
        </p:txBody>
      </p:sp>
      <p:sp>
        <p:nvSpPr>
          <p:cNvPr id="15" name="Rectangle 14"/>
          <p:cNvSpPr/>
          <p:nvPr/>
        </p:nvSpPr>
        <p:spPr>
          <a:xfrm>
            <a:off x="4389120" y="2286000"/>
            <a:ext cx="3611880" cy="288036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0" y="2468880"/>
            <a:ext cx="3246120" cy="1143000"/>
          </a:xfrm>
          <a:prstGeom prst="rect">
            <a:avLst/>
          </a:prstGeom>
          <a:solidFill>
            <a:srgbClr val="FFFFFF"/>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63440" y="2560320"/>
            <a:ext cx="3063240" cy="274320"/>
          </a:xfrm>
          <a:prstGeom prst="rect">
            <a:avLst/>
          </a:prstGeom>
          <a:noFill/>
        </p:spPr>
        <p:txBody>
          <a:bodyPr wrap="square" lIns="0" rIns="0" tIns="0" bIns="0" anchor="t">
            <a:spAutoFit/>
          </a:bodyPr>
          <a:lstStyle/>
          <a:p>
            <a:pPr algn="l">
              <a:lnSpc>
                <a:spcPct val="118000"/>
              </a:lnSpc>
            </a:pPr>
            <a:r>
              <a:rPr sz="900" b="1" i="0">
                <a:solidFill>
                  <a:srgbClr val="555B60"/>
                </a:solidFill>
                <a:latin typeface="Inter"/>
              </a:rPr>
              <a:t>WSJ  —  Mar 11, 2019</a:t>
            </a:r>
          </a:p>
        </p:txBody>
      </p:sp>
      <p:sp>
        <p:nvSpPr>
          <p:cNvPr id="18" name="TextBox 17"/>
          <p:cNvSpPr txBox="1"/>
          <p:nvPr/>
        </p:nvSpPr>
        <p:spPr>
          <a:xfrm>
            <a:off x="4663440" y="2788920"/>
            <a:ext cx="3063240" cy="914400"/>
          </a:xfrm>
          <a:prstGeom prst="rect">
            <a:avLst/>
          </a:prstGeom>
          <a:noFill/>
        </p:spPr>
        <p:txBody>
          <a:bodyPr wrap="square" lIns="0" rIns="0" tIns="0" bIns="0" anchor="t">
            <a:spAutoFit/>
          </a:bodyPr>
          <a:lstStyle/>
          <a:p>
            <a:pPr algn="l">
              <a:lnSpc>
                <a:spcPct val="115000"/>
              </a:lnSpc>
            </a:pPr>
            <a:r>
              <a:rPr sz="1100" b="1" i="0">
                <a:solidFill>
                  <a:srgbClr val="101010"/>
                </a:solidFill>
                <a:latin typeface="Cambria"/>
              </a:rPr>
              <a:t>FAA Has No Current Plans</a:t>
            </a:r>
          </a:p>
          <a:p>
            <a:pPr algn="l">
              <a:lnSpc>
                <a:spcPct val="115000"/>
              </a:lnSpc>
            </a:pPr>
            <a:r>
              <a:rPr sz="1100" b="1" i="0">
                <a:solidFill>
                  <a:srgbClr val="101010"/>
                </a:solidFill>
                <a:latin typeface="Cambria"/>
              </a:rPr>
              <a:t>to Ground Boeing’s 737 MAX</a:t>
            </a:r>
          </a:p>
          <a:p>
            <a:pPr algn="l">
              <a:lnSpc>
                <a:spcPct val="115000"/>
              </a:lnSpc>
            </a:pPr>
            <a:r>
              <a:rPr sz="1100" b="1" i="0">
                <a:solidFill>
                  <a:srgbClr val="101010"/>
                </a:solidFill>
                <a:latin typeface="Cambria"/>
              </a:rPr>
              <a:t>After Deadly Crash</a:t>
            </a:r>
          </a:p>
        </p:txBody>
      </p:sp>
      <p:sp>
        <p:nvSpPr>
          <p:cNvPr id="19" name="Rectangle 18"/>
          <p:cNvSpPr/>
          <p:nvPr/>
        </p:nvSpPr>
        <p:spPr>
          <a:xfrm>
            <a:off x="4572000" y="3749040"/>
            <a:ext cx="3246120" cy="1143000"/>
          </a:xfrm>
          <a:prstGeom prst="rect">
            <a:avLst/>
          </a:prstGeom>
          <a:solidFill>
            <a:srgbClr val="FFFFFF"/>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3840480"/>
            <a:ext cx="3063240" cy="274320"/>
          </a:xfrm>
          <a:prstGeom prst="rect">
            <a:avLst/>
          </a:prstGeom>
          <a:noFill/>
        </p:spPr>
        <p:txBody>
          <a:bodyPr wrap="square" lIns="0" rIns="0" tIns="0" bIns="0" anchor="t">
            <a:spAutoFit/>
          </a:bodyPr>
          <a:lstStyle/>
          <a:p>
            <a:pPr algn="l">
              <a:lnSpc>
                <a:spcPct val="118000"/>
              </a:lnSpc>
            </a:pPr>
            <a:r>
              <a:rPr sz="900" b="1" i="0">
                <a:solidFill>
                  <a:srgbClr val="555B60"/>
                </a:solidFill>
                <a:latin typeface="Inter"/>
              </a:rPr>
              <a:t>Seattle Times  —  Mar 17, 2019</a:t>
            </a:r>
          </a:p>
        </p:txBody>
      </p:sp>
      <p:sp>
        <p:nvSpPr>
          <p:cNvPr id="21" name="TextBox 20"/>
          <p:cNvSpPr txBox="1"/>
          <p:nvPr/>
        </p:nvSpPr>
        <p:spPr>
          <a:xfrm>
            <a:off x="4663440" y="4069080"/>
            <a:ext cx="3063240" cy="914400"/>
          </a:xfrm>
          <a:prstGeom prst="rect">
            <a:avLst/>
          </a:prstGeom>
          <a:noFill/>
        </p:spPr>
        <p:txBody>
          <a:bodyPr wrap="square" lIns="0" rIns="0" tIns="0" bIns="0" anchor="t">
            <a:spAutoFit/>
          </a:bodyPr>
          <a:lstStyle/>
          <a:p>
            <a:pPr algn="l">
              <a:lnSpc>
                <a:spcPct val="115000"/>
              </a:lnSpc>
            </a:pPr>
            <a:r>
              <a:rPr sz="1000" b="1" i="0">
                <a:solidFill>
                  <a:srgbClr val="101010"/>
                </a:solidFill>
                <a:latin typeface="Cambria"/>
              </a:rPr>
              <a:t>Flawed Analysis, Failed Oversight:</a:t>
            </a:r>
          </a:p>
          <a:p>
            <a:pPr algn="l">
              <a:lnSpc>
                <a:spcPct val="115000"/>
              </a:lnSpc>
            </a:pPr>
            <a:r>
              <a:rPr sz="1000" b="1" i="0">
                <a:solidFill>
                  <a:srgbClr val="101010"/>
                </a:solidFill>
                <a:latin typeface="Cambria"/>
              </a:rPr>
              <a:t>How Boeing, FAA Certified the</a:t>
            </a:r>
          </a:p>
          <a:p>
            <a:pPr algn="l">
              <a:lnSpc>
                <a:spcPct val="115000"/>
              </a:lnSpc>
            </a:pPr>
            <a:r>
              <a:rPr sz="1000" b="1" i="0">
                <a:solidFill>
                  <a:srgbClr val="101010"/>
                </a:solidFill>
                <a:latin typeface="Cambria"/>
              </a:rPr>
              <a:t>Suspect 737 MAX Flight Control System</a:t>
            </a:r>
          </a:p>
        </p:txBody>
      </p:sp>
      <p:sp>
        <p:nvSpPr>
          <p:cNvPr id="22" name="TextBox 21"/>
          <p:cNvSpPr txBox="1"/>
          <p:nvPr/>
        </p:nvSpPr>
        <p:spPr>
          <a:xfrm>
            <a:off x="4663440" y="4846320"/>
            <a:ext cx="3063240" cy="274320"/>
          </a:xfrm>
          <a:prstGeom prst="rect">
            <a:avLst/>
          </a:prstGeom>
          <a:noFill/>
        </p:spPr>
        <p:txBody>
          <a:bodyPr wrap="square" lIns="0" rIns="0" tIns="0" bIns="0" anchor="t">
            <a:spAutoFit/>
          </a:bodyPr>
          <a:lstStyle/>
          <a:p>
            <a:pPr algn="l">
              <a:lnSpc>
                <a:spcPct val="118000"/>
              </a:lnSpc>
            </a:pPr>
            <a:r>
              <a:rPr sz="900" b="0" i="1">
                <a:solidFill>
                  <a:srgbClr val="C8102E"/>
                </a:solidFill>
                <a:latin typeface="Inter"/>
              </a:rPr>
              <a:t>Dominic Gates  —  Pulitzer Prize, 2020</a:t>
            </a:r>
          </a:p>
        </p:txBody>
      </p:sp>
      <p:sp>
        <p:nvSpPr>
          <p:cNvPr id="23" name="Rectangle 22"/>
          <p:cNvSpPr/>
          <p:nvPr/>
        </p:nvSpPr>
        <p:spPr>
          <a:xfrm>
            <a:off x="8138160" y="1783080"/>
            <a:ext cx="3611880" cy="5029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1783080"/>
            <a:ext cx="3611880" cy="502920"/>
          </a:xfrm>
          <a:prstGeom prst="rect">
            <a:avLst/>
          </a:prstGeom>
          <a:noFill/>
        </p:spPr>
        <p:txBody>
          <a:bodyPr wrap="square" lIns="0" rIns="0" tIns="0" bIns="0" anchor="ctr">
            <a:spAutoFit/>
          </a:bodyPr>
          <a:lstStyle/>
          <a:p>
            <a:pPr algn="ctr">
              <a:lnSpc>
                <a:spcPct val="118000"/>
              </a:lnSpc>
            </a:pPr>
            <a:r>
              <a:rPr sz="1400" b="1" i="1">
                <a:solidFill>
                  <a:srgbClr val="FFFFFF"/>
                </a:solidFill>
                <a:latin typeface="Cambria"/>
              </a:rPr>
              <a:t>3.  Boeing’s apparatus, Mar 2019</a:t>
            </a:r>
          </a:p>
        </p:txBody>
      </p:sp>
      <p:sp>
        <p:nvSpPr>
          <p:cNvPr id="25" name="Rectangle 24"/>
          <p:cNvSpPr/>
          <p:nvPr/>
        </p:nvSpPr>
        <p:spPr>
          <a:xfrm>
            <a:off x="8138160" y="2286000"/>
            <a:ext cx="3611880" cy="288036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339328" y="2560320"/>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468880"/>
            <a:ext cx="3017520" cy="320040"/>
          </a:xfrm>
          <a:prstGeom prst="rect">
            <a:avLst/>
          </a:prstGeom>
          <a:noFill/>
        </p:spPr>
        <p:txBody>
          <a:bodyPr wrap="square" lIns="0" rIns="0" tIns="0" bIns="0" anchor="t">
            <a:spAutoFit/>
          </a:bodyPr>
          <a:lstStyle/>
          <a:p>
            <a:pPr algn="l">
              <a:lnSpc>
                <a:spcPct val="115000"/>
              </a:lnSpc>
            </a:pPr>
            <a:r>
              <a:rPr sz="1200" b="1" i="0">
                <a:solidFill>
                  <a:srgbClr val="101010"/>
                </a:solidFill>
                <a:latin typeface="Inter"/>
              </a:rPr>
              <a:t>White-shoe PR firms on retainer</a:t>
            </a:r>
          </a:p>
        </p:txBody>
      </p:sp>
      <p:sp>
        <p:nvSpPr>
          <p:cNvPr id="28" name="Oval 27"/>
          <p:cNvSpPr/>
          <p:nvPr/>
        </p:nvSpPr>
        <p:spPr>
          <a:xfrm>
            <a:off x="8339328" y="2971800"/>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0" y="2880360"/>
            <a:ext cx="3017520" cy="320040"/>
          </a:xfrm>
          <a:prstGeom prst="rect">
            <a:avLst/>
          </a:prstGeom>
          <a:noFill/>
        </p:spPr>
        <p:txBody>
          <a:bodyPr wrap="square" lIns="0" rIns="0" tIns="0" bIns="0" anchor="t">
            <a:spAutoFit/>
          </a:bodyPr>
          <a:lstStyle/>
          <a:p>
            <a:pPr algn="l">
              <a:lnSpc>
                <a:spcPct val="115000"/>
              </a:lnSpc>
            </a:pPr>
            <a:r>
              <a:rPr sz="1200" b="1" i="0">
                <a:solidFill>
                  <a:srgbClr val="101010"/>
                </a:solidFill>
                <a:latin typeface="Inter"/>
              </a:rPr>
              <a:t>Defamation lawyers on standby</a:t>
            </a:r>
          </a:p>
        </p:txBody>
      </p:sp>
      <p:sp>
        <p:nvSpPr>
          <p:cNvPr id="30" name="Oval 29"/>
          <p:cNvSpPr/>
          <p:nvPr/>
        </p:nvSpPr>
        <p:spPr>
          <a:xfrm>
            <a:off x="8339328" y="3383280"/>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3291840"/>
            <a:ext cx="3017520" cy="320040"/>
          </a:xfrm>
          <a:prstGeom prst="rect">
            <a:avLst/>
          </a:prstGeom>
          <a:noFill/>
        </p:spPr>
        <p:txBody>
          <a:bodyPr wrap="square" lIns="0" rIns="0" tIns="0" bIns="0" anchor="t">
            <a:spAutoFit/>
          </a:bodyPr>
          <a:lstStyle/>
          <a:p>
            <a:pPr algn="l">
              <a:lnSpc>
                <a:spcPct val="115000"/>
              </a:lnSpc>
            </a:pPr>
            <a:r>
              <a:rPr sz="1200" b="1" i="0">
                <a:solidFill>
                  <a:srgbClr val="101010"/>
                </a:solidFill>
                <a:latin typeface="Inter"/>
              </a:rPr>
              <a:t>Top-tier defense contractor</a:t>
            </a:r>
          </a:p>
        </p:txBody>
      </p:sp>
      <p:sp>
        <p:nvSpPr>
          <p:cNvPr id="32" name="TextBox 31"/>
          <p:cNvSpPr txBox="1"/>
          <p:nvPr/>
        </p:nvSpPr>
        <p:spPr>
          <a:xfrm>
            <a:off x="8595360" y="3584448"/>
            <a:ext cx="3017520" cy="502920"/>
          </a:xfrm>
          <a:prstGeom prst="rect">
            <a:avLst/>
          </a:prstGeom>
          <a:noFill/>
        </p:spPr>
        <p:txBody>
          <a:bodyPr wrap="square" lIns="0" rIns="0" tIns="0" bIns="0" anchor="t">
            <a:spAutoFit/>
          </a:bodyPr>
          <a:lstStyle/>
          <a:p>
            <a:pPr algn="l">
              <a:lnSpc>
                <a:spcPct val="120000"/>
              </a:lnSpc>
            </a:pPr>
            <a:r>
              <a:rPr sz="1000" b="0" i="1">
                <a:solidFill>
                  <a:srgbClr val="555B60"/>
                </a:solidFill>
                <a:latin typeface="Inter"/>
              </a:rPr>
              <a:t>→ Pentagon access</a:t>
            </a:r>
          </a:p>
        </p:txBody>
      </p:sp>
      <p:sp>
        <p:nvSpPr>
          <p:cNvPr id="33" name="Oval 32"/>
          <p:cNvSpPr/>
          <p:nvPr/>
        </p:nvSpPr>
        <p:spPr>
          <a:xfrm>
            <a:off x="8339328" y="4160520"/>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0" y="4069080"/>
            <a:ext cx="3017520" cy="320040"/>
          </a:xfrm>
          <a:prstGeom prst="rect">
            <a:avLst/>
          </a:prstGeom>
          <a:noFill/>
        </p:spPr>
        <p:txBody>
          <a:bodyPr wrap="square" lIns="0" rIns="0" tIns="0" bIns="0" anchor="t">
            <a:spAutoFit/>
          </a:bodyPr>
          <a:lstStyle/>
          <a:p>
            <a:pPr algn="l">
              <a:lnSpc>
                <a:spcPct val="115000"/>
              </a:lnSpc>
            </a:pPr>
            <a:r>
              <a:rPr sz="1200" b="1" i="0">
                <a:solidFill>
                  <a:srgbClr val="101010"/>
                </a:solidFill>
                <a:latin typeface="Inter"/>
              </a:rPr>
              <a:t>Patrick Shanahan</a:t>
            </a:r>
          </a:p>
        </p:txBody>
      </p:sp>
      <p:sp>
        <p:nvSpPr>
          <p:cNvPr id="35" name="TextBox 34"/>
          <p:cNvSpPr txBox="1"/>
          <p:nvPr/>
        </p:nvSpPr>
        <p:spPr>
          <a:xfrm>
            <a:off x="8595360" y="4361688"/>
            <a:ext cx="3017520" cy="502920"/>
          </a:xfrm>
          <a:prstGeom prst="rect">
            <a:avLst/>
          </a:prstGeom>
          <a:noFill/>
        </p:spPr>
        <p:txBody>
          <a:bodyPr wrap="square" lIns="0" rIns="0" tIns="0" bIns="0" anchor="t">
            <a:spAutoFit/>
          </a:bodyPr>
          <a:lstStyle/>
          <a:p>
            <a:pPr algn="l">
              <a:lnSpc>
                <a:spcPct val="120000"/>
              </a:lnSpc>
            </a:pPr>
            <a:r>
              <a:rPr sz="1000" b="0" i="1">
                <a:solidFill>
                  <a:srgbClr val="555B60"/>
                </a:solidFill>
                <a:latin typeface="Inter"/>
              </a:rPr>
              <a:t>30-year Boeing executive,</a:t>
            </a:r>
          </a:p>
          <a:p>
            <a:pPr algn="l">
              <a:lnSpc>
                <a:spcPct val="120000"/>
              </a:lnSpc>
            </a:pPr>
            <a:r>
              <a:rPr sz="1000" b="0" i="1">
                <a:solidFill>
                  <a:srgbClr val="555B60"/>
                </a:solidFill>
                <a:latin typeface="Inter"/>
              </a:rPr>
              <a:t>Acting Defense Sec. (Jan–Jun 2019)</a:t>
            </a:r>
          </a:p>
        </p:txBody>
      </p:sp>
      <p:sp>
        <p:nvSpPr>
          <p:cNvPr id="36" name="Oval 35"/>
          <p:cNvSpPr/>
          <p:nvPr/>
        </p:nvSpPr>
        <p:spPr>
          <a:xfrm>
            <a:off x="8339328" y="4937760"/>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0" y="4846320"/>
            <a:ext cx="3017520" cy="320040"/>
          </a:xfrm>
          <a:prstGeom prst="rect">
            <a:avLst/>
          </a:prstGeom>
          <a:noFill/>
        </p:spPr>
        <p:txBody>
          <a:bodyPr wrap="square" lIns="0" rIns="0" tIns="0" bIns="0" anchor="t">
            <a:spAutoFit/>
          </a:bodyPr>
          <a:lstStyle/>
          <a:p>
            <a:pPr algn="l">
              <a:lnSpc>
                <a:spcPct val="115000"/>
              </a:lnSpc>
            </a:pPr>
            <a:r>
              <a:rPr sz="1200" b="1" i="0">
                <a:solidFill>
                  <a:srgbClr val="101010"/>
                </a:solidFill>
                <a:latin typeface="Inter"/>
              </a:rPr>
              <a:t>Congressional offices in every Boeing state</a:t>
            </a:r>
          </a:p>
        </p:txBody>
      </p:sp>
      <p:sp>
        <p:nvSpPr>
          <p:cNvPr id="38" name="Rectangle 37"/>
          <p:cNvSpPr/>
          <p:nvPr/>
        </p:nvSpPr>
        <p:spPr>
          <a:xfrm>
            <a:off x="640080" y="5303520"/>
            <a:ext cx="10908792" cy="9601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468112"/>
            <a:ext cx="10177272" cy="685800"/>
          </a:xfrm>
          <a:prstGeom prst="rect">
            <a:avLst/>
          </a:prstGeom>
          <a:noFill/>
        </p:spPr>
        <p:txBody>
          <a:bodyPr wrap="square" lIns="0" rIns="0" tIns="0" bIns="0" anchor="t">
            <a:spAutoFit/>
          </a:bodyPr>
          <a:lstStyle/>
          <a:p>
            <a:pPr algn="l">
              <a:lnSpc>
                <a:spcPct val="125000"/>
              </a:lnSpc>
            </a:pPr>
            <a:r>
              <a:rPr sz="1800" b="0" i="1" u="none">
                <a:solidFill>
                  <a:srgbClr val="FFFFFF"/>
                </a:solidFill>
                <a:latin typeface="Cambria"/>
              </a:rPr>
              <a:t>“If certain kinds of fact, position, or program are thought likely to elicit flak, this prospect can be a deterrent.”</a:t>
            </a:r>
          </a:p>
          <a:p>
            <a:pPr algn="l">
              <a:lnSpc>
                <a:spcPct val="125000"/>
              </a:lnSpc>
            </a:pPr>
            <a:r>
              <a:rPr sz="600" b="0" i="0" u="none">
                <a:solidFill>
                  <a:srgbClr val="101010"/>
                </a:solidFill>
                <a:latin typeface="Inter"/>
              </a:rPr>
              <a:t> </a:t>
            </a:r>
          </a:p>
          <a:p>
            <a:pPr algn="l">
              <a:lnSpc>
                <a:spcPct val="125000"/>
              </a:lnSpc>
            </a:pPr>
            <a:r>
              <a:rPr sz="1200" b="0" i="0" u="none">
                <a:solidFill>
                  <a:srgbClr val="CFD6DE"/>
                </a:solidFill>
                <a:latin typeface="Inter"/>
              </a:rPr>
              <a:t>— Herman &amp; Chomsky, p. 26</a:t>
            </a:r>
          </a:p>
        </p:txBody>
      </p:sp>
      <p:sp>
        <p:nvSpPr>
          <p:cNvPr id="40" name="TextBox 39"/>
          <p:cNvSpPr txBox="1"/>
          <p:nvPr/>
        </p:nvSpPr>
        <p:spPr>
          <a:xfrm>
            <a:off x="640080" y="6400800"/>
            <a:ext cx="10908792" cy="365760"/>
          </a:xfrm>
          <a:prstGeom prst="rect">
            <a:avLst/>
          </a:prstGeom>
          <a:noFill/>
        </p:spPr>
        <p:txBody>
          <a:bodyPr wrap="square" lIns="0" rIns="0" tIns="0" bIns="0" anchor="t">
            <a:spAutoFit/>
          </a:bodyPr>
          <a:lstStyle/>
          <a:p>
            <a:pPr algn="ctr">
              <a:lnSpc>
                <a:spcPct val="118000"/>
              </a:lnSpc>
            </a:pPr>
            <a:r>
              <a:rPr sz="1600" b="1" i="1">
                <a:solidFill>
                  <a:srgbClr val="C8102E"/>
                </a:solidFill>
                <a:latin typeface="Cambria"/>
              </a:rPr>
              <a:t>Flak doesn’t have to land.  It has to be anticipated.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32004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FILTER 5</a:t>
            </a:r>
          </a:p>
        </p:txBody>
      </p:sp>
      <p:sp>
        <p:nvSpPr>
          <p:cNvPr id="4" name="TextBox 3"/>
          <p:cNvSpPr txBox="1"/>
          <p:nvPr/>
        </p:nvSpPr>
        <p:spPr>
          <a:xfrm>
            <a:off x="640080" y="713232"/>
            <a:ext cx="10972800" cy="777240"/>
          </a:xfrm>
          <a:prstGeom prst="rect">
            <a:avLst/>
          </a:prstGeom>
          <a:noFill/>
        </p:spPr>
        <p:txBody>
          <a:bodyPr wrap="square" lIns="0" rIns="0" tIns="0" bIns="0" anchor="t">
            <a:spAutoFit/>
          </a:bodyPr>
          <a:lstStyle/>
          <a:p>
            <a:pPr algn="l">
              <a:lnSpc>
                <a:spcPct val="118000"/>
              </a:lnSpc>
            </a:pPr>
            <a:r>
              <a:rPr sz="3600" b="1" i="0">
                <a:solidFill>
                  <a:srgbClr val="101010"/>
                </a:solidFill>
                <a:latin typeface="Cambria"/>
              </a:rPr>
              <a:t>The Updated Ideology</a:t>
            </a:r>
          </a:p>
        </p:txBody>
      </p:sp>
      <p:sp>
        <p:nvSpPr>
          <p:cNvPr id="5" name="Rectangle 4"/>
          <p:cNvSpPr/>
          <p:nvPr/>
        </p:nvSpPr>
        <p:spPr>
          <a:xfrm>
            <a:off x="640080" y="1508760"/>
            <a:ext cx="10908792" cy="1905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3200400" cy="502920"/>
          </a:xfrm>
          <a:prstGeom prst="rect">
            <a:avLst/>
          </a:prstGeom>
          <a:noFill/>
        </p:spPr>
        <p:txBody>
          <a:bodyPr wrap="square" lIns="0" rIns="0" tIns="0" bIns="0" anchor="ctr">
            <a:spAutoFit/>
          </a:bodyPr>
          <a:lstStyle/>
          <a:p>
            <a:pPr algn="l">
              <a:lnSpc>
                <a:spcPct val="118000"/>
              </a:lnSpc>
            </a:pPr>
            <a:r>
              <a:rPr sz="1400" b="0" i="1">
                <a:solidFill>
                  <a:srgbClr val="555B60"/>
                </a:solidFill>
                <a:latin typeface="Inter"/>
              </a:rPr>
              <a:t>Chomsky  1988</a:t>
            </a:r>
          </a:p>
        </p:txBody>
      </p:sp>
      <p:sp>
        <p:nvSpPr>
          <p:cNvPr id="7" name="TextBox 6"/>
          <p:cNvSpPr txBox="1"/>
          <p:nvPr/>
        </p:nvSpPr>
        <p:spPr>
          <a:xfrm>
            <a:off x="3931920" y="1828800"/>
            <a:ext cx="7772400" cy="502920"/>
          </a:xfrm>
          <a:prstGeom prst="rect">
            <a:avLst/>
          </a:prstGeom>
          <a:noFill/>
        </p:spPr>
        <p:txBody>
          <a:bodyPr wrap="square" lIns="0" rIns="0" tIns="0" bIns="0" anchor="ctr">
            <a:spAutoFit/>
          </a:bodyPr>
          <a:lstStyle/>
          <a:p>
            <a:pPr algn="l">
              <a:lnSpc>
                <a:spcPct val="118000"/>
              </a:lnSpc>
            </a:pPr>
            <a:r>
              <a:rPr sz="2400" b="1" i="1">
                <a:solidFill>
                  <a:srgbClr val="101010"/>
                </a:solidFill>
                <a:latin typeface="Cambria"/>
              </a:rPr>
              <a:t>Anticommunism</a:t>
            </a:r>
          </a:p>
        </p:txBody>
      </p:sp>
      <p:sp>
        <p:nvSpPr>
          <p:cNvPr id="8" name="TextBox 7"/>
          <p:cNvSpPr txBox="1"/>
          <p:nvPr/>
        </p:nvSpPr>
        <p:spPr>
          <a:xfrm>
            <a:off x="640080" y="2368296"/>
            <a:ext cx="3200400" cy="502920"/>
          </a:xfrm>
          <a:prstGeom prst="rect">
            <a:avLst/>
          </a:prstGeom>
          <a:noFill/>
        </p:spPr>
        <p:txBody>
          <a:bodyPr wrap="square" lIns="0" rIns="0" tIns="0" bIns="0" anchor="ctr">
            <a:spAutoFit/>
          </a:bodyPr>
          <a:lstStyle/>
          <a:p>
            <a:pPr algn="l">
              <a:lnSpc>
                <a:spcPct val="118000"/>
              </a:lnSpc>
            </a:pPr>
            <a:r>
              <a:rPr sz="1400" b="0" i="1">
                <a:solidFill>
                  <a:srgbClr val="555B60"/>
                </a:solidFill>
                <a:latin typeface="Inter"/>
              </a:rPr>
              <a:t>Chomsky  2002</a:t>
            </a:r>
          </a:p>
        </p:txBody>
      </p:sp>
      <p:sp>
        <p:nvSpPr>
          <p:cNvPr id="9" name="TextBox 8"/>
          <p:cNvSpPr txBox="1"/>
          <p:nvPr/>
        </p:nvSpPr>
        <p:spPr>
          <a:xfrm>
            <a:off x="3931920" y="2368296"/>
            <a:ext cx="7772400" cy="502920"/>
          </a:xfrm>
          <a:prstGeom prst="rect">
            <a:avLst/>
          </a:prstGeom>
          <a:noFill/>
        </p:spPr>
        <p:txBody>
          <a:bodyPr wrap="square" lIns="0" rIns="0" tIns="0" bIns="0" anchor="ctr">
            <a:spAutoFit/>
          </a:bodyPr>
          <a:lstStyle/>
          <a:p>
            <a:pPr algn="l">
              <a:lnSpc>
                <a:spcPct val="118000"/>
              </a:lnSpc>
            </a:pPr>
            <a:r>
              <a:rPr sz="2400" b="1" i="1">
                <a:solidFill>
                  <a:srgbClr val="101010"/>
                </a:solidFill>
                <a:latin typeface="Cambria"/>
              </a:rPr>
              <a:t>The religion of the market</a:t>
            </a:r>
          </a:p>
        </p:txBody>
      </p:sp>
      <p:sp>
        <p:nvSpPr>
          <p:cNvPr id="10" name="TextBox 9"/>
          <p:cNvSpPr txBox="1"/>
          <p:nvPr/>
        </p:nvSpPr>
        <p:spPr>
          <a:xfrm>
            <a:off x="640080" y="2907792"/>
            <a:ext cx="3200400" cy="502920"/>
          </a:xfrm>
          <a:prstGeom prst="rect">
            <a:avLst/>
          </a:prstGeom>
          <a:noFill/>
        </p:spPr>
        <p:txBody>
          <a:bodyPr wrap="square" lIns="0" rIns="0" tIns="0" bIns="0" anchor="ctr">
            <a:spAutoFit/>
          </a:bodyPr>
          <a:lstStyle/>
          <a:p>
            <a:pPr algn="l">
              <a:lnSpc>
                <a:spcPct val="118000"/>
              </a:lnSpc>
            </a:pPr>
            <a:r>
              <a:rPr sz="1400" b="0" i="1">
                <a:solidFill>
                  <a:srgbClr val="555B60"/>
                </a:solidFill>
                <a:latin typeface="Inter"/>
              </a:rPr>
              <a:t>2019  aviation</a:t>
            </a:r>
          </a:p>
        </p:txBody>
      </p:sp>
      <p:sp>
        <p:nvSpPr>
          <p:cNvPr id="11" name="TextBox 10"/>
          <p:cNvSpPr txBox="1"/>
          <p:nvPr/>
        </p:nvSpPr>
        <p:spPr>
          <a:xfrm>
            <a:off x="3931920" y="2907792"/>
            <a:ext cx="7772400" cy="502920"/>
          </a:xfrm>
          <a:prstGeom prst="rect">
            <a:avLst/>
          </a:prstGeom>
          <a:noFill/>
        </p:spPr>
        <p:txBody>
          <a:bodyPr wrap="square" lIns="0" rIns="0" tIns="0" bIns="0" anchor="ctr">
            <a:spAutoFit/>
          </a:bodyPr>
          <a:lstStyle/>
          <a:p>
            <a:pPr algn="l">
              <a:lnSpc>
                <a:spcPct val="118000"/>
              </a:lnSpc>
            </a:pPr>
            <a:r>
              <a:rPr sz="2400" b="1" i="1">
                <a:solidFill>
                  <a:srgbClr val="C8102E"/>
                </a:solidFill>
                <a:latin typeface="Cambria"/>
              </a:rPr>
              <a:t>Techno-industrial nationalism</a:t>
            </a:r>
          </a:p>
        </p:txBody>
      </p:sp>
      <p:sp>
        <p:nvSpPr>
          <p:cNvPr id="12" name="Rectangle 11"/>
          <p:cNvSpPr/>
          <p:nvPr/>
        </p:nvSpPr>
        <p:spPr>
          <a:xfrm>
            <a:off x="640080" y="3611880"/>
            <a:ext cx="5440680" cy="50292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611880"/>
            <a:ext cx="5440680" cy="502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611880"/>
            <a:ext cx="5440680" cy="502920"/>
          </a:xfrm>
          <a:prstGeom prst="rect">
            <a:avLst/>
          </a:prstGeom>
          <a:noFill/>
        </p:spPr>
        <p:txBody>
          <a:bodyPr wrap="square" lIns="0" rIns="0" tIns="0" bIns="0" anchor="ctr">
            <a:spAutoFit/>
          </a:bodyPr>
          <a:lstStyle/>
          <a:p>
            <a:pPr algn="ctr">
              <a:lnSpc>
                <a:spcPct val="118000"/>
              </a:lnSpc>
            </a:pPr>
            <a:r>
              <a:rPr sz="1500" b="1" i="1">
                <a:solidFill>
                  <a:srgbClr val="FFFFFF"/>
                </a:solidFill>
                <a:latin typeface="Cambria"/>
              </a:rPr>
              <a:t>Worthy victims   (1983)</a:t>
            </a:r>
          </a:p>
        </p:txBody>
      </p:sp>
      <p:sp>
        <p:nvSpPr>
          <p:cNvPr id="15" name="TextBox 14"/>
          <p:cNvSpPr txBox="1"/>
          <p:nvPr/>
        </p:nvSpPr>
        <p:spPr>
          <a:xfrm>
            <a:off x="6126480" y="3611880"/>
            <a:ext cx="5440680" cy="502920"/>
          </a:xfrm>
          <a:prstGeom prst="rect">
            <a:avLst/>
          </a:prstGeom>
          <a:noFill/>
        </p:spPr>
        <p:txBody>
          <a:bodyPr wrap="square" lIns="0" rIns="0" tIns="0" bIns="0" anchor="ctr">
            <a:spAutoFit/>
          </a:bodyPr>
          <a:lstStyle/>
          <a:p>
            <a:pPr algn="ctr">
              <a:lnSpc>
                <a:spcPct val="118000"/>
              </a:lnSpc>
            </a:pPr>
            <a:r>
              <a:rPr sz="1500" b="1" i="1">
                <a:solidFill>
                  <a:srgbClr val="FFFFFF"/>
                </a:solidFill>
                <a:latin typeface="Cambria"/>
              </a:rPr>
              <a:t>Unworthy victims   (2018–19)</a:t>
            </a:r>
          </a:p>
        </p:txBody>
      </p:sp>
      <p:sp>
        <p:nvSpPr>
          <p:cNvPr id="16" name="Rectangle 15"/>
          <p:cNvSpPr/>
          <p:nvPr/>
        </p:nvSpPr>
        <p:spPr>
          <a:xfrm>
            <a:off x="640080" y="41148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1148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KAL 007  (Soviet shootdown)</a:t>
            </a:r>
          </a:p>
        </p:txBody>
      </p:sp>
      <p:sp>
        <p:nvSpPr>
          <p:cNvPr id="19" name="TextBox 18"/>
          <p:cNvSpPr txBox="1"/>
          <p:nvPr/>
        </p:nvSpPr>
        <p:spPr>
          <a:xfrm>
            <a:off x="6355080" y="41148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Lion Air 610  —  189 Indonesian</a:t>
            </a:r>
          </a:p>
        </p:txBody>
      </p:sp>
      <p:sp>
        <p:nvSpPr>
          <p:cNvPr id="20" name="Rectangle 19"/>
          <p:cNvSpPr/>
          <p:nvPr/>
        </p:nvSpPr>
        <p:spPr>
          <a:xfrm>
            <a:off x="640080" y="45720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45720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5720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Sustained moral outrage; years of coverage</a:t>
            </a:r>
          </a:p>
        </p:txBody>
      </p:sp>
      <p:sp>
        <p:nvSpPr>
          <p:cNvPr id="23" name="TextBox 22"/>
          <p:cNvSpPr txBox="1"/>
          <p:nvPr/>
        </p:nvSpPr>
        <p:spPr>
          <a:xfrm>
            <a:off x="6355080" y="45720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“Pilot training” framing</a:t>
            </a:r>
          </a:p>
        </p:txBody>
      </p:sp>
      <p:sp>
        <p:nvSpPr>
          <p:cNvPr id="24" name="Rectangle 23"/>
          <p:cNvSpPr/>
          <p:nvPr/>
        </p:nvSpPr>
        <p:spPr>
          <a:xfrm>
            <a:off x="640080" y="50292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80" y="50292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292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Reagan: “cold-blooded murder”</a:t>
            </a:r>
          </a:p>
        </p:txBody>
      </p:sp>
      <p:sp>
        <p:nvSpPr>
          <p:cNvPr id="27" name="TextBox 26"/>
          <p:cNvSpPr txBox="1"/>
          <p:nvPr/>
        </p:nvSpPr>
        <p:spPr>
          <a:xfrm>
            <a:off x="6355080" y="50292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Ethiopian 302  —  157 dead, 35 nations</a:t>
            </a:r>
          </a:p>
        </p:txBody>
      </p:sp>
      <p:sp>
        <p:nvSpPr>
          <p:cNvPr id="28" name="Rectangle 27"/>
          <p:cNvSpPr/>
          <p:nvPr/>
        </p:nvSpPr>
        <p:spPr>
          <a:xfrm>
            <a:off x="640080" y="54864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5486400"/>
            <a:ext cx="5440680" cy="457200"/>
          </a:xfrm>
          <a:prstGeom prst="rect">
            <a:avLst/>
          </a:prstGeom>
          <a:solidFill>
            <a:srgbClr val="C4CC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4864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Front-page treatment for years</a:t>
            </a:r>
          </a:p>
        </p:txBody>
      </p:sp>
      <p:sp>
        <p:nvSpPr>
          <p:cNvPr id="31" name="TextBox 30"/>
          <p:cNvSpPr txBox="1"/>
          <p:nvPr/>
        </p:nvSpPr>
        <p:spPr>
          <a:xfrm>
            <a:off x="6355080" y="5486400"/>
            <a:ext cx="5074920" cy="457200"/>
          </a:xfrm>
          <a:prstGeom prst="rect">
            <a:avLst/>
          </a:prstGeom>
          <a:noFill/>
        </p:spPr>
        <p:txBody>
          <a:bodyPr wrap="square" lIns="0" rIns="0" tIns="0" bIns="0" anchor="ctr">
            <a:spAutoFit/>
          </a:bodyPr>
          <a:lstStyle/>
          <a:p>
            <a:pPr algn="l">
              <a:lnSpc>
                <a:spcPct val="118000"/>
              </a:lnSpc>
            </a:pPr>
            <a:r>
              <a:rPr sz="1200" b="0" i="0">
                <a:solidFill>
                  <a:srgbClr val="101010"/>
                </a:solidFill>
                <a:latin typeface="Inter"/>
              </a:rPr>
              <a:t>132 days before grounding</a:t>
            </a:r>
          </a:p>
        </p:txBody>
      </p:sp>
      <p:sp>
        <p:nvSpPr>
          <p:cNvPr id="32" name="Rectangle 31"/>
          <p:cNvSpPr/>
          <p:nvPr/>
        </p:nvSpPr>
        <p:spPr>
          <a:xfrm>
            <a:off x="640080" y="5852160"/>
            <a:ext cx="10908792" cy="914400"/>
          </a:xfrm>
          <a:prstGeom prst="rect">
            <a:avLst/>
          </a:prstGeom>
          <a:solidFill>
            <a:srgbClr val="0B24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6016752"/>
            <a:ext cx="10177272" cy="640080"/>
          </a:xfrm>
          <a:prstGeom prst="rect">
            <a:avLst/>
          </a:prstGeom>
          <a:noFill/>
        </p:spPr>
        <p:txBody>
          <a:bodyPr wrap="square" lIns="0" rIns="0" tIns="0" bIns="0" anchor="t">
            <a:spAutoFit/>
          </a:bodyPr>
          <a:lstStyle/>
          <a:p>
            <a:pPr algn="l">
              <a:lnSpc>
                <a:spcPct val="125000"/>
              </a:lnSpc>
            </a:pPr>
            <a:r>
              <a:rPr sz="1800" b="0" i="1" u="none">
                <a:solidFill>
                  <a:srgbClr val="FFFFFF"/>
                </a:solidFill>
                <a:latin typeface="Cambria"/>
              </a:rPr>
              <a:t>“Concentrate on the victims of enemy powers and forget about the victims of friends.”</a:t>
            </a:r>
          </a:p>
          <a:p>
            <a:pPr algn="l">
              <a:lnSpc>
                <a:spcPct val="125000"/>
              </a:lnSpc>
            </a:pPr>
            <a:r>
              <a:rPr sz="600" b="0" i="0" u="none">
                <a:solidFill>
                  <a:srgbClr val="101010"/>
                </a:solidFill>
                <a:latin typeface="Inter"/>
              </a:rPr>
              <a:t> </a:t>
            </a:r>
          </a:p>
          <a:p>
            <a:pPr algn="l">
              <a:lnSpc>
                <a:spcPct val="125000"/>
              </a:lnSpc>
            </a:pPr>
            <a:r>
              <a:rPr sz="1200" b="0" i="0" u="none">
                <a:solidFill>
                  <a:srgbClr val="CFD6DE"/>
                </a:solidFill>
                <a:latin typeface="Inter"/>
              </a:rPr>
              <a:t>— Herman &amp; Chomsky, p. 32   (paraphrasing the structural function)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6DC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972800" cy="365760"/>
          </a:xfrm>
          <a:prstGeom prst="rect">
            <a:avLst/>
          </a:prstGeom>
          <a:noFill/>
        </p:spPr>
        <p:txBody>
          <a:bodyPr wrap="square" lIns="0" rIns="0" tIns="0" bIns="0" anchor="t">
            <a:spAutoFit/>
          </a:bodyPr>
          <a:lstStyle/>
          <a:p>
            <a:pPr algn="l">
              <a:lnSpc>
                <a:spcPct val="118000"/>
              </a:lnSpc>
            </a:pPr>
            <a:r>
              <a:rPr sz="1200" b="1" i="0">
                <a:solidFill>
                  <a:srgbClr val="C8102E"/>
                </a:solidFill>
                <a:latin typeface="Inter"/>
              </a:rPr>
              <a:t>THE COUNTERFACTUAL</a:t>
            </a:r>
          </a:p>
        </p:txBody>
      </p:sp>
      <p:sp>
        <p:nvSpPr>
          <p:cNvPr id="4" name="TextBox 3"/>
          <p:cNvSpPr txBox="1"/>
          <p:nvPr/>
        </p:nvSpPr>
        <p:spPr>
          <a:xfrm>
            <a:off x="640080" y="804672"/>
            <a:ext cx="10972800" cy="502920"/>
          </a:xfrm>
          <a:prstGeom prst="rect">
            <a:avLst/>
          </a:prstGeom>
          <a:noFill/>
        </p:spPr>
        <p:txBody>
          <a:bodyPr wrap="square" lIns="0" rIns="0" tIns="0" bIns="0" anchor="t">
            <a:spAutoFit/>
          </a:bodyPr>
          <a:lstStyle/>
          <a:p>
            <a:pPr algn="l">
              <a:lnSpc>
                <a:spcPct val="118000"/>
              </a:lnSpc>
            </a:pPr>
            <a:r>
              <a:rPr sz="2200" b="0" i="1">
                <a:solidFill>
                  <a:srgbClr val="555B60"/>
                </a:solidFill>
                <a:latin typeface="Cambria"/>
              </a:rPr>
              <a:t>Same facts.  Different victims.  Different filter output.</a:t>
            </a:r>
          </a:p>
        </p:txBody>
      </p:sp>
      <p:sp>
        <p:nvSpPr>
          <p:cNvPr id="5" name="Rectangle 4"/>
          <p:cNvSpPr/>
          <p:nvPr/>
        </p:nvSpPr>
        <p:spPr>
          <a:xfrm>
            <a:off x="822960" y="1691640"/>
            <a:ext cx="10515600" cy="2743200"/>
          </a:xfrm>
          <a:prstGeom prst="rect">
            <a:avLst/>
          </a:prstGeom>
          <a:solidFill>
            <a:srgbClr val="FAF8F4"/>
          </a:solidFill>
          <a:ln>
            <a:solidFill>
              <a:srgbClr val="888E9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965960"/>
            <a:ext cx="9784080" cy="2286000"/>
          </a:xfrm>
          <a:prstGeom prst="rect">
            <a:avLst/>
          </a:prstGeom>
          <a:noFill/>
        </p:spPr>
        <p:txBody>
          <a:bodyPr wrap="square" lIns="0" rIns="0" tIns="0" bIns="0" anchor="t">
            <a:spAutoFit/>
          </a:bodyPr>
          <a:lstStyle/>
          <a:p>
            <a:pPr algn="l">
              <a:lnSpc>
                <a:spcPct val="108000"/>
              </a:lnSpc>
            </a:pPr>
            <a:r>
              <a:rPr sz="1200" b="1" i="0" u="none">
                <a:solidFill>
                  <a:srgbClr val="555B60"/>
                </a:solidFill>
                <a:latin typeface="Inter"/>
              </a:rPr>
              <a:t>BUSINESS</a:t>
            </a:r>
          </a:p>
          <a:p>
            <a:pPr algn="l">
              <a:lnSpc>
                <a:spcPct val="108000"/>
              </a:lnSpc>
            </a:pPr>
            <a:r>
              <a:rPr sz="1000" b="0" i="0" u="none">
                <a:solidFill>
                  <a:srgbClr val="101010"/>
                </a:solidFill>
                <a:latin typeface="Inter"/>
              </a:rPr>
              <a:t> </a:t>
            </a:r>
          </a:p>
          <a:p>
            <a:pPr algn="l">
              <a:lnSpc>
                <a:spcPct val="108000"/>
              </a:lnSpc>
            </a:pPr>
            <a:r>
              <a:rPr sz="3400" b="1" i="0" u="none">
                <a:solidFill>
                  <a:srgbClr val="101010"/>
                </a:solidFill>
                <a:latin typeface="Cambria"/>
              </a:rPr>
              <a:t>Pressure Mounts on FAA to Ground 737 MAX</a:t>
            </a:r>
          </a:p>
          <a:p>
            <a:pPr algn="l">
              <a:lnSpc>
                <a:spcPct val="108000"/>
              </a:lnSpc>
            </a:pPr>
            <a:r>
              <a:rPr sz="3400" b="1" i="0" u="none">
                <a:solidFill>
                  <a:srgbClr val="101010"/>
                </a:solidFill>
                <a:latin typeface="Cambria"/>
              </a:rPr>
              <a:t>as Second Crash Kills 157 Americans</a:t>
            </a:r>
          </a:p>
          <a:p>
            <a:pPr algn="l">
              <a:lnSpc>
                <a:spcPct val="108000"/>
              </a:lnSpc>
            </a:pPr>
            <a:r>
              <a:rPr sz="600" b="0" i="0" u="none">
                <a:solidFill>
                  <a:srgbClr val="101010"/>
                </a:solidFill>
                <a:latin typeface="Inter"/>
              </a:rPr>
              <a:t> </a:t>
            </a:r>
          </a:p>
          <a:p>
            <a:pPr algn="l">
              <a:lnSpc>
                <a:spcPct val="108000"/>
              </a:lnSpc>
            </a:pPr>
            <a:r>
              <a:rPr sz="1500" b="0" i="1" u="none">
                <a:solidFill>
                  <a:srgbClr val="555B60"/>
                </a:solidFill>
                <a:latin typeface="Cambria"/>
              </a:rPr>
              <a:t>Lawmakers, victims’ families, and foreign regulators demand immediate suspension;</a:t>
            </a:r>
          </a:p>
          <a:p>
            <a:pPr algn="l">
              <a:lnSpc>
                <a:spcPct val="108000"/>
              </a:lnSpc>
            </a:pPr>
            <a:r>
              <a:rPr sz="1500" b="0" i="1" u="none">
                <a:solidFill>
                  <a:srgbClr val="555B60"/>
                </a:solidFill>
                <a:latin typeface="Cambria"/>
              </a:rPr>
              <a:t>FAA’s certification process under scrutiny.</a:t>
            </a:r>
          </a:p>
          <a:p>
            <a:pPr algn="l">
              <a:lnSpc>
                <a:spcPct val="108000"/>
              </a:lnSpc>
            </a:pPr>
            <a:r>
              <a:rPr sz="800" b="0" i="0" u="none">
                <a:solidFill>
                  <a:srgbClr val="101010"/>
                </a:solidFill>
                <a:latin typeface="Inter"/>
              </a:rPr>
              <a:t> </a:t>
            </a:r>
          </a:p>
          <a:p>
            <a:pPr algn="l">
              <a:lnSpc>
                <a:spcPct val="108000"/>
              </a:lnSpc>
            </a:pPr>
            <a:r>
              <a:rPr sz="1200" b="1" i="0" u="none">
                <a:solidFill>
                  <a:srgbClr val="101010"/>
                </a:solidFill>
                <a:latin typeface="Inter"/>
              </a:rPr>
              <a:t>By [byline]    |    Updated March 11, 2019</a:t>
            </a:r>
          </a:p>
        </p:txBody>
      </p:sp>
      <p:sp>
        <p:nvSpPr>
          <p:cNvPr id="7" name="TextBox 6"/>
          <p:cNvSpPr txBox="1"/>
          <p:nvPr/>
        </p:nvSpPr>
        <p:spPr>
          <a:xfrm>
            <a:off x="640080" y="4709160"/>
            <a:ext cx="10908792" cy="502920"/>
          </a:xfrm>
          <a:prstGeom prst="rect">
            <a:avLst/>
          </a:prstGeom>
          <a:noFill/>
        </p:spPr>
        <p:txBody>
          <a:bodyPr wrap="square" lIns="0" rIns="0" tIns="0" bIns="0" anchor="t">
            <a:spAutoFit/>
          </a:bodyPr>
          <a:lstStyle/>
          <a:p>
            <a:pPr algn="ctr">
              <a:lnSpc>
                <a:spcPct val="118000"/>
              </a:lnSpc>
            </a:pPr>
            <a:r>
              <a:rPr sz="2200" b="1" i="1">
                <a:solidFill>
                  <a:srgbClr val="101010"/>
                </a:solidFill>
                <a:latin typeface="Cambria"/>
              </a:rPr>
              <a:t>This is the headline if 346 Americans had died.</a:t>
            </a:r>
          </a:p>
        </p:txBody>
      </p:sp>
      <p:sp>
        <p:nvSpPr>
          <p:cNvPr id="8" name="Rectangle 7"/>
          <p:cNvSpPr/>
          <p:nvPr/>
        </p:nvSpPr>
        <p:spPr>
          <a:xfrm>
            <a:off x="640080" y="5532120"/>
            <a:ext cx="10908792" cy="9601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532120"/>
            <a:ext cx="10908792" cy="960120"/>
          </a:xfrm>
          <a:prstGeom prst="rect">
            <a:avLst/>
          </a:prstGeom>
          <a:noFill/>
        </p:spPr>
        <p:txBody>
          <a:bodyPr wrap="square" lIns="0" rIns="0" tIns="0" bIns="0" anchor="ctr">
            <a:spAutoFit/>
          </a:bodyPr>
          <a:lstStyle/>
          <a:p>
            <a:pPr algn="ctr">
              <a:lnSpc>
                <a:spcPct val="118000"/>
              </a:lnSpc>
            </a:pPr>
            <a:r>
              <a:rPr sz="2800" b="1" i="1">
                <a:solidFill>
                  <a:srgbClr val="FFFFFF"/>
                </a:solidFill>
                <a:latin typeface="Cambria"/>
              </a:rPr>
              <a:t>The filters didn’t lie.   They selected.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