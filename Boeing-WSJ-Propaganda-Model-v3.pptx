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distinction: this is a test case, not a conspiracy claim. The article did not have to lie to matter. The puzzle is why the frame centers FAA patience after two crashes had killed 346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 am not claiming five perfect smoking guns. I am measuring degree of fit. Filters 1, 2, and 4 mostly establish structural conditions. Filter 3 explains the article's source architecture. Filter 5 explains the moral and ideological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textual. Do not over-theorize yet. Say: the headline and source architecture make the FAA the central actor. The victims and foreign regulators are not absent from reality, but they are not the organizing authorities of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weaker as direct evidence and stronger as background conditions. The point is not that advertising caused a line edit. The point is that the WSJ's commercial world overlaps with Boeing's world, making sustained adversarial campaigning less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load-bearing slide. Say the Fishman idea in plain English: officials give facts; reporters get them. The article-level evidence is source architecture. The FAA is not treated as the institution under indictment. It is treated as the institution that can authorize what counts as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modest. Say: filter 4 is present but indirect. There is no need to claim a specific threat. The Chomsky point is that flak disciplines partly through anticipation. The expensive frame is captured regulator plus corporate design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load-bearing slide and the original contribution. Say: the ideology has rotated, but the function is identical. Techno-industrial nationalism makes deference to U.S. aviation supremacy feel neutral rather than ideological.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make this melodramatic. Let the counterfactual carry the moral force. Say: same aircraft, same facts, different victims. If the headline changes, then the frame was not neutral; it was filtered.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cleanly. Say: the filters did not fabricate the news; they selected the version fit to print. Then stop. This final slide should feel like a grading verdict on the model, not a recap of all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THE PUZZLE</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A mass-death crisis became an FAA patience story.</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The deck measures how strongly the propaganda model fits one WSJ article, not whether every filter is equally proven.</a:t>
            </a:r>
            <a:endParaRPr lang="en-US" sz="1200" dirty="0"/>
          </a:p>
        </p:txBody>
      </p:sp>
      <p:sp>
        <p:nvSpPr>
          <p:cNvPr id="7" name="Shape 5"/>
          <p:cNvSpPr/>
          <p:nvPr/>
        </p:nvSpPr>
        <p:spPr>
          <a:xfrm>
            <a:off x="749808" y="1993392"/>
            <a:ext cx="6720840" cy="3127248"/>
          </a:xfrm>
          <a:prstGeom prst="rect">
            <a:avLst/>
          </a:prstGeom>
          <a:solidFill>
            <a:srgbClr val="F9FAFB"/>
          </a:solidFill>
          <a:ln w="15240">
            <a:solidFill>
              <a:srgbClr val="111827"/>
            </a:solidFill>
            <a:prstDash val="solid"/>
          </a:ln>
        </p:spPr>
      </p:sp>
      <p:sp>
        <p:nvSpPr>
          <p:cNvPr id="8" name="Text 6"/>
          <p:cNvSpPr/>
          <p:nvPr/>
        </p:nvSpPr>
        <p:spPr>
          <a:xfrm>
            <a:off x="1024128" y="2212848"/>
            <a:ext cx="6126480" cy="292608"/>
          </a:xfrm>
          <a:prstGeom prst="rect">
            <a:avLst/>
          </a:prstGeom>
          <a:noFill/>
          <a:ln/>
        </p:spPr>
        <p:txBody>
          <a:bodyPr wrap="square" lIns="0" tIns="0" rIns="0" bIns="0" rtlCol="0" anchor="ctr"/>
          <a:lstStyle/>
          <a:p>
            <a:pPr algn="ctr" indent="0" marL="0">
              <a:buNone/>
            </a:pPr>
            <a:r>
              <a:rPr lang="en-US" sz="1300" b="1" dirty="0">
                <a:solidFill>
                  <a:srgbClr val="111827"/>
                </a:solidFill>
                <a:latin typeface="Georgia" pitchFamily="34" charset="0"/>
                <a:ea typeface="Georgia" pitchFamily="34" charset="-122"/>
                <a:cs typeface="Georgia" pitchFamily="34" charset="-120"/>
              </a:rPr>
              <a:t>THE WALL STREET JOURNAL</a:t>
            </a:r>
            <a:endParaRPr lang="en-US" sz="1300" dirty="0"/>
          </a:p>
        </p:txBody>
      </p:sp>
      <p:sp>
        <p:nvSpPr>
          <p:cNvPr id="9" name="Shape 7"/>
          <p:cNvSpPr/>
          <p:nvPr/>
        </p:nvSpPr>
        <p:spPr>
          <a:xfrm>
            <a:off x="960120" y="2651760"/>
            <a:ext cx="6309360" cy="0"/>
          </a:xfrm>
          <a:prstGeom prst="line">
            <a:avLst/>
          </a:prstGeom>
          <a:noFill/>
          <a:ln w="8890">
            <a:solidFill>
              <a:srgbClr val="111827"/>
            </a:solidFill>
            <a:prstDash val="solid"/>
          </a:ln>
        </p:spPr>
      </p:sp>
      <p:sp>
        <p:nvSpPr>
          <p:cNvPr id="10" name="Text 8"/>
          <p:cNvSpPr/>
          <p:nvPr/>
        </p:nvSpPr>
        <p:spPr>
          <a:xfrm>
            <a:off x="1024128" y="2907792"/>
            <a:ext cx="6126480" cy="960120"/>
          </a:xfrm>
          <a:prstGeom prst="rect">
            <a:avLst/>
          </a:prstGeom>
          <a:noFill/>
          <a:ln/>
        </p:spPr>
        <p:txBody>
          <a:bodyPr wrap="square" lIns="0" tIns="0" rIns="0" bIns="0" rtlCol="0" anchor="ctr">
            <a:normAutofit/>
          </a:bodyPr>
          <a:lstStyle/>
          <a:p>
            <a:pPr indent="0" marL="0">
              <a:buNone/>
            </a:pPr>
            <a:r>
              <a:rPr lang="en-US" sz="1900" b="1" dirty="0">
                <a:solidFill>
                  <a:srgbClr val="111827"/>
                </a:solidFill>
                <a:latin typeface="Georgia" pitchFamily="34" charset="0"/>
                <a:ea typeface="Georgia" pitchFamily="34" charset="-122"/>
                <a:cs typeface="Georgia" pitchFamily="34" charset="-120"/>
              </a:rPr>
              <a:t>The FAA Has No Current Plans to Ground Boeing's 737 MAX After Deadly Crash</a:t>
            </a:r>
            <a:endParaRPr lang="en-US" sz="1900" dirty="0"/>
          </a:p>
        </p:txBody>
      </p:sp>
      <p:sp>
        <p:nvSpPr>
          <p:cNvPr id="11" name="Text 9"/>
          <p:cNvSpPr/>
          <p:nvPr/>
        </p:nvSpPr>
        <p:spPr>
          <a:xfrm>
            <a:off x="1024128" y="4160520"/>
            <a:ext cx="6126480" cy="182880"/>
          </a:xfrm>
          <a:prstGeom prst="rect">
            <a:avLst/>
          </a:prstGeom>
          <a:noFill/>
          <a:ln/>
        </p:spPr>
        <p:txBody>
          <a:bodyPr wrap="square" lIns="0" tIns="0" rIns="0" bIns="0" rtlCol="0" anchor="ctr"/>
          <a:lstStyle/>
          <a:p>
            <a:pPr indent="0" marL="0">
              <a:buNone/>
            </a:pPr>
            <a:r>
              <a:rPr lang="en-US" sz="800" dirty="0">
                <a:solidFill>
                  <a:srgbClr val="64748B"/>
                </a:solidFill>
                <a:latin typeface="Helvetica Neue" pitchFamily="34" charset="0"/>
                <a:ea typeface="Helvetica Neue" pitchFamily="34" charset="-122"/>
                <a:cs typeface="Helvetica Neue" pitchFamily="34" charset="-120"/>
              </a:rPr>
              <a:t>Robert Wall, Andrew Tangel, Andy Pasztor | March 11, 2019</a:t>
            </a:r>
            <a:endParaRPr lang="en-US" sz="800" dirty="0"/>
          </a:p>
        </p:txBody>
      </p:sp>
      <p:sp>
        <p:nvSpPr>
          <p:cNvPr id="12" name="Shape 10"/>
          <p:cNvSpPr/>
          <p:nvPr/>
        </p:nvSpPr>
        <p:spPr>
          <a:xfrm>
            <a:off x="8001000" y="2011680"/>
            <a:ext cx="3291840" cy="868680"/>
          </a:xfrm>
          <a:prstGeom prst="rect">
            <a:avLst/>
          </a:prstGeom>
          <a:solidFill>
            <a:srgbClr val="F8FAFC"/>
          </a:solidFill>
          <a:ln w="12700">
            <a:solidFill>
              <a:srgbClr val="E5E7EB"/>
            </a:solidFill>
            <a:prstDash val="solid"/>
          </a:ln>
        </p:spPr>
      </p:sp>
      <p:sp>
        <p:nvSpPr>
          <p:cNvPr id="13" name="Text 11"/>
          <p:cNvSpPr/>
          <p:nvPr/>
        </p:nvSpPr>
        <p:spPr>
          <a:xfrm>
            <a:off x="8202168" y="2176272"/>
            <a:ext cx="2889504" cy="164592"/>
          </a:xfrm>
          <a:prstGeom prst="rect">
            <a:avLst/>
          </a:prstGeom>
          <a:noFill/>
          <a:ln/>
        </p:spPr>
        <p:txBody>
          <a:bodyPr wrap="square" lIns="0" tIns="0" rIns="0" bIns="0" rtlCol="0" anchor="ctr"/>
          <a:lstStyle/>
          <a:p>
            <a:pPr indent="0" marL="0">
              <a:buNone/>
            </a:pPr>
            <a:r>
              <a:rPr lang="en-US" sz="700" b="1" dirty="0">
                <a:solidFill>
                  <a:srgbClr val="1D4ED8"/>
                </a:solidFill>
                <a:latin typeface="Helvetica Neue" pitchFamily="34" charset="0"/>
                <a:ea typeface="Helvetica Neue" pitchFamily="34" charset="-122"/>
                <a:cs typeface="Helvetica Neue" pitchFamily="34" charset="-120"/>
              </a:rPr>
              <a:t>OBSERVED FRAME</a:t>
            </a:r>
            <a:endParaRPr lang="en-US" sz="700" dirty="0"/>
          </a:p>
        </p:txBody>
      </p:sp>
      <p:sp>
        <p:nvSpPr>
          <p:cNvPr id="14" name="Text 12"/>
          <p:cNvSpPr/>
          <p:nvPr/>
        </p:nvSpPr>
        <p:spPr>
          <a:xfrm>
            <a:off x="8202168" y="2450592"/>
            <a:ext cx="2889504" cy="32004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FAA reluctance is the organizing fact.</a:t>
            </a:r>
            <a:endParaRPr lang="en-US" sz="1300" dirty="0"/>
          </a:p>
        </p:txBody>
      </p:sp>
      <p:sp>
        <p:nvSpPr>
          <p:cNvPr id="15" name="Shape 13"/>
          <p:cNvSpPr/>
          <p:nvPr/>
        </p:nvSpPr>
        <p:spPr>
          <a:xfrm>
            <a:off x="8001000" y="3145536"/>
            <a:ext cx="3291840" cy="868680"/>
          </a:xfrm>
          <a:prstGeom prst="rect">
            <a:avLst/>
          </a:prstGeom>
          <a:solidFill>
            <a:srgbClr val="F8FAFC"/>
          </a:solidFill>
          <a:ln w="12700">
            <a:solidFill>
              <a:srgbClr val="E5E7EB"/>
            </a:solidFill>
            <a:prstDash val="solid"/>
          </a:ln>
        </p:spPr>
      </p:sp>
      <p:sp>
        <p:nvSpPr>
          <p:cNvPr id="16" name="Text 14"/>
          <p:cNvSpPr/>
          <p:nvPr/>
        </p:nvSpPr>
        <p:spPr>
          <a:xfrm>
            <a:off x="8202168" y="3310128"/>
            <a:ext cx="2889504" cy="164592"/>
          </a:xfrm>
          <a:prstGeom prst="rect">
            <a:avLst/>
          </a:prstGeom>
          <a:noFill/>
          <a:ln/>
        </p:spPr>
        <p:txBody>
          <a:bodyPr wrap="square" lIns="0" tIns="0" rIns="0" bIns="0" rtlCol="0" anchor="ctr"/>
          <a:lstStyle/>
          <a:p>
            <a:pPr indent="0" marL="0">
              <a:buNone/>
            </a:pPr>
            <a:r>
              <a:rPr lang="en-US" sz="700" b="1" dirty="0">
                <a:solidFill>
                  <a:srgbClr val="B91C1C"/>
                </a:solidFill>
                <a:latin typeface="Helvetica Neue" pitchFamily="34" charset="0"/>
                <a:ea typeface="Helvetica Neue" pitchFamily="34" charset="-122"/>
                <a:cs typeface="Helvetica Neue" pitchFamily="34" charset="-120"/>
              </a:rPr>
              <a:t>UNDERLYING FACTS</a:t>
            </a:r>
            <a:endParaRPr lang="en-US" sz="700" dirty="0"/>
          </a:p>
        </p:txBody>
      </p:sp>
      <p:sp>
        <p:nvSpPr>
          <p:cNvPr id="17" name="Text 15"/>
          <p:cNvSpPr/>
          <p:nvPr/>
        </p:nvSpPr>
        <p:spPr>
          <a:xfrm>
            <a:off x="8202168" y="3584448"/>
            <a:ext cx="2889504" cy="32004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Two crashes. Same aircraft family. 346 dead.</a:t>
            </a:r>
            <a:endParaRPr lang="en-US" sz="1300" dirty="0"/>
          </a:p>
        </p:txBody>
      </p:sp>
      <p:sp>
        <p:nvSpPr>
          <p:cNvPr id="18" name="Shape 16"/>
          <p:cNvSpPr/>
          <p:nvPr/>
        </p:nvSpPr>
        <p:spPr>
          <a:xfrm>
            <a:off x="8001000" y="4279392"/>
            <a:ext cx="3291840" cy="868680"/>
          </a:xfrm>
          <a:prstGeom prst="rect">
            <a:avLst/>
          </a:prstGeom>
          <a:solidFill>
            <a:srgbClr val="F8FAFC"/>
          </a:solidFill>
          <a:ln w="12700">
            <a:solidFill>
              <a:srgbClr val="E5E7EB"/>
            </a:solidFill>
            <a:prstDash val="solid"/>
          </a:ln>
        </p:spPr>
      </p:sp>
      <p:sp>
        <p:nvSpPr>
          <p:cNvPr id="19" name="Text 17"/>
          <p:cNvSpPr/>
          <p:nvPr/>
        </p:nvSpPr>
        <p:spPr>
          <a:xfrm>
            <a:off x="8202168" y="4443984"/>
            <a:ext cx="2889504" cy="164592"/>
          </a:xfrm>
          <a:prstGeom prst="rect">
            <a:avLst/>
          </a:prstGeom>
          <a:noFill/>
          <a:ln/>
        </p:spPr>
        <p:txBody>
          <a:bodyPr wrap="square" lIns="0" tIns="0" rIns="0" bIns="0" rtlCol="0" anchor="ctr"/>
          <a:lstStyle/>
          <a:p>
            <a:pPr indent="0" marL="0">
              <a:buNone/>
            </a:pPr>
            <a:r>
              <a:rPr lang="en-US" sz="700" b="1" dirty="0">
                <a:solidFill>
                  <a:srgbClr val="111827"/>
                </a:solidFill>
                <a:latin typeface="Helvetica Neue" pitchFamily="34" charset="0"/>
                <a:ea typeface="Helvetica Neue" pitchFamily="34" charset="-122"/>
                <a:cs typeface="Helvetica Neue" pitchFamily="34" charset="-120"/>
              </a:rPr>
              <a:t>QUESTION</a:t>
            </a:r>
            <a:endParaRPr lang="en-US" sz="700" dirty="0"/>
          </a:p>
        </p:txBody>
      </p:sp>
      <p:sp>
        <p:nvSpPr>
          <p:cNvPr id="20" name="Text 18"/>
          <p:cNvSpPr/>
          <p:nvPr/>
        </p:nvSpPr>
        <p:spPr>
          <a:xfrm>
            <a:off x="8202168" y="4718304"/>
            <a:ext cx="2889504" cy="32004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Why did this frame feel professionally natural?</a:t>
            </a:r>
            <a:endParaRPr lang="en-US" sz="1300" dirty="0"/>
          </a:p>
        </p:txBody>
      </p:sp>
      <p:sp>
        <p:nvSpPr>
          <p:cNvPr id="21" name="Shape 19"/>
          <p:cNvSpPr/>
          <p:nvPr/>
        </p:nvSpPr>
        <p:spPr>
          <a:xfrm>
            <a:off x="502920" y="6473952"/>
            <a:ext cx="11109960" cy="0"/>
          </a:xfrm>
          <a:prstGeom prst="line">
            <a:avLst/>
          </a:prstGeom>
          <a:noFill/>
          <a:ln w="12700">
            <a:solidFill>
              <a:srgbClr val="E5E7EB"/>
            </a:solidFill>
            <a:prstDash val="solid"/>
          </a:ln>
        </p:spPr>
      </p:sp>
      <p:sp>
        <p:nvSpPr>
          <p:cNvPr id="22" name="Text 20"/>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WSJ citation corroborated in House Transportation Committee 737 MAX report, footnote 160.</a:t>
            </a:r>
            <a:endParaRPr lang="en-US" sz="680" dirty="0"/>
          </a:p>
        </p:txBody>
      </p:sp>
      <p:sp>
        <p:nvSpPr>
          <p:cNvPr id="23" name="Text 21"/>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THE MODEL</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200" b="1" dirty="0">
                <a:solidFill>
                  <a:srgbClr val="111827"/>
                </a:solidFill>
                <a:latin typeface="Helvetica Neue" pitchFamily="34" charset="0"/>
                <a:ea typeface="Helvetica Neue" pitchFamily="34" charset="-122"/>
                <a:cs typeface="Helvetica Neue" pitchFamily="34" charset="-120"/>
              </a:rPr>
              <a:t>Chomsky predicts selection, not puppetry.</a:t>
            </a:r>
            <a:endParaRPr lang="en-US" sz="32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The useful question is degree of fit: which filters are article-level evidence, and which are background conditions?</a:t>
            </a:r>
            <a:endParaRPr lang="en-US" sz="1200" dirty="0"/>
          </a:p>
        </p:txBody>
      </p:sp>
      <p:sp>
        <p:nvSpPr>
          <p:cNvPr id="7" name="Shape 5"/>
          <p:cNvSpPr/>
          <p:nvPr/>
        </p:nvSpPr>
        <p:spPr>
          <a:xfrm>
            <a:off x="822960" y="2331720"/>
            <a:ext cx="1755648" cy="1097280"/>
          </a:xfrm>
          <a:prstGeom prst="rect">
            <a:avLst/>
          </a:prstGeom>
          <a:solidFill>
            <a:srgbClr val="F8FAFC"/>
          </a:solidFill>
          <a:ln w="12700">
            <a:solidFill>
              <a:srgbClr val="CBD5E1"/>
            </a:solidFill>
            <a:prstDash val="solid"/>
          </a:ln>
        </p:spPr>
      </p:sp>
      <p:sp>
        <p:nvSpPr>
          <p:cNvPr id="8" name="Text 6"/>
          <p:cNvSpPr/>
          <p:nvPr/>
        </p:nvSpPr>
        <p:spPr>
          <a:xfrm>
            <a:off x="960120" y="2505456"/>
            <a:ext cx="228600" cy="201168"/>
          </a:xfrm>
          <a:prstGeom prst="rect">
            <a:avLst/>
          </a:prstGeom>
          <a:noFill/>
          <a:ln/>
        </p:spPr>
        <p:txBody>
          <a:bodyPr wrap="square" lIns="0" tIns="0" rIns="0" bIns="0" rtlCol="0" anchor="ctr"/>
          <a:lstStyle/>
          <a:p>
            <a:pPr indent="0" marL="0">
              <a:buNone/>
            </a:pPr>
            <a:r>
              <a:rPr lang="en-US" sz="1000" b="1" dirty="0">
                <a:solidFill>
                  <a:srgbClr val="64748B"/>
                </a:solidFill>
                <a:latin typeface="Helvetica Neue" pitchFamily="34" charset="0"/>
                <a:ea typeface="Helvetica Neue" pitchFamily="34" charset="-122"/>
                <a:cs typeface="Helvetica Neue" pitchFamily="34" charset="-120"/>
              </a:rPr>
              <a:t>1</a:t>
            </a:r>
            <a:endParaRPr lang="en-US" sz="1000" dirty="0"/>
          </a:p>
        </p:txBody>
      </p:sp>
      <p:sp>
        <p:nvSpPr>
          <p:cNvPr id="9" name="Text 7"/>
          <p:cNvSpPr/>
          <p:nvPr/>
        </p:nvSpPr>
        <p:spPr>
          <a:xfrm>
            <a:off x="1216152" y="2468880"/>
            <a:ext cx="1143000" cy="219456"/>
          </a:xfrm>
          <a:prstGeom prst="rect">
            <a:avLst/>
          </a:prstGeom>
          <a:noFill/>
          <a:ln/>
        </p:spPr>
        <p:txBody>
          <a:bodyPr wrap="square" lIns="0" tIns="0" rIns="0" bIns="0" rtlCol="0" anchor="ctr">
            <a:normAutofit/>
          </a:bodyPr>
          <a:lstStyle/>
          <a:p>
            <a:pPr indent="0" marL="0">
              <a:buNone/>
            </a:pPr>
            <a:r>
              <a:rPr lang="en-US" sz="1000" b="1" dirty="0">
                <a:solidFill>
                  <a:srgbClr val="111827"/>
                </a:solidFill>
                <a:latin typeface="Helvetica Neue" pitchFamily="34" charset="0"/>
                <a:ea typeface="Helvetica Neue" pitchFamily="34" charset="-122"/>
                <a:cs typeface="Helvetica Neue" pitchFamily="34" charset="-120"/>
              </a:rPr>
              <a:t>Ownership</a:t>
            </a:r>
            <a:endParaRPr lang="en-US" sz="1000" dirty="0"/>
          </a:p>
        </p:txBody>
      </p:sp>
      <p:sp>
        <p:nvSpPr>
          <p:cNvPr id="10" name="Text 8"/>
          <p:cNvSpPr/>
          <p:nvPr/>
        </p:nvSpPr>
        <p:spPr>
          <a:xfrm>
            <a:off x="1005840" y="2944368"/>
            <a:ext cx="1389888" cy="182880"/>
          </a:xfrm>
          <a:prstGeom prst="rect">
            <a:avLst/>
          </a:prstGeom>
          <a:noFill/>
          <a:ln/>
        </p:spPr>
        <p:txBody>
          <a:bodyPr wrap="square" lIns="0" tIns="0" rIns="0" bIns="0" rtlCol="0" anchor="ctr"/>
          <a:lstStyle/>
          <a:p>
            <a:pPr algn="ctr" indent="0" marL="0">
              <a:buNone/>
            </a:pPr>
            <a:r>
              <a:rPr lang="en-US" sz="750" b="1" dirty="0">
                <a:solidFill>
                  <a:srgbClr val="64748B"/>
                </a:solidFill>
                <a:latin typeface="Helvetica Neue" pitchFamily="34" charset="0"/>
                <a:ea typeface="Helvetica Neue" pitchFamily="34" charset="-122"/>
                <a:cs typeface="Helvetica Neue" pitchFamily="34" charset="-120"/>
              </a:rPr>
              <a:t>background</a:t>
            </a:r>
            <a:endParaRPr lang="en-US" sz="750" dirty="0"/>
          </a:p>
        </p:txBody>
      </p:sp>
      <p:sp>
        <p:nvSpPr>
          <p:cNvPr id="11" name="Shape 9"/>
          <p:cNvSpPr/>
          <p:nvPr/>
        </p:nvSpPr>
        <p:spPr>
          <a:xfrm>
            <a:off x="2578608" y="2880360"/>
            <a:ext cx="457200" cy="0"/>
          </a:xfrm>
          <a:prstGeom prst="line">
            <a:avLst/>
          </a:prstGeom>
          <a:noFill/>
          <a:ln w="25400">
            <a:solidFill>
              <a:srgbClr val="E5E7EB"/>
            </a:solidFill>
            <a:prstDash val="solid"/>
            <a:headEnd type="none"/>
            <a:tailEnd type="triangle"/>
          </a:ln>
        </p:spPr>
      </p:sp>
      <p:sp>
        <p:nvSpPr>
          <p:cNvPr id="12" name="Shape 10"/>
          <p:cNvSpPr/>
          <p:nvPr/>
        </p:nvSpPr>
        <p:spPr>
          <a:xfrm>
            <a:off x="3035808" y="2331720"/>
            <a:ext cx="1755648" cy="1097280"/>
          </a:xfrm>
          <a:prstGeom prst="rect">
            <a:avLst/>
          </a:prstGeom>
          <a:solidFill>
            <a:srgbClr val="F8FAFC"/>
          </a:solidFill>
          <a:ln w="12700">
            <a:solidFill>
              <a:srgbClr val="CBD5E1"/>
            </a:solidFill>
            <a:prstDash val="solid"/>
          </a:ln>
        </p:spPr>
      </p:sp>
      <p:sp>
        <p:nvSpPr>
          <p:cNvPr id="13" name="Text 11"/>
          <p:cNvSpPr/>
          <p:nvPr/>
        </p:nvSpPr>
        <p:spPr>
          <a:xfrm>
            <a:off x="3172968" y="2505456"/>
            <a:ext cx="228600" cy="201168"/>
          </a:xfrm>
          <a:prstGeom prst="rect">
            <a:avLst/>
          </a:prstGeom>
          <a:noFill/>
          <a:ln/>
        </p:spPr>
        <p:txBody>
          <a:bodyPr wrap="square" lIns="0" tIns="0" rIns="0" bIns="0" rtlCol="0" anchor="ctr"/>
          <a:lstStyle/>
          <a:p>
            <a:pPr indent="0" marL="0">
              <a:buNone/>
            </a:pPr>
            <a:r>
              <a:rPr lang="en-US" sz="1000" b="1" dirty="0">
                <a:solidFill>
                  <a:srgbClr val="64748B"/>
                </a:solidFill>
                <a:latin typeface="Helvetica Neue" pitchFamily="34" charset="0"/>
                <a:ea typeface="Helvetica Neue" pitchFamily="34" charset="-122"/>
                <a:cs typeface="Helvetica Neue" pitchFamily="34" charset="-120"/>
              </a:rPr>
              <a:t>2</a:t>
            </a:r>
            <a:endParaRPr lang="en-US" sz="1000" dirty="0"/>
          </a:p>
        </p:txBody>
      </p:sp>
      <p:sp>
        <p:nvSpPr>
          <p:cNvPr id="14" name="Text 12"/>
          <p:cNvSpPr/>
          <p:nvPr/>
        </p:nvSpPr>
        <p:spPr>
          <a:xfrm>
            <a:off x="3429000" y="2468880"/>
            <a:ext cx="1143000" cy="219456"/>
          </a:xfrm>
          <a:prstGeom prst="rect">
            <a:avLst/>
          </a:prstGeom>
          <a:noFill/>
          <a:ln/>
        </p:spPr>
        <p:txBody>
          <a:bodyPr wrap="square" lIns="0" tIns="0" rIns="0" bIns="0" rtlCol="0" anchor="ctr">
            <a:normAutofit/>
          </a:bodyPr>
          <a:lstStyle/>
          <a:p>
            <a:pPr indent="0" marL="0">
              <a:buNone/>
            </a:pPr>
            <a:r>
              <a:rPr lang="en-US" sz="1000" b="1" dirty="0">
                <a:solidFill>
                  <a:srgbClr val="111827"/>
                </a:solidFill>
                <a:latin typeface="Helvetica Neue" pitchFamily="34" charset="0"/>
                <a:ea typeface="Helvetica Neue" pitchFamily="34" charset="-122"/>
                <a:cs typeface="Helvetica Neue" pitchFamily="34" charset="-120"/>
              </a:rPr>
              <a:t>Advertising</a:t>
            </a:r>
            <a:endParaRPr lang="en-US" sz="1000" dirty="0"/>
          </a:p>
        </p:txBody>
      </p:sp>
      <p:sp>
        <p:nvSpPr>
          <p:cNvPr id="15" name="Text 13"/>
          <p:cNvSpPr/>
          <p:nvPr/>
        </p:nvSpPr>
        <p:spPr>
          <a:xfrm>
            <a:off x="3218688" y="2944368"/>
            <a:ext cx="1389888" cy="182880"/>
          </a:xfrm>
          <a:prstGeom prst="rect">
            <a:avLst/>
          </a:prstGeom>
          <a:noFill/>
          <a:ln/>
        </p:spPr>
        <p:txBody>
          <a:bodyPr wrap="square" lIns="0" tIns="0" rIns="0" bIns="0" rtlCol="0" anchor="ctr"/>
          <a:lstStyle/>
          <a:p>
            <a:pPr algn="ctr" indent="0" marL="0">
              <a:buNone/>
            </a:pPr>
            <a:r>
              <a:rPr lang="en-US" sz="750" b="1" dirty="0">
                <a:solidFill>
                  <a:srgbClr val="64748B"/>
                </a:solidFill>
                <a:latin typeface="Helvetica Neue" pitchFamily="34" charset="0"/>
                <a:ea typeface="Helvetica Neue" pitchFamily="34" charset="-122"/>
                <a:cs typeface="Helvetica Neue" pitchFamily="34" charset="-120"/>
              </a:rPr>
              <a:t>background</a:t>
            </a:r>
            <a:endParaRPr lang="en-US" sz="750" dirty="0"/>
          </a:p>
        </p:txBody>
      </p:sp>
      <p:sp>
        <p:nvSpPr>
          <p:cNvPr id="16" name="Shape 14"/>
          <p:cNvSpPr/>
          <p:nvPr/>
        </p:nvSpPr>
        <p:spPr>
          <a:xfrm>
            <a:off x="4791456" y="2880360"/>
            <a:ext cx="457200" cy="0"/>
          </a:xfrm>
          <a:prstGeom prst="line">
            <a:avLst/>
          </a:prstGeom>
          <a:noFill/>
          <a:ln w="25400">
            <a:solidFill>
              <a:srgbClr val="E5E7EB"/>
            </a:solidFill>
            <a:prstDash val="solid"/>
            <a:headEnd type="none"/>
            <a:tailEnd type="triangle"/>
          </a:ln>
        </p:spPr>
      </p:sp>
      <p:sp>
        <p:nvSpPr>
          <p:cNvPr id="17" name="Shape 15"/>
          <p:cNvSpPr/>
          <p:nvPr/>
        </p:nvSpPr>
        <p:spPr>
          <a:xfrm>
            <a:off x="5248656" y="2331720"/>
            <a:ext cx="1755648" cy="1097280"/>
          </a:xfrm>
          <a:prstGeom prst="rect">
            <a:avLst/>
          </a:prstGeom>
          <a:solidFill>
            <a:srgbClr val="EFF6FF"/>
          </a:solidFill>
          <a:ln w="12700">
            <a:solidFill>
              <a:srgbClr val="93C5FD"/>
            </a:solidFill>
            <a:prstDash val="solid"/>
          </a:ln>
        </p:spPr>
      </p:sp>
      <p:sp>
        <p:nvSpPr>
          <p:cNvPr id="18" name="Text 16"/>
          <p:cNvSpPr/>
          <p:nvPr/>
        </p:nvSpPr>
        <p:spPr>
          <a:xfrm>
            <a:off x="5385816" y="2505456"/>
            <a:ext cx="228600" cy="201168"/>
          </a:xfrm>
          <a:prstGeom prst="rect">
            <a:avLst/>
          </a:prstGeom>
          <a:noFill/>
          <a:ln/>
        </p:spPr>
        <p:txBody>
          <a:bodyPr wrap="square" lIns="0" tIns="0" rIns="0" bIns="0" rtlCol="0" anchor="ctr"/>
          <a:lstStyle/>
          <a:p>
            <a:pPr indent="0" marL="0">
              <a:buNone/>
            </a:pPr>
            <a:r>
              <a:rPr lang="en-US" sz="1000" b="1" dirty="0">
                <a:solidFill>
                  <a:srgbClr val="1D4ED8"/>
                </a:solidFill>
                <a:latin typeface="Helvetica Neue" pitchFamily="34" charset="0"/>
                <a:ea typeface="Helvetica Neue" pitchFamily="34" charset="-122"/>
                <a:cs typeface="Helvetica Neue" pitchFamily="34" charset="-120"/>
              </a:rPr>
              <a:t>3</a:t>
            </a:r>
            <a:endParaRPr lang="en-US" sz="1000" dirty="0"/>
          </a:p>
        </p:txBody>
      </p:sp>
      <p:sp>
        <p:nvSpPr>
          <p:cNvPr id="19" name="Text 17"/>
          <p:cNvSpPr/>
          <p:nvPr/>
        </p:nvSpPr>
        <p:spPr>
          <a:xfrm>
            <a:off x="5641848" y="2468880"/>
            <a:ext cx="1143000" cy="219456"/>
          </a:xfrm>
          <a:prstGeom prst="rect">
            <a:avLst/>
          </a:prstGeom>
          <a:noFill/>
          <a:ln/>
        </p:spPr>
        <p:txBody>
          <a:bodyPr wrap="square" lIns="0" tIns="0" rIns="0" bIns="0" rtlCol="0" anchor="ctr">
            <a:normAutofit/>
          </a:bodyPr>
          <a:lstStyle/>
          <a:p>
            <a:pPr indent="0" marL="0">
              <a:buNone/>
            </a:pPr>
            <a:r>
              <a:rPr lang="en-US" sz="1000" b="1" dirty="0">
                <a:solidFill>
                  <a:srgbClr val="111827"/>
                </a:solidFill>
                <a:latin typeface="Helvetica Neue" pitchFamily="34" charset="0"/>
                <a:ea typeface="Helvetica Neue" pitchFamily="34" charset="-122"/>
                <a:cs typeface="Helvetica Neue" pitchFamily="34" charset="-120"/>
              </a:rPr>
              <a:t>Sourcing</a:t>
            </a:r>
            <a:endParaRPr lang="en-US" sz="1000" dirty="0"/>
          </a:p>
        </p:txBody>
      </p:sp>
      <p:sp>
        <p:nvSpPr>
          <p:cNvPr id="20" name="Text 18"/>
          <p:cNvSpPr/>
          <p:nvPr/>
        </p:nvSpPr>
        <p:spPr>
          <a:xfrm>
            <a:off x="5431536" y="2944368"/>
            <a:ext cx="1389888" cy="182880"/>
          </a:xfrm>
          <a:prstGeom prst="rect">
            <a:avLst/>
          </a:prstGeom>
          <a:noFill/>
          <a:ln/>
        </p:spPr>
        <p:txBody>
          <a:bodyPr wrap="square" lIns="0" tIns="0" rIns="0" bIns="0" rtlCol="0" anchor="ctr"/>
          <a:lstStyle/>
          <a:p>
            <a:pPr algn="ctr" indent="0" marL="0">
              <a:buNone/>
            </a:pPr>
            <a:r>
              <a:rPr lang="en-US" sz="750" b="1" dirty="0">
                <a:solidFill>
                  <a:srgbClr val="64748B"/>
                </a:solidFill>
                <a:latin typeface="Helvetica Neue" pitchFamily="34" charset="0"/>
                <a:ea typeface="Helvetica Neue" pitchFamily="34" charset="-122"/>
                <a:cs typeface="Helvetica Neue" pitchFamily="34" charset="-120"/>
              </a:rPr>
              <a:t>article-level</a:t>
            </a:r>
            <a:endParaRPr lang="en-US" sz="750" dirty="0"/>
          </a:p>
        </p:txBody>
      </p:sp>
      <p:sp>
        <p:nvSpPr>
          <p:cNvPr id="21" name="Shape 19"/>
          <p:cNvSpPr/>
          <p:nvPr/>
        </p:nvSpPr>
        <p:spPr>
          <a:xfrm>
            <a:off x="7004304" y="2880360"/>
            <a:ext cx="457200" cy="0"/>
          </a:xfrm>
          <a:prstGeom prst="line">
            <a:avLst/>
          </a:prstGeom>
          <a:noFill/>
          <a:ln w="25400">
            <a:solidFill>
              <a:srgbClr val="E5E7EB"/>
            </a:solidFill>
            <a:prstDash val="solid"/>
            <a:headEnd type="none"/>
            <a:tailEnd type="triangle"/>
          </a:ln>
        </p:spPr>
      </p:sp>
      <p:sp>
        <p:nvSpPr>
          <p:cNvPr id="22" name="Shape 20"/>
          <p:cNvSpPr/>
          <p:nvPr/>
        </p:nvSpPr>
        <p:spPr>
          <a:xfrm>
            <a:off x="7461504" y="2331720"/>
            <a:ext cx="1755648" cy="1097280"/>
          </a:xfrm>
          <a:prstGeom prst="rect">
            <a:avLst/>
          </a:prstGeom>
          <a:solidFill>
            <a:srgbClr val="F8FAFC"/>
          </a:solidFill>
          <a:ln w="12700">
            <a:solidFill>
              <a:srgbClr val="CBD5E1"/>
            </a:solidFill>
            <a:prstDash val="solid"/>
          </a:ln>
        </p:spPr>
      </p:sp>
      <p:sp>
        <p:nvSpPr>
          <p:cNvPr id="23" name="Text 21"/>
          <p:cNvSpPr/>
          <p:nvPr/>
        </p:nvSpPr>
        <p:spPr>
          <a:xfrm>
            <a:off x="7598664" y="2505456"/>
            <a:ext cx="228600" cy="201168"/>
          </a:xfrm>
          <a:prstGeom prst="rect">
            <a:avLst/>
          </a:prstGeom>
          <a:noFill/>
          <a:ln/>
        </p:spPr>
        <p:txBody>
          <a:bodyPr wrap="square" lIns="0" tIns="0" rIns="0" bIns="0" rtlCol="0" anchor="ctr"/>
          <a:lstStyle/>
          <a:p>
            <a:pPr indent="0" marL="0">
              <a:buNone/>
            </a:pPr>
            <a:r>
              <a:rPr lang="en-US" sz="1000" b="1" dirty="0">
                <a:solidFill>
                  <a:srgbClr val="64748B"/>
                </a:solidFill>
                <a:latin typeface="Helvetica Neue" pitchFamily="34" charset="0"/>
                <a:ea typeface="Helvetica Neue" pitchFamily="34" charset="-122"/>
                <a:cs typeface="Helvetica Neue" pitchFamily="34" charset="-120"/>
              </a:rPr>
              <a:t>4</a:t>
            </a:r>
            <a:endParaRPr lang="en-US" sz="1000" dirty="0"/>
          </a:p>
        </p:txBody>
      </p:sp>
      <p:sp>
        <p:nvSpPr>
          <p:cNvPr id="24" name="Text 22"/>
          <p:cNvSpPr/>
          <p:nvPr/>
        </p:nvSpPr>
        <p:spPr>
          <a:xfrm>
            <a:off x="7854696" y="2468880"/>
            <a:ext cx="1143000" cy="219456"/>
          </a:xfrm>
          <a:prstGeom prst="rect">
            <a:avLst/>
          </a:prstGeom>
          <a:noFill/>
          <a:ln/>
        </p:spPr>
        <p:txBody>
          <a:bodyPr wrap="square" lIns="0" tIns="0" rIns="0" bIns="0" rtlCol="0" anchor="ctr">
            <a:normAutofit/>
          </a:bodyPr>
          <a:lstStyle/>
          <a:p>
            <a:pPr indent="0" marL="0">
              <a:buNone/>
            </a:pPr>
            <a:r>
              <a:rPr lang="en-US" sz="1000" b="1" dirty="0">
                <a:solidFill>
                  <a:srgbClr val="111827"/>
                </a:solidFill>
                <a:latin typeface="Helvetica Neue" pitchFamily="34" charset="0"/>
                <a:ea typeface="Helvetica Neue" pitchFamily="34" charset="-122"/>
                <a:cs typeface="Helvetica Neue" pitchFamily="34" charset="-120"/>
              </a:rPr>
              <a:t>Flak</a:t>
            </a:r>
            <a:endParaRPr lang="en-US" sz="1000" dirty="0"/>
          </a:p>
        </p:txBody>
      </p:sp>
      <p:sp>
        <p:nvSpPr>
          <p:cNvPr id="25" name="Text 23"/>
          <p:cNvSpPr/>
          <p:nvPr/>
        </p:nvSpPr>
        <p:spPr>
          <a:xfrm>
            <a:off x="7644384" y="2944368"/>
            <a:ext cx="1389888" cy="182880"/>
          </a:xfrm>
          <a:prstGeom prst="rect">
            <a:avLst/>
          </a:prstGeom>
          <a:noFill/>
          <a:ln/>
        </p:spPr>
        <p:txBody>
          <a:bodyPr wrap="square" lIns="0" tIns="0" rIns="0" bIns="0" rtlCol="0" anchor="ctr"/>
          <a:lstStyle/>
          <a:p>
            <a:pPr algn="ctr" indent="0" marL="0">
              <a:buNone/>
            </a:pPr>
            <a:r>
              <a:rPr lang="en-US" sz="750" b="1" dirty="0">
                <a:solidFill>
                  <a:srgbClr val="64748B"/>
                </a:solidFill>
                <a:latin typeface="Helvetica Neue" pitchFamily="34" charset="0"/>
                <a:ea typeface="Helvetica Neue" pitchFamily="34" charset="-122"/>
                <a:cs typeface="Helvetica Neue" pitchFamily="34" charset="-120"/>
              </a:rPr>
              <a:t>anticipated cost</a:t>
            </a:r>
            <a:endParaRPr lang="en-US" sz="750" dirty="0"/>
          </a:p>
        </p:txBody>
      </p:sp>
      <p:sp>
        <p:nvSpPr>
          <p:cNvPr id="26" name="Shape 24"/>
          <p:cNvSpPr/>
          <p:nvPr/>
        </p:nvSpPr>
        <p:spPr>
          <a:xfrm>
            <a:off x="9217152" y="2880360"/>
            <a:ext cx="457200" cy="0"/>
          </a:xfrm>
          <a:prstGeom prst="line">
            <a:avLst/>
          </a:prstGeom>
          <a:noFill/>
          <a:ln w="25400">
            <a:solidFill>
              <a:srgbClr val="E5E7EB"/>
            </a:solidFill>
            <a:prstDash val="solid"/>
            <a:headEnd type="none"/>
            <a:tailEnd type="triangle"/>
          </a:ln>
        </p:spPr>
      </p:sp>
      <p:sp>
        <p:nvSpPr>
          <p:cNvPr id="27" name="Shape 25"/>
          <p:cNvSpPr/>
          <p:nvPr/>
        </p:nvSpPr>
        <p:spPr>
          <a:xfrm>
            <a:off x="9674352" y="2331720"/>
            <a:ext cx="1755648" cy="1097280"/>
          </a:xfrm>
          <a:prstGeom prst="rect">
            <a:avLst/>
          </a:prstGeom>
          <a:solidFill>
            <a:srgbClr val="EFF6FF"/>
          </a:solidFill>
          <a:ln w="12700">
            <a:solidFill>
              <a:srgbClr val="93C5FD"/>
            </a:solidFill>
            <a:prstDash val="solid"/>
          </a:ln>
        </p:spPr>
      </p:sp>
      <p:sp>
        <p:nvSpPr>
          <p:cNvPr id="28" name="Text 26"/>
          <p:cNvSpPr/>
          <p:nvPr/>
        </p:nvSpPr>
        <p:spPr>
          <a:xfrm>
            <a:off x="9811512" y="2505456"/>
            <a:ext cx="228600" cy="201168"/>
          </a:xfrm>
          <a:prstGeom prst="rect">
            <a:avLst/>
          </a:prstGeom>
          <a:noFill/>
          <a:ln/>
        </p:spPr>
        <p:txBody>
          <a:bodyPr wrap="square" lIns="0" tIns="0" rIns="0" bIns="0" rtlCol="0" anchor="ctr"/>
          <a:lstStyle/>
          <a:p>
            <a:pPr indent="0" marL="0">
              <a:buNone/>
            </a:pPr>
            <a:r>
              <a:rPr lang="en-US" sz="1000" b="1" dirty="0">
                <a:solidFill>
                  <a:srgbClr val="1D4ED8"/>
                </a:solidFill>
                <a:latin typeface="Helvetica Neue" pitchFamily="34" charset="0"/>
                <a:ea typeface="Helvetica Neue" pitchFamily="34" charset="-122"/>
                <a:cs typeface="Helvetica Neue" pitchFamily="34" charset="-120"/>
              </a:rPr>
              <a:t>5</a:t>
            </a:r>
            <a:endParaRPr lang="en-US" sz="1000" dirty="0"/>
          </a:p>
        </p:txBody>
      </p:sp>
      <p:sp>
        <p:nvSpPr>
          <p:cNvPr id="29" name="Text 27"/>
          <p:cNvSpPr/>
          <p:nvPr/>
        </p:nvSpPr>
        <p:spPr>
          <a:xfrm>
            <a:off x="10067544" y="2468880"/>
            <a:ext cx="1143000" cy="219456"/>
          </a:xfrm>
          <a:prstGeom prst="rect">
            <a:avLst/>
          </a:prstGeom>
          <a:noFill/>
          <a:ln/>
        </p:spPr>
        <p:txBody>
          <a:bodyPr wrap="square" lIns="0" tIns="0" rIns="0" bIns="0" rtlCol="0" anchor="ctr">
            <a:normAutofit/>
          </a:bodyPr>
          <a:lstStyle/>
          <a:p>
            <a:pPr indent="0" marL="0">
              <a:buNone/>
            </a:pPr>
            <a:r>
              <a:rPr lang="en-US" sz="1000" b="1" dirty="0">
                <a:solidFill>
                  <a:srgbClr val="111827"/>
                </a:solidFill>
                <a:latin typeface="Helvetica Neue" pitchFamily="34" charset="0"/>
                <a:ea typeface="Helvetica Neue" pitchFamily="34" charset="-122"/>
                <a:cs typeface="Helvetica Neue" pitchFamily="34" charset="-120"/>
              </a:rPr>
              <a:t>Ideology</a:t>
            </a:r>
            <a:endParaRPr lang="en-US" sz="1000" dirty="0"/>
          </a:p>
        </p:txBody>
      </p:sp>
      <p:sp>
        <p:nvSpPr>
          <p:cNvPr id="30" name="Text 28"/>
          <p:cNvSpPr/>
          <p:nvPr/>
        </p:nvSpPr>
        <p:spPr>
          <a:xfrm>
            <a:off x="9857232" y="2944368"/>
            <a:ext cx="1389888" cy="182880"/>
          </a:xfrm>
          <a:prstGeom prst="rect">
            <a:avLst/>
          </a:prstGeom>
          <a:noFill/>
          <a:ln/>
        </p:spPr>
        <p:txBody>
          <a:bodyPr wrap="square" lIns="0" tIns="0" rIns="0" bIns="0" rtlCol="0" anchor="ctr"/>
          <a:lstStyle/>
          <a:p>
            <a:pPr algn="ctr" indent="0" marL="0">
              <a:buNone/>
            </a:pPr>
            <a:r>
              <a:rPr lang="en-US" sz="750" b="1" dirty="0">
                <a:solidFill>
                  <a:srgbClr val="64748B"/>
                </a:solidFill>
                <a:latin typeface="Helvetica Neue" pitchFamily="34" charset="0"/>
                <a:ea typeface="Helvetica Neue" pitchFamily="34" charset="-122"/>
                <a:cs typeface="Helvetica Neue" pitchFamily="34" charset="-120"/>
              </a:rPr>
              <a:t>article-level</a:t>
            </a:r>
            <a:endParaRPr lang="en-US" sz="750" dirty="0"/>
          </a:p>
        </p:txBody>
      </p:sp>
      <p:sp>
        <p:nvSpPr>
          <p:cNvPr id="31" name="Text 29"/>
          <p:cNvSpPr/>
          <p:nvPr/>
        </p:nvSpPr>
        <p:spPr>
          <a:xfrm>
            <a:off x="914400" y="4160520"/>
            <a:ext cx="5577840" cy="256032"/>
          </a:xfrm>
          <a:prstGeom prst="rect">
            <a:avLst/>
          </a:prstGeom>
          <a:noFill/>
          <a:ln/>
        </p:spPr>
        <p:txBody>
          <a:bodyPr wrap="square" lIns="0" tIns="0" rIns="0" bIns="0" rtlCol="0" anchor="ctr"/>
          <a:lstStyle/>
          <a:p>
            <a:pPr indent="0" marL="0">
              <a:buNone/>
            </a:pPr>
            <a:r>
              <a:rPr lang="en-US" sz="1500" b="1" dirty="0">
                <a:solidFill>
                  <a:srgbClr val="111827"/>
                </a:solidFill>
                <a:latin typeface="Helvetica Neue" pitchFamily="34" charset="0"/>
                <a:ea typeface="Helvetica Neue" pitchFamily="34" charset="-122"/>
                <a:cs typeface="Helvetica Neue" pitchFamily="34" charset="-120"/>
              </a:rPr>
              <a:t>The strongest version of the argument is uneven by design:</a:t>
            </a:r>
            <a:endParaRPr lang="en-US" sz="1500" dirty="0"/>
          </a:p>
        </p:txBody>
      </p:sp>
      <p:sp>
        <p:nvSpPr>
          <p:cNvPr id="32" name="Text 30"/>
          <p:cNvSpPr/>
          <p:nvPr/>
        </p:nvSpPr>
        <p:spPr>
          <a:xfrm>
            <a:off x="960120" y="4681728"/>
            <a:ext cx="1828800" cy="164592"/>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Structural fit</a:t>
            </a:r>
            <a:endParaRPr lang="en-US" sz="850" dirty="0"/>
          </a:p>
        </p:txBody>
      </p:sp>
      <p:sp>
        <p:nvSpPr>
          <p:cNvPr id="33" name="Shape 31"/>
          <p:cNvSpPr/>
          <p:nvPr/>
        </p:nvSpPr>
        <p:spPr>
          <a:xfrm>
            <a:off x="2971800" y="4700016"/>
            <a:ext cx="2148840" cy="100584"/>
          </a:xfrm>
          <a:prstGeom prst="rect">
            <a:avLst/>
          </a:prstGeom>
          <a:solidFill>
            <a:srgbClr val="E5E7EB"/>
          </a:solidFill>
          <a:ln w="12700">
            <a:solidFill>
              <a:srgbClr val="E5E7EB"/>
            </a:solidFill>
            <a:prstDash val="solid"/>
          </a:ln>
        </p:spPr>
      </p:sp>
      <p:sp>
        <p:nvSpPr>
          <p:cNvPr id="34" name="Shape 32"/>
          <p:cNvSpPr/>
          <p:nvPr/>
        </p:nvSpPr>
        <p:spPr>
          <a:xfrm>
            <a:off x="2971800" y="4700016"/>
            <a:ext cx="1461211" cy="100584"/>
          </a:xfrm>
          <a:prstGeom prst="rect">
            <a:avLst/>
          </a:prstGeom>
          <a:solidFill>
            <a:srgbClr val="B45309"/>
          </a:solidFill>
          <a:ln w="12700">
            <a:solidFill>
              <a:srgbClr val="B45309"/>
            </a:solidFill>
            <a:prstDash val="solid"/>
          </a:ln>
        </p:spPr>
      </p:sp>
      <p:sp>
        <p:nvSpPr>
          <p:cNvPr id="35" name="Text 33"/>
          <p:cNvSpPr/>
          <p:nvPr/>
        </p:nvSpPr>
        <p:spPr>
          <a:xfrm>
            <a:off x="960120" y="5102352"/>
            <a:ext cx="1828800" cy="164592"/>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Article-level fit</a:t>
            </a:r>
            <a:endParaRPr lang="en-US" sz="850" dirty="0"/>
          </a:p>
        </p:txBody>
      </p:sp>
      <p:sp>
        <p:nvSpPr>
          <p:cNvPr id="36" name="Shape 34"/>
          <p:cNvSpPr/>
          <p:nvPr/>
        </p:nvSpPr>
        <p:spPr>
          <a:xfrm>
            <a:off x="2971800" y="5120640"/>
            <a:ext cx="2148840" cy="100584"/>
          </a:xfrm>
          <a:prstGeom prst="rect">
            <a:avLst/>
          </a:prstGeom>
          <a:solidFill>
            <a:srgbClr val="E5E7EB"/>
          </a:solidFill>
          <a:ln w="12700">
            <a:solidFill>
              <a:srgbClr val="E5E7EB"/>
            </a:solidFill>
            <a:prstDash val="solid"/>
          </a:ln>
        </p:spPr>
      </p:sp>
      <p:sp>
        <p:nvSpPr>
          <p:cNvPr id="37" name="Shape 35"/>
          <p:cNvSpPr/>
          <p:nvPr/>
        </p:nvSpPr>
        <p:spPr>
          <a:xfrm>
            <a:off x="2971800" y="5120640"/>
            <a:ext cx="1976933" cy="100584"/>
          </a:xfrm>
          <a:prstGeom prst="rect">
            <a:avLst/>
          </a:prstGeom>
          <a:solidFill>
            <a:srgbClr val="1D4ED8"/>
          </a:solidFill>
          <a:ln w="12700">
            <a:solidFill>
              <a:srgbClr val="1D4ED8"/>
            </a:solidFill>
            <a:prstDash val="solid"/>
          </a:ln>
        </p:spPr>
      </p:sp>
      <p:sp>
        <p:nvSpPr>
          <p:cNvPr id="38" name="Text 36"/>
          <p:cNvSpPr/>
          <p:nvPr/>
        </p:nvSpPr>
        <p:spPr>
          <a:xfrm>
            <a:off x="960120" y="5522976"/>
            <a:ext cx="1828800" cy="164592"/>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Moral-frame fit</a:t>
            </a:r>
            <a:endParaRPr lang="en-US" sz="850" dirty="0"/>
          </a:p>
        </p:txBody>
      </p:sp>
      <p:sp>
        <p:nvSpPr>
          <p:cNvPr id="39" name="Shape 37"/>
          <p:cNvSpPr/>
          <p:nvPr/>
        </p:nvSpPr>
        <p:spPr>
          <a:xfrm>
            <a:off x="2971800" y="5541264"/>
            <a:ext cx="2148840" cy="100584"/>
          </a:xfrm>
          <a:prstGeom prst="rect">
            <a:avLst/>
          </a:prstGeom>
          <a:solidFill>
            <a:srgbClr val="E5E7EB"/>
          </a:solidFill>
          <a:ln w="12700">
            <a:solidFill>
              <a:srgbClr val="E5E7EB"/>
            </a:solidFill>
            <a:prstDash val="solid"/>
          </a:ln>
        </p:spPr>
      </p:sp>
      <p:sp>
        <p:nvSpPr>
          <p:cNvPr id="40" name="Shape 38"/>
          <p:cNvSpPr/>
          <p:nvPr/>
        </p:nvSpPr>
        <p:spPr>
          <a:xfrm>
            <a:off x="2971800" y="5541264"/>
            <a:ext cx="2041398" cy="100584"/>
          </a:xfrm>
          <a:prstGeom prst="rect">
            <a:avLst/>
          </a:prstGeom>
          <a:solidFill>
            <a:srgbClr val="B91C1C"/>
          </a:solidFill>
          <a:ln w="12700">
            <a:solidFill>
              <a:srgbClr val="B91C1C"/>
            </a:solidFill>
            <a:prstDash val="solid"/>
          </a:ln>
        </p:spPr>
      </p:sp>
      <p:sp>
        <p:nvSpPr>
          <p:cNvPr id="41" name="Shape 39"/>
          <p:cNvSpPr/>
          <p:nvPr/>
        </p:nvSpPr>
        <p:spPr>
          <a:xfrm>
            <a:off x="6629400" y="4206240"/>
            <a:ext cx="4297680" cy="1600200"/>
          </a:xfrm>
          <a:prstGeom prst="rect">
            <a:avLst/>
          </a:prstGeom>
          <a:solidFill>
            <a:srgbClr val="F8FAFC"/>
          </a:solidFill>
          <a:ln w="12700">
            <a:solidFill>
              <a:srgbClr val="E5E7EB"/>
            </a:solidFill>
            <a:prstDash val="solid"/>
          </a:ln>
        </p:spPr>
      </p:sp>
      <p:sp>
        <p:nvSpPr>
          <p:cNvPr id="42" name="Text 40"/>
          <p:cNvSpPr/>
          <p:nvPr/>
        </p:nvSpPr>
        <p:spPr>
          <a:xfrm>
            <a:off x="6830568" y="4370832"/>
            <a:ext cx="3895344" cy="164592"/>
          </a:xfrm>
          <a:prstGeom prst="rect">
            <a:avLst/>
          </a:prstGeom>
          <a:noFill/>
          <a:ln/>
        </p:spPr>
        <p:txBody>
          <a:bodyPr wrap="square" lIns="0" tIns="0" rIns="0" bIns="0" rtlCol="0" anchor="ctr"/>
          <a:lstStyle/>
          <a:p>
            <a:pPr indent="0" marL="0">
              <a:buNone/>
            </a:pPr>
            <a:r>
              <a:rPr lang="en-US" sz="700" b="1" dirty="0">
                <a:solidFill>
                  <a:srgbClr val="111827"/>
                </a:solidFill>
                <a:latin typeface="Helvetica Neue" pitchFamily="34" charset="0"/>
                <a:ea typeface="Helvetica Neue" pitchFamily="34" charset="-122"/>
                <a:cs typeface="Helvetica Neue" pitchFamily="34" charset="-120"/>
              </a:rPr>
              <a:t>WORKING STANDARD</a:t>
            </a:r>
            <a:endParaRPr lang="en-US" sz="700" dirty="0"/>
          </a:p>
        </p:txBody>
      </p:sp>
      <p:sp>
        <p:nvSpPr>
          <p:cNvPr id="43" name="Text 41"/>
          <p:cNvSpPr/>
          <p:nvPr/>
        </p:nvSpPr>
        <p:spPr>
          <a:xfrm>
            <a:off x="6830568" y="4645152"/>
            <a:ext cx="3895344" cy="105156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Partial filters still matter if they help explain why the stronger filters can operate.</a:t>
            </a:r>
            <a:endParaRPr lang="en-US" sz="1300" dirty="0"/>
          </a:p>
        </p:txBody>
      </p:sp>
      <p:sp>
        <p:nvSpPr>
          <p:cNvPr id="44" name="Shape 42"/>
          <p:cNvSpPr/>
          <p:nvPr/>
        </p:nvSpPr>
        <p:spPr>
          <a:xfrm>
            <a:off x="502920" y="6473952"/>
            <a:ext cx="11109960" cy="0"/>
          </a:xfrm>
          <a:prstGeom prst="line">
            <a:avLst/>
          </a:prstGeom>
          <a:noFill/>
          <a:ln w="12700">
            <a:solidFill>
              <a:srgbClr val="E5E7EB"/>
            </a:solidFill>
            <a:prstDash val="solid"/>
          </a:ln>
        </p:spPr>
      </p:sp>
      <p:sp>
        <p:nvSpPr>
          <p:cNvPr id="45" name="Text 43"/>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Herman &amp; Chomsky, Manufacturing Consent: filters operate structurally and reinforce one another.</a:t>
            </a:r>
            <a:endParaRPr lang="en-US" sz="680" dirty="0"/>
          </a:p>
        </p:txBody>
      </p:sp>
      <p:sp>
        <p:nvSpPr>
          <p:cNvPr id="46" name="Text 44"/>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THE FRAME</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The article makes the FAA the fact-giver.</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Before theory, the text itself has a center of gravity: official U.S. authority.</a:t>
            </a:r>
            <a:endParaRPr lang="en-US" sz="1200" dirty="0"/>
          </a:p>
        </p:txBody>
      </p:sp>
      <p:sp>
        <p:nvSpPr>
          <p:cNvPr id="7" name="Text 5"/>
          <p:cNvSpPr/>
          <p:nvPr/>
        </p:nvSpPr>
        <p:spPr>
          <a:xfrm>
            <a:off x="822960" y="1965960"/>
            <a:ext cx="3108960" cy="237744"/>
          </a:xfrm>
          <a:prstGeom prst="rect">
            <a:avLst/>
          </a:prstGeom>
          <a:noFill/>
          <a:ln/>
        </p:spPr>
        <p:txBody>
          <a:bodyPr wrap="square" lIns="0" tIns="0" rIns="0" bIns="0" rtlCol="0" anchor="ctr"/>
          <a:lstStyle/>
          <a:p>
            <a:pPr indent="0" marL="0">
              <a:buNone/>
            </a:pPr>
            <a:r>
              <a:rPr lang="en-US" sz="1100" b="1" dirty="0">
                <a:solidFill>
                  <a:srgbClr val="1D4ED8"/>
                </a:solidFill>
                <a:latin typeface="Helvetica Neue" pitchFamily="34" charset="0"/>
                <a:ea typeface="Helvetica Neue" pitchFamily="34" charset="-122"/>
                <a:cs typeface="Helvetica Neue" pitchFamily="34" charset="-120"/>
              </a:rPr>
              <a:t>Organizing authority</a:t>
            </a:r>
            <a:endParaRPr lang="en-US" sz="1100" dirty="0"/>
          </a:p>
        </p:txBody>
      </p:sp>
      <p:sp>
        <p:nvSpPr>
          <p:cNvPr id="8" name="Shape 6"/>
          <p:cNvSpPr/>
          <p:nvPr/>
        </p:nvSpPr>
        <p:spPr>
          <a:xfrm>
            <a:off x="868680" y="2395728"/>
            <a:ext cx="2423160" cy="402336"/>
          </a:xfrm>
          <a:prstGeom prst="rect">
            <a:avLst/>
          </a:prstGeom>
          <a:solidFill>
            <a:srgbClr val="FFFFFF"/>
          </a:solidFill>
          <a:ln w="12700">
            <a:solidFill>
              <a:srgbClr val="CBD5E1"/>
            </a:solidFill>
            <a:prstDash val="solid"/>
          </a:ln>
        </p:spPr>
      </p:sp>
      <p:sp>
        <p:nvSpPr>
          <p:cNvPr id="9" name="Text 7"/>
          <p:cNvSpPr/>
          <p:nvPr/>
        </p:nvSpPr>
        <p:spPr>
          <a:xfrm>
            <a:off x="978408" y="2514600"/>
            <a:ext cx="220370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FAA</a:t>
            </a:r>
            <a:endParaRPr lang="en-US" sz="850" dirty="0"/>
          </a:p>
        </p:txBody>
      </p:sp>
      <p:sp>
        <p:nvSpPr>
          <p:cNvPr id="10" name="Shape 8"/>
          <p:cNvSpPr/>
          <p:nvPr/>
        </p:nvSpPr>
        <p:spPr>
          <a:xfrm>
            <a:off x="868680" y="2980944"/>
            <a:ext cx="2423160" cy="402336"/>
          </a:xfrm>
          <a:prstGeom prst="rect">
            <a:avLst/>
          </a:prstGeom>
          <a:solidFill>
            <a:srgbClr val="FFFFFF"/>
          </a:solidFill>
          <a:ln w="12700">
            <a:solidFill>
              <a:srgbClr val="CBD5E1"/>
            </a:solidFill>
            <a:prstDash val="solid"/>
          </a:ln>
        </p:spPr>
      </p:sp>
      <p:sp>
        <p:nvSpPr>
          <p:cNvPr id="11" name="Text 9"/>
          <p:cNvSpPr/>
          <p:nvPr/>
        </p:nvSpPr>
        <p:spPr>
          <a:xfrm>
            <a:off x="978408" y="3099816"/>
            <a:ext cx="220370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Boeing</a:t>
            </a:r>
            <a:endParaRPr lang="en-US" sz="850" dirty="0"/>
          </a:p>
        </p:txBody>
      </p:sp>
      <p:sp>
        <p:nvSpPr>
          <p:cNvPr id="12" name="Shape 10"/>
          <p:cNvSpPr/>
          <p:nvPr/>
        </p:nvSpPr>
        <p:spPr>
          <a:xfrm>
            <a:off x="868680" y="3566160"/>
            <a:ext cx="2423160" cy="402336"/>
          </a:xfrm>
          <a:prstGeom prst="rect">
            <a:avLst/>
          </a:prstGeom>
          <a:solidFill>
            <a:srgbClr val="FFFFFF"/>
          </a:solidFill>
          <a:ln w="12700">
            <a:solidFill>
              <a:srgbClr val="CBD5E1"/>
            </a:solidFill>
            <a:prstDash val="solid"/>
          </a:ln>
        </p:spPr>
      </p:sp>
      <p:sp>
        <p:nvSpPr>
          <p:cNvPr id="13" name="Text 11"/>
          <p:cNvSpPr/>
          <p:nvPr/>
        </p:nvSpPr>
        <p:spPr>
          <a:xfrm>
            <a:off x="978408" y="3685032"/>
            <a:ext cx="220370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U.S. airlines</a:t>
            </a:r>
            <a:endParaRPr lang="en-US" sz="850" dirty="0"/>
          </a:p>
        </p:txBody>
      </p:sp>
      <p:sp>
        <p:nvSpPr>
          <p:cNvPr id="14" name="Shape 12"/>
          <p:cNvSpPr/>
          <p:nvPr/>
        </p:nvSpPr>
        <p:spPr>
          <a:xfrm>
            <a:off x="868680" y="4151376"/>
            <a:ext cx="2423160" cy="402336"/>
          </a:xfrm>
          <a:prstGeom prst="rect">
            <a:avLst/>
          </a:prstGeom>
          <a:solidFill>
            <a:srgbClr val="FFFFFF"/>
          </a:solidFill>
          <a:ln w="12700">
            <a:solidFill>
              <a:srgbClr val="CBD5E1"/>
            </a:solidFill>
            <a:prstDash val="solid"/>
          </a:ln>
        </p:spPr>
      </p:sp>
      <p:sp>
        <p:nvSpPr>
          <p:cNvPr id="15" name="Text 13"/>
          <p:cNvSpPr/>
          <p:nvPr/>
        </p:nvSpPr>
        <p:spPr>
          <a:xfrm>
            <a:off x="978408" y="4270248"/>
            <a:ext cx="220370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industry officials</a:t>
            </a:r>
            <a:endParaRPr lang="en-US" sz="850" dirty="0"/>
          </a:p>
        </p:txBody>
      </p:sp>
      <p:sp>
        <p:nvSpPr>
          <p:cNvPr id="16" name="Text 14"/>
          <p:cNvSpPr/>
          <p:nvPr/>
        </p:nvSpPr>
        <p:spPr>
          <a:xfrm>
            <a:off x="4572000" y="1965960"/>
            <a:ext cx="3108960" cy="237744"/>
          </a:xfrm>
          <a:prstGeom prst="rect">
            <a:avLst/>
          </a:prstGeom>
          <a:noFill/>
          <a:ln/>
        </p:spPr>
        <p:txBody>
          <a:bodyPr wrap="square" lIns="0" tIns="0" rIns="0" bIns="0" rtlCol="0" anchor="ctr"/>
          <a:lstStyle/>
          <a:p>
            <a:pPr indent="0" marL="0">
              <a:buNone/>
            </a:pPr>
            <a:r>
              <a:rPr lang="en-US" sz="1100" b="1" dirty="0">
                <a:solidFill>
                  <a:srgbClr val="B45309"/>
                </a:solidFill>
                <a:latin typeface="Helvetica Neue" pitchFamily="34" charset="0"/>
                <a:ea typeface="Helvetica Neue" pitchFamily="34" charset="-122"/>
                <a:cs typeface="Helvetica Neue" pitchFamily="34" charset="-120"/>
              </a:rPr>
              <a:t>Secondary / reactive</a:t>
            </a:r>
            <a:endParaRPr lang="en-US" sz="1100" dirty="0"/>
          </a:p>
        </p:txBody>
      </p:sp>
      <p:sp>
        <p:nvSpPr>
          <p:cNvPr id="17" name="Shape 15"/>
          <p:cNvSpPr/>
          <p:nvPr/>
        </p:nvSpPr>
        <p:spPr>
          <a:xfrm>
            <a:off x="4617720" y="2395728"/>
            <a:ext cx="2606040" cy="402336"/>
          </a:xfrm>
          <a:prstGeom prst="rect">
            <a:avLst/>
          </a:prstGeom>
          <a:solidFill>
            <a:srgbClr val="FFFFFF"/>
          </a:solidFill>
          <a:ln w="12700">
            <a:solidFill>
              <a:srgbClr val="CBD5E1"/>
            </a:solidFill>
            <a:prstDash val="solid"/>
          </a:ln>
        </p:spPr>
      </p:sp>
      <p:sp>
        <p:nvSpPr>
          <p:cNvPr id="18" name="Text 16"/>
          <p:cNvSpPr/>
          <p:nvPr/>
        </p:nvSpPr>
        <p:spPr>
          <a:xfrm>
            <a:off x="4727448" y="2514600"/>
            <a:ext cx="2386584" cy="146304"/>
          </a:xfrm>
          <a:prstGeom prst="rect">
            <a:avLst/>
          </a:prstGeom>
          <a:noFill/>
          <a:ln/>
        </p:spPr>
        <p:txBody>
          <a:bodyPr wrap="square" lIns="0" tIns="0" rIns="0" bIns="0" rtlCol="0" anchor="ctr">
            <a:normAutofit/>
          </a:bodyPr>
          <a:lstStyle/>
          <a:p>
            <a:pPr algn="ctr" indent="0" marL="0">
              <a:buNone/>
            </a:pPr>
            <a:r>
              <a:rPr lang="en-US" sz="850" b="1" dirty="0">
                <a:solidFill>
                  <a:srgbClr val="B45309"/>
                </a:solidFill>
                <a:latin typeface="Helvetica Neue" pitchFamily="34" charset="0"/>
                <a:ea typeface="Helvetica Neue" pitchFamily="34" charset="-122"/>
                <a:cs typeface="Helvetica Neue" pitchFamily="34" charset="-120"/>
              </a:rPr>
              <a:t>China grounding</a:t>
            </a:r>
            <a:endParaRPr lang="en-US" sz="850" dirty="0"/>
          </a:p>
        </p:txBody>
      </p:sp>
      <p:sp>
        <p:nvSpPr>
          <p:cNvPr id="19" name="Shape 17"/>
          <p:cNvSpPr/>
          <p:nvPr/>
        </p:nvSpPr>
        <p:spPr>
          <a:xfrm>
            <a:off x="4617720" y="2980944"/>
            <a:ext cx="2606040" cy="402336"/>
          </a:xfrm>
          <a:prstGeom prst="rect">
            <a:avLst/>
          </a:prstGeom>
          <a:solidFill>
            <a:srgbClr val="FFFFFF"/>
          </a:solidFill>
          <a:ln w="12700">
            <a:solidFill>
              <a:srgbClr val="CBD5E1"/>
            </a:solidFill>
            <a:prstDash val="solid"/>
          </a:ln>
        </p:spPr>
      </p:sp>
      <p:sp>
        <p:nvSpPr>
          <p:cNvPr id="20" name="Text 18"/>
          <p:cNvSpPr/>
          <p:nvPr/>
        </p:nvSpPr>
        <p:spPr>
          <a:xfrm>
            <a:off x="4727448" y="3099816"/>
            <a:ext cx="2386584" cy="146304"/>
          </a:xfrm>
          <a:prstGeom prst="rect">
            <a:avLst/>
          </a:prstGeom>
          <a:noFill/>
          <a:ln/>
        </p:spPr>
        <p:txBody>
          <a:bodyPr wrap="square" lIns="0" tIns="0" rIns="0" bIns="0" rtlCol="0" anchor="ctr">
            <a:normAutofit/>
          </a:bodyPr>
          <a:lstStyle/>
          <a:p>
            <a:pPr algn="ctr" indent="0" marL="0">
              <a:buNone/>
            </a:pPr>
            <a:r>
              <a:rPr lang="en-US" sz="850" b="1" dirty="0">
                <a:solidFill>
                  <a:srgbClr val="B45309"/>
                </a:solidFill>
                <a:latin typeface="Helvetica Neue" pitchFamily="34" charset="0"/>
                <a:ea typeface="Helvetica Neue" pitchFamily="34" charset="-122"/>
                <a:cs typeface="Helvetica Neue" pitchFamily="34" charset="-120"/>
              </a:rPr>
              <a:t>EASA / foreign regulators</a:t>
            </a:r>
            <a:endParaRPr lang="en-US" sz="850" dirty="0"/>
          </a:p>
        </p:txBody>
      </p:sp>
      <p:sp>
        <p:nvSpPr>
          <p:cNvPr id="21" name="Shape 19"/>
          <p:cNvSpPr/>
          <p:nvPr/>
        </p:nvSpPr>
        <p:spPr>
          <a:xfrm>
            <a:off x="4617720" y="3566160"/>
            <a:ext cx="2606040" cy="402336"/>
          </a:xfrm>
          <a:prstGeom prst="rect">
            <a:avLst/>
          </a:prstGeom>
          <a:solidFill>
            <a:srgbClr val="FFFFFF"/>
          </a:solidFill>
          <a:ln w="12700">
            <a:solidFill>
              <a:srgbClr val="CBD5E1"/>
            </a:solidFill>
            <a:prstDash val="solid"/>
          </a:ln>
        </p:spPr>
      </p:sp>
      <p:sp>
        <p:nvSpPr>
          <p:cNvPr id="22" name="Text 20"/>
          <p:cNvSpPr/>
          <p:nvPr/>
        </p:nvSpPr>
        <p:spPr>
          <a:xfrm>
            <a:off x="4727448" y="3685032"/>
            <a:ext cx="2386584" cy="146304"/>
          </a:xfrm>
          <a:prstGeom prst="rect">
            <a:avLst/>
          </a:prstGeom>
          <a:noFill/>
          <a:ln/>
        </p:spPr>
        <p:txBody>
          <a:bodyPr wrap="square" lIns="0" tIns="0" rIns="0" bIns="0" rtlCol="0" anchor="ctr">
            <a:normAutofit/>
          </a:bodyPr>
          <a:lstStyle/>
          <a:p>
            <a:pPr algn="ctr" indent="0" marL="0">
              <a:buNone/>
            </a:pPr>
            <a:r>
              <a:rPr lang="en-US" sz="850" b="1" dirty="0">
                <a:solidFill>
                  <a:srgbClr val="B45309"/>
                </a:solidFill>
                <a:latin typeface="Helvetica Neue" pitchFamily="34" charset="0"/>
                <a:ea typeface="Helvetica Neue" pitchFamily="34" charset="-122"/>
                <a:cs typeface="Helvetica Neue" pitchFamily="34" charset="-120"/>
              </a:rPr>
              <a:t>U.S. politicians</a:t>
            </a:r>
            <a:endParaRPr lang="en-US" sz="850" dirty="0"/>
          </a:p>
        </p:txBody>
      </p:sp>
      <p:sp>
        <p:nvSpPr>
          <p:cNvPr id="23" name="Text 21"/>
          <p:cNvSpPr/>
          <p:nvPr/>
        </p:nvSpPr>
        <p:spPr>
          <a:xfrm>
            <a:off x="8321040" y="1965960"/>
            <a:ext cx="3108960" cy="237744"/>
          </a:xfrm>
          <a:prstGeom prst="rect">
            <a:avLst/>
          </a:prstGeom>
          <a:noFill/>
          <a:ln/>
        </p:spPr>
        <p:txBody>
          <a:bodyPr wrap="square" lIns="0" tIns="0" rIns="0" bIns="0" rtlCol="0" anchor="ctr"/>
          <a:lstStyle/>
          <a:p>
            <a:pPr indent="0" marL="0">
              <a:buNone/>
            </a:pPr>
            <a:r>
              <a:rPr lang="en-US" sz="1100" b="1" dirty="0">
                <a:solidFill>
                  <a:srgbClr val="B91C1C"/>
                </a:solidFill>
                <a:latin typeface="Helvetica Neue" pitchFamily="34" charset="0"/>
                <a:ea typeface="Helvetica Neue" pitchFamily="34" charset="-122"/>
                <a:cs typeface="Helvetica Neue" pitchFamily="34" charset="-120"/>
              </a:rPr>
              <a:t>Missing as knowers</a:t>
            </a:r>
            <a:endParaRPr lang="en-US" sz="1100" dirty="0"/>
          </a:p>
        </p:txBody>
      </p:sp>
      <p:sp>
        <p:nvSpPr>
          <p:cNvPr id="24" name="Shape 22"/>
          <p:cNvSpPr/>
          <p:nvPr/>
        </p:nvSpPr>
        <p:spPr>
          <a:xfrm>
            <a:off x="8366760" y="2395728"/>
            <a:ext cx="2880360" cy="402336"/>
          </a:xfrm>
          <a:prstGeom prst="rect">
            <a:avLst/>
          </a:prstGeom>
          <a:solidFill>
            <a:srgbClr val="FFFFFF"/>
          </a:solidFill>
          <a:ln w="12700">
            <a:solidFill>
              <a:srgbClr val="CBD5E1"/>
            </a:solidFill>
            <a:prstDash val="solid"/>
          </a:ln>
        </p:spPr>
      </p:sp>
      <p:sp>
        <p:nvSpPr>
          <p:cNvPr id="25" name="Text 23"/>
          <p:cNvSpPr/>
          <p:nvPr/>
        </p:nvSpPr>
        <p:spPr>
          <a:xfrm>
            <a:off x="8476488" y="2514600"/>
            <a:ext cx="2660904" cy="146304"/>
          </a:xfrm>
          <a:prstGeom prst="rect">
            <a:avLst/>
          </a:prstGeom>
          <a:noFill/>
          <a:ln/>
        </p:spPr>
        <p:txBody>
          <a:bodyPr wrap="square" lIns="0" tIns="0" rIns="0" bIns="0" rtlCol="0" anchor="ctr">
            <a:normAutofit/>
          </a:bodyPr>
          <a:lstStyle/>
          <a:p>
            <a:pPr algn="ctr" indent="0" marL="0">
              <a:buNone/>
            </a:pPr>
            <a:r>
              <a:rPr lang="en-US" sz="850" b="1" dirty="0">
                <a:solidFill>
                  <a:srgbClr val="B91C1C"/>
                </a:solidFill>
                <a:latin typeface="Helvetica Neue" pitchFamily="34" charset="0"/>
                <a:ea typeface="Helvetica Neue" pitchFamily="34" charset="-122"/>
                <a:cs typeface="Helvetica Neue" pitchFamily="34" charset="-120"/>
              </a:rPr>
              <a:t>Victims' families</a:t>
            </a:r>
            <a:endParaRPr lang="en-US" sz="850" dirty="0"/>
          </a:p>
        </p:txBody>
      </p:sp>
      <p:sp>
        <p:nvSpPr>
          <p:cNvPr id="26" name="Shape 24"/>
          <p:cNvSpPr/>
          <p:nvPr/>
        </p:nvSpPr>
        <p:spPr>
          <a:xfrm>
            <a:off x="8366760" y="2980944"/>
            <a:ext cx="2880360" cy="402336"/>
          </a:xfrm>
          <a:prstGeom prst="rect">
            <a:avLst/>
          </a:prstGeom>
          <a:solidFill>
            <a:srgbClr val="FFFFFF"/>
          </a:solidFill>
          <a:ln w="12700">
            <a:solidFill>
              <a:srgbClr val="CBD5E1"/>
            </a:solidFill>
            <a:prstDash val="solid"/>
          </a:ln>
        </p:spPr>
      </p:sp>
      <p:sp>
        <p:nvSpPr>
          <p:cNvPr id="27" name="Text 25"/>
          <p:cNvSpPr/>
          <p:nvPr/>
        </p:nvSpPr>
        <p:spPr>
          <a:xfrm>
            <a:off x="8476488" y="3099816"/>
            <a:ext cx="2660904" cy="146304"/>
          </a:xfrm>
          <a:prstGeom prst="rect">
            <a:avLst/>
          </a:prstGeom>
          <a:noFill/>
          <a:ln/>
        </p:spPr>
        <p:txBody>
          <a:bodyPr wrap="square" lIns="0" tIns="0" rIns="0" bIns="0" rtlCol="0" anchor="ctr">
            <a:normAutofit/>
          </a:bodyPr>
          <a:lstStyle/>
          <a:p>
            <a:pPr algn="ctr" indent="0" marL="0">
              <a:buNone/>
            </a:pPr>
            <a:r>
              <a:rPr lang="en-US" sz="850" b="1" dirty="0">
                <a:solidFill>
                  <a:srgbClr val="B91C1C"/>
                </a:solidFill>
                <a:latin typeface="Helvetica Neue" pitchFamily="34" charset="0"/>
                <a:ea typeface="Helvetica Neue" pitchFamily="34" charset="-122"/>
                <a:cs typeface="Helvetica Neue" pitchFamily="34" charset="-120"/>
              </a:rPr>
              <a:t>Ethiopian / Indonesian safety authorities</a:t>
            </a:r>
            <a:endParaRPr lang="en-US" sz="850" dirty="0"/>
          </a:p>
        </p:txBody>
      </p:sp>
      <p:sp>
        <p:nvSpPr>
          <p:cNvPr id="28" name="Shape 26"/>
          <p:cNvSpPr/>
          <p:nvPr/>
        </p:nvSpPr>
        <p:spPr>
          <a:xfrm>
            <a:off x="8366760" y="3566160"/>
            <a:ext cx="2880360" cy="402336"/>
          </a:xfrm>
          <a:prstGeom prst="rect">
            <a:avLst/>
          </a:prstGeom>
          <a:solidFill>
            <a:srgbClr val="FFFFFF"/>
          </a:solidFill>
          <a:ln w="12700">
            <a:solidFill>
              <a:srgbClr val="CBD5E1"/>
            </a:solidFill>
            <a:prstDash val="solid"/>
          </a:ln>
        </p:spPr>
      </p:sp>
      <p:sp>
        <p:nvSpPr>
          <p:cNvPr id="29" name="Text 27"/>
          <p:cNvSpPr/>
          <p:nvPr/>
        </p:nvSpPr>
        <p:spPr>
          <a:xfrm>
            <a:off x="8476488" y="3685032"/>
            <a:ext cx="2660904" cy="146304"/>
          </a:xfrm>
          <a:prstGeom prst="rect">
            <a:avLst/>
          </a:prstGeom>
          <a:noFill/>
          <a:ln/>
        </p:spPr>
        <p:txBody>
          <a:bodyPr wrap="square" lIns="0" tIns="0" rIns="0" bIns="0" rtlCol="0" anchor="ctr">
            <a:normAutofit/>
          </a:bodyPr>
          <a:lstStyle/>
          <a:p>
            <a:pPr algn="ctr" indent="0" marL="0">
              <a:buNone/>
            </a:pPr>
            <a:r>
              <a:rPr lang="en-US" sz="850" b="1" dirty="0">
                <a:solidFill>
                  <a:srgbClr val="B91C1C"/>
                </a:solidFill>
                <a:latin typeface="Helvetica Neue" pitchFamily="34" charset="0"/>
                <a:ea typeface="Helvetica Neue" pitchFamily="34" charset="-122"/>
                <a:cs typeface="Helvetica Neue" pitchFamily="34" charset="-120"/>
              </a:rPr>
              <a:t>Captured-regulator frame</a:t>
            </a:r>
            <a:endParaRPr lang="en-US" sz="850" dirty="0"/>
          </a:p>
        </p:txBody>
      </p:sp>
      <p:sp>
        <p:nvSpPr>
          <p:cNvPr id="30" name="Shape 28"/>
          <p:cNvSpPr/>
          <p:nvPr/>
        </p:nvSpPr>
        <p:spPr>
          <a:xfrm>
            <a:off x="3584448" y="3236976"/>
            <a:ext cx="685800" cy="0"/>
          </a:xfrm>
          <a:prstGeom prst="line">
            <a:avLst/>
          </a:prstGeom>
          <a:noFill/>
          <a:ln w="25400">
            <a:solidFill>
              <a:srgbClr val="E5E7EB"/>
            </a:solidFill>
            <a:prstDash val="solid"/>
            <a:tailEnd type="triangle"/>
          </a:ln>
        </p:spPr>
      </p:sp>
      <p:sp>
        <p:nvSpPr>
          <p:cNvPr id="31" name="Shape 29"/>
          <p:cNvSpPr/>
          <p:nvPr/>
        </p:nvSpPr>
        <p:spPr>
          <a:xfrm>
            <a:off x="7534656" y="3236976"/>
            <a:ext cx="566928" cy="0"/>
          </a:xfrm>
          <a:prstGeom prst="line">
            <a:avLst/>
          </a:prstGeom>
          <a:noFill/>
          <a:ln w="25400">
            <a:solidFill>
              <a:srgbClr val="E5E7EB"/>
            </a:solidFill>
            <a:prstDash val="solid"/>
            <a:tailEnd type="triangle"/>
          </a:ln>
        </p:spPr>
      </p:sp>
      <p:sp>
        <p:nvSpPr>
          <p:cNvPr id="32" name="Shape 30"/>
          <p:cNvSpPr/>
          <p:nvPr/>
        </p:nvSpPr>
        <p:spPr>
          <a:xfrm>
            <a:off x="914400" y="4800600"/>
            <a:ext cx="10149840" cy="841248"/>
          </a:xfrm>
          <a:prstGeom prst="rect">
            <a:avLst/>
          </a:prstGeom>
          <a:solidFill>
            <a:srgbClr val="F8FAFC"/>
          </a:solidFill>
          <a:ln w="12700">
            <a:solidFill>
              <a:srgbClr val="E5E7EB"/>
            </a:solidFill>
            <a:prstDash val="solid"/>
          </a:ln>
        </p:spPr>
      </p:sp>
      <p:sp>
        <p:nvSpPr>
          <p:cNvPr id="33" name="Text 31"/>
          <p:cNvSpPr/>
          <p:nvPr/>
        </p:nvSpPr>
        <p:spPr>
          <a:xfrm>
            <a:off x="1115568" y="4965192"/>
            <a:ext cx="9747504" cy="164592"/>
          </a:xfrm>
          <a:prstGeom prst="rect">
            <a:avLst/>
          </a:prstGeom>
          <a:noFill/>
          <a:ln/>
        </p:spPr>
        <p:txBody>
          <a:bodyPr wrap="square" lIns="0" tIns="0" rIns="0" bIns="0" rtlCol="0" anchor="ctr"/>
          <a:lstStyle/>
          <a:p>
            <a:pPr indent="0" marL="0">
              <a:buNone/>
            </a:pPr>
            <a:r>
              <a:rPr lang="en-US" sz="700" b="1" dirty="0">
                <a:solidFill>
                  <a:srgbClr val="111827"/>
                </a:solidFill>
                <a:latin typeface="Helvetica Neue" pitchFamily="34" charset="0"/>
                <a:ea typeface="Helvetica Neue" pitchFamily="34" charset="-122"/>
                <a:cs typeface="Helvetica Neue" pitchFamily="34" charset="-120"/>
              </a:rPr>
              <a:t>IMPLICATION</a:t>
            </a:r>
            <a:endParaRPr lang="en-US" sz="700" dirty="0"/>
          </a:p>
        </p:txBody>
      </p:sp>
      <p:sp>
        <p:nvSpPr>
          <p:cNvPr id="34" name="Text 32"/>
          <p:cNvSpPr/>
          <p:nvPr/>
        </p:nvSpPr>
        <p:spPr>
          <a:xfrm>
            <a:off x="1115568" y="5239512"/>
            <a:ext cx="9747504" cy="29260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The frame is institutional reassurance under scrutiny, not regulatory failure after mass death.</a:t>
            </a:r>
            <a:endParaRPr lang="en-US" sz="1300" dirty="0"/>
          </a:p>
        </p:txBody>
      </p:sp>
      <p:sp>
        <p:nvSpPr>
          <p:cNvPr id="35" name="Shape 33"/>
          <p:cNvSpPr/>
          <p:nvPr/>
        </p:nvSpPr>
        <p:spPr>
          <a:xfrm>
            <a:off x="502920" y="6473952"/>
            <a:ext cx="11109960" cy="0"/>
          </a:xfrm>
          <a:prstGeom prst="line">
            <a:avLst/>
          </a:prstGeom>
          <a:noFill/>
          <a:ln w="12700">
            <a:solidFill>
              <a:srgbClr val="E5E7EB"/>
            </a:solidFill>
            <a:prstDash val="solid"/>
          </a:ln>
        </p:spPr>
      </p:sp>
      <p:sp>
        <p:nvSpPr>
          <p:cNvPr id="36" name="Text 34"/>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Article frame from WSJ citation; source categories based on project outline and article analysis.</a:t>
            </a:r>
            <a:endParaRPr lang="en-US" sz="680" dirty="0"/>
          </a:p>
        </p:txBody>
      </p:sp>
      <p:sp>
        <p:nvSpPr>
          <p:cNvPr id="37" name="Text 35"/>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FILTERS 1 AND 2</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000" b="1" dirty="0">
                <a:solidFill>
                  <a:srgbClr val="111827"/>
                </a:solidFill>
                <a:latin typeface="Helvetica Neue" pitchFamily="34" charset="0"/>
                <a:ea typeface="Helvetica Neue" pitchFamily="34" charset="-122"/>
                <a:cs typeface="Helvetica Neue" pitchFamily="34" charset="-120"/>
              </a:rPr>
              <a:t>Ownership and advertising fit as conditions, not proof.</a:t>
            </a:r>
            <a:endParaRPr lang="en-US" sz="30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These filters explain viability: why a sustained anti-Boeing campaign would be costly for a business paper.</a:t>
            </a:r>
            <a:endParaRPr lang="en-US" sz="1200" dirty="0"/>
          </a:p>
        </p:txBody>
      </p:sp>
      <p:sp>
        <p:nvSpPr>
          <p:cNvPr id="7" name="Shape 5"/>
          <p:cNvSpPr/>
          <p:nvPr/>
        </p:nvSpPr>
        <p:spPr>
          <a:xfrm>
            <a:off x="822960" y="2057400"/>
            <a:ext cx="4983480" cy="1600200"/>
          </a:xfrm>
          <a:prstGeom prst="rect">
            <a:avLst/>
          </a:prstGeom>
          <a:solidFill>
            <a:srgbClr val="F8FAFC"/>
          </a:solidFill>
          <a:ln w="12700">
            <a:solidFill>
              <a:srgbClr val="E5E7EB"/>
            </a:solidFill>
            <a:prstDash val="solid"/>
          </a:ln>
        </p:spPr>
      </p:sp>
      <p:sp>
        <p:nvSpPr>
          <p:cNvPr id="8" name="Text 6"/>
          <p:cNvSpPr/>
          <p:nvPr/>
        </p:nvSpPr>
        <p:spPr>
          <a:xfrm>
            <a:off x="1024128" y="2221992"/>
            <a:ext cx="4581144" cy="164592"/>
          </a:xfrm>
          <a:prstGeom prst="rect">
            <a:avLst/>
          </a:prstGeom>
          <a:noFill/>
          <a:ln/>
        </p:spPr>
        <p:txBody>
          <a:bodyPr wrap="square" lIns="0" tIns="0" rIns="0" bIns="0" rtlCol="0" anchor="ctr"/>
          <a:lstStyle/>
          <a:p>
            <a:pPr indent="0" marL="0">
              <a:buNone/>
            </a:pPr>
            <a:r>
              <a:rPr lang="en-US" sz="700" b="1" dirty="0">
                <a:solidFill>
                  <a:srgbClr val="1D4ED8"/>
                </a:solidFill>
                <a:latin typeface="Helvetica Neue" pitchFamily="34" charset="0"/>
                <a:ea typeface="Helvetica Neue" pitchFamily="34" charset="-122"/>
                <a:cs typeface="Helvetica Neue" pitchFamily="34" charset="-120"/>
              </a:rPr>
              <a:t>FILTER 1: OWNERSHIP / CLASS</a:t>
            </a:r>
            <a:endParaRPr lang="en-US" sz="700" dirty="0"/>
          </a:p>
        </p:txBody>
      </p:sp>
      <p:sp>
        <p:nvSpPr>
          <p:cNvPr id="9" name="Text 7"/>
          <p:cNvSpPr/>
          <p:nvPr/>
        </p:nvSpPr>
        <p:spPr>
          <a:xfrm>
            <a:off x="1024128" y="2496312"/>
            <a:ext cx="4581144" cy="105156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WSJ is corporate-financial America's paper of record. Boeing is corporate America: Dow component, major exporter, defense contractor.</a:t>
            </a:r>
            <a:endParaRPr lang="en-US" sz="1300" dirty="0"/>
          </a:p>
        </p:txBody>
      </p:sp>
      <p:sp>
        <p:nvSpPr>
          <p:cNvPr id="10" name="Shape 8"/>
          <p:cNvSpPr/>
          <p:nvPr/>
        </p:nvSpPr>
        <p:spPr>
          <a:xfrm>
            <a:off x="6355080" y="2057400"/>
            <a:ext cx="4983480" cy="1600200"/>
          </a:xfrm>
          <a:prstGeom prst="rect">
            <a:avLst/>
          </a:prstGeom>
          <a:solidFill>
            <a:srgbClr val="F8FAFC"/>
          </a:solidFill>
          <a:ln w="12700">
            <a:solidFill>
              <a:srgbClr val="E5E7EB"/>
            </a:solidFill>
            <a:prstDash val="solid"/>
          </a:ln>
        </p:spPr>
      </p:sp>
      <p:sp>
        <p:nvSpPr>
          <p:cNvPr id="11" name="Text 9"/>
          <p:cNvSpPr/>
          <p:nvPr/>
        </p:nvSpPr>
        <p:spPr>
          <a:xfrm>
            <a:off x="6556248" y="2221992"/>
            <a:ext cx="4581144" cy="164592"/>
          </a:xfrm>
          <a:prstGeom prst="rect">
            <a:avLst/>
          </a:prstGeom>
          <a:noFill/>
          <a:ln/>
        </p:spPr>
        <p:txBody>
          <a:bodyPr wrap="square" lIns="0" tIns="0" rIns="0" bIns="0" rtlCol="0" anchor="ctr"/>
          <a:lstStyle/>
          <a:p>
            <a:pPr indent="0" marL="0">
              <a:buNone/>
            </a:pPr>
            <a:r>
              <a:rPr lang="en-US" sz="700" b="1" dirty="0">
                <a:solidFill>
                  <a:srgbClr val="B45309"/>
                </a:solidFill>
                <a:latin typeface="Helvetica Neue" pitchFamily="34" charset="0"/>
                <a:ea typeface="Helvetica Neue" pitchFamily="34" charset="-122"/>
                <a:cs typeface="Helvetica Neue" pitchFamily="34" charset="-120"/>
              </a:rPr>
              <a:t>FILTER 2: READER-AD ECOLOGY</a:t>
            </a:r>
            <a:endParaRPr lang="en-US" sz="700" dirty="0"/>
          </a:p>
        </p:txBody>
      </p:sp>
      <p:sp>
        <p:nvSpPr>
          <p:cNvPr id="12" name="Text 10"/>
          <p:cNvSpPr/>
          <p:nvPr/>
        </p:nvSpPr>
        <p:spPr>
          <a:xfrm>
            <a:off x="6556248" y="2496312"/>
            <a:ext cx="4581144" cy="105156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Aerospace, airlines, finance, law, and consulting form the same commercial world the WSJ serves.</a:t>
            </a:r>
            <a:endParaRPr lang="en-US" sz="1300" dirty="0"/>
          </a:p>
        </p:txBody>
      </p:sp>
      <p:sp>
        <p:nvSpPr>
          <p:cNvPr id="13" name="Text 11"/>
          <p:cNvSpPr/>
          <p:nvPr/>
        </p:nvSpPr>
        <p:spPr>
          <a:xfrm>
            <a:off x="896112" y="4315968"/>
            <a:ext cx="3017520" cy="201168"/>
          </a:xfrm>
          <a:prstGeom prst="rect">
            <a:avLst/>
          </a:prstGeom>
          <a:noFill/>
          <a:ln/>
        </p:spPr>
        <p:txBody>
          <a:bodyPr wrap="square" lIns="0" tIns="0" rIns="0" bIns="0" rtlCol="0" anchor="ctr"/>
          <a:lstStyle/>
          <a:p>
            <a:pPr indent="0" marL="0">
              <a:buNone/>
            </a:pPr>
            <a:r>
              <a:rPr lang="en-US" sz="900" b="1" dirty="0">
                <a:solidFill>
                  <a:srgbClr val="B91C1C"/>
                </a:solidFill>
                <a:latin typeface="Helvetica Neue" pitchFamily="34" charset="0"/>
                <a:ea typeface="Helvetica Neue" pitchFamily="34" charset="-122"/>
                <a:cs typeface="Helvetica Neue" pitchFamily="34" charset="-120"/>
              </a:rPr>
              <a:t>What this slide should NOT claim</a:t>
            </a:r>
            <a:endParaRPr lang="en-US" sz="900" dirty="0"/>
          </a:p>
        </p:txBody>
      </p:sp>
      <p:sp>
        <p:nvSpPr>
          <p:cNvPr id="14" name="Text 12"/>
          <p:cNvSpPr/>
          <p:nvPr/>
        </p:nvSpPr>
        <p:spPr>
          <a:xfrm>
            <a:off x="896112" y="4663440"/>
            <a:ext cx="4160520" cy="530352"/>
          </a:xfrm>
          <a:prstGeom prst="rect">
            <a:avLst/>
          </a:prstGeom>
          <a:noFill/>
          <a:ln/>
        </p:spPr>
        <p:txBody>
          <a:bodyPr wrap="square" lIns="0" tIns="0" rIns="0" bIns="0" rtlCol="0" anchor="ctr">
            <a:normAutofit/>
          </a:bodyPr>
          <a:lstStyle/>
          <a:p>
            <a:pPr indent="0" marL="0">
              <a:buNone/>
            </a:pPr>
            <a:r>
              <a:rPr lang="en-US" sz="1600" b="1" strike="sngStrike" dirty="0">
                <a:solidFill>
                  <a:srgbClr val="B91C1C"/>
                </a:solidFill>
                <a:latin typeface="Helvetica Neue" pitchFamily="34" charset="0"/>
                <a:ea typeface="Helvetica Neue" pitchFamily="34" charset="-122"/>
                <a:cs typeface="Helvetica Neue" pitchFamily="34" charset="-120"/>
              </a:rPr>
              <a:t>Murdoch called the newsroom. Boeing bought the headline. Advertisers killed the story.</a:t>
            </a:r>
            <a:endParaRPr lang="en-US" sz="1600" dirty="0"/>
          </a:p>
        </p:txBody>
      </p:sp>
      <p:sp>
        <p:nvSpPr>
          <p:cNvPr id="15" name="Text 13"/>
          <p:cNvSpPr/>
          <p:nvPr/>
        </p:nvSpPr>
        <p:spPr>
          <a:xfrm>
            <a:off x="6355080" y="4315968"/>
            <a:ext cx="3017520" cy="201168"/>
          </a:xfrm>
          <a:prstGeom prst="rect">
            <a:avLst/>
          </a:prstGeom>
          <a:noFill/>
          <a:ln/>
        </p:spPr>
        <p:txBody>
          <a:bodyPr wrap="square" lIns="0" tIns="0" rIns="0" bIns="0" rtlCol="0" anchor="ctr"/>
          <a:lstStyle/>
          <a:p>
            <a:pPr indent="0" marL="0">
              <a:buNone/>
            </a:pPr>
            <a:r>
              <a:rPr lang="en-US" sz="900" b="1" dirty="0">
                <a:solidFill>
                  <a:srgbClr val="047857"/>
                </a:solidFill>
                <a:latin typeface="Helvetica Neue" pitchFamily="34" charset="0"/>
                <a:ea typeface="Helvetica Neue" pitchFamily="34" charset="-122"/>
                <a:cs typeface="Helvetica Neue" pitchFamily="34" charset="-120"/>
              </a:rPr>
              <a:t>What it CAN claim</a:t>
            </a:r>
            <a:endParaRPr lang="en-US" sz="900" dirty="0"/>
          </a:p>
        </p:txBody>
      </p:sp>
      <p:sp>
        <p:nvSpPr>
          <p:cNvPr id="16" name="Text 14"/>
          <p:cNvSpPr/>
          <p:nvPr/>
        </p:nvSpPr>
        <p:spPr>
          <a:xfrm>
            <a:off x="6355080" y="4663440"/>
            <a:ext cx="4526280" cy="658368"/>
          </a:xfrm>
          <a:prstGeom prst="rect">
            <a:avLst/>
          </a:prstGeom>
          <a:noFill/>
          <a:ln/>
        </p:spPr>
        <p:txBody>
          <a:bodyPr wrap="square" lIns="0" tIns="0" rIns="0" bIns="0" rtlCol="0" anchor="ctr">
            <a:normAutofit/>
          </a:bodyPr>
          <a:lstStyle/>
          <a:p>
            <a:pPr indent="0" marL="0">
              <a:buNone/>
            </a:pPr>
            <a:r>
              <a:rPr lang="en-US" sz="1600" b="1" dirty="0">
                <a:solidFill>
                  <a:srgbClr val="111827"/>
                </a:solidFill>
                <a:latin typeface="Helvetica Neue" pitchFamily="34" charset="0"/>
                <a:ea typeface="Helvetica Neue" pitchFamily="34" charset="-122"/>
                <a:cs typeface="Helvetica Neue" pitchFamily="34" charset="-120"/>
              </a:rPr>
              <a:t>A single critical article is tolerable. A sustained structural campaign against Boeing is institutionally expensive.</a:t>
            </a:r>
            <a:endParaRPr lang="en-US" sz="1600" dirty="0"/>
          </a:p>
        </p:txBody>
      </p:sp>
      <p:sp>
        <p:nvSpPr>
          <p:cNvPr id="17" name="Shape 15"/>
          <p:cNvSpPr/>
          <p:nvPr/>
        </p:nvSpPr>
        <p:spPr>
          <a:xfrm>
            <a:off x="502920" y="6473952"/>
            <a:ext cx="11109960" cy="0"/>
          </a:xfrm>
          <a:prstGeom prst="line">
            <a:avLst/>
          </a:prstGeom>
          <a:noFill/>
          <a:ln w="12700">
            <a:solidFill>
              <a:srgbClr val="E5E7EB"/>
            </a:solidFill>
            <a:prstDash val="solid"/>
          </a:ln>
        </p:spPr>
      </p:sp>
      <p:sp>
        <p:nvSpPr>
          <p:cNvPr id="18" name="Text 16"/>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Use as structural context; avoid unsupported claims about direct advertiser or owner intervention.</a:t>
            </a:r>
            <a:endParaRPr lang="en-US" sz="680" dirty="0"/>
          </a:p>
        </p:txBody>
      </p:sp>
      <p:sp>
        <p:nvSpPr>
          <p:cNvPr id="19" name="Text 17"/>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FILTER 3</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Sourcing is where the model becomes visible.</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The cheap, official, recurring sources determine what the story can easily become.</a:t>
            </a:r>
            <a:endParaRPr lang="en-US" sz="1200" dirty="0"/>
          </a:p>
        </p:txBody>
      </p:sp>
      <p:sp>
        <p:nvSpPr>
          <p:cNvPr id="7" name="Shape 5"/>
          <p:cNvSpPr/>
          <p:nvPr/>
        </p:nvSpPr>
        <p:spPr>
          <a:xfrm>
            <a:off x="4206240" y="2084832"/>
            <a:ext cx="3703320" cy="1508760"/>
          </a:xfrm>
          <a:prstGeom prst="ellipse">
            <a:avLst/>
          </a:prstGeom>
          <a:solidFill>
            <a:srgbClr val="EFF6FF"/>
          </a:solidFill>
          <a:ln w="15240">
            <a:solidFill>
              <a:srgbClr val="93C5FD"/>
            </a:solidFill>
            <a:prstDash val="solid"/>
          </a:ln>
        </p:spPr>
      </p:sp>
      <p:sp>
        <p:nvSpPr>
          <p:cNvPr id="8" name="Text 6"/>
          <p:cNvSpPr/>
          <p:nvPr/>
        </p:nvSpPr>
        <p:spPr>
          <a:xfrm>
            <a:off x="4663440" y="2606040"/>
            <a:ext cx="2788920" cy="274320"/>
          </a:xfrm>
          <a:prstGeom prst="rect">
            <a:avLst/>
          </a:prstGeom>
          <a:noFill/>
          <a:ln/>
        </p:spPr>
        <p:txBody>
          <a:bodyPr wrap="square" lIns="0" tIns="0" rIns="0" bIns="0" rtlCol="0" anchor="ctr">
            <a:normAutofit/>
          </a:bodyPr>
          <a:lstStyle/>
          <a:p>
            <a:pPr algn="ctr" indent="0" marL="0">
              <a:buNone/>
            </a:pPr>
            <a:r>
              <a:rPr lang="en-US" sz="1700" b="1" dirty="0">
                <a:solidFill>
                  <a:srgbClr val="1D4ED8"/>
                </a:solidFill>
                <a:latin typeface="Helvetica Neue" pitchFamily="34" charset="0"/>
                <a:ea typeface="Helvetica Neue" pitchFamily="34" charset="-122"/>
                <a:cs typeface="Helvetica Neue" pitchFamily="34" charset="-120"/>
              </a:rPr>
              <a:t>FAA as authorized knower</a:t>
            </a:r>
            <a:endParaRPr lang="en-US" sz="1700" dirty="0"/>
          </a:p>
        </p:txBody>
      </p:sp>
      <p:sp>
        <p:nvSpPr>
          <p:cNvPr id="9" name="Shape 7"/>
          <p:cNvSpPr/>
          <p:nvPr/>
        </p:nvSpPr>
        <p:spPr>
          <a:xfrm>
            <a:off x="914400" y="2103120"/>
            <a:ext cx="2240280" cy="402336"/>
          </a:xfrm>
          <a:prstGeom prst="rect">
            <a:avLst/>
          </a:prstGeom>
          <a:solidFill>
            <a:srgbClr val="FFFFFF"/>
          </a:solidFill>
          <a:ln w="12700">
            <a:solidFill>
              <a:srgbClr val="CBD5E1"/>
            </a:solidFill>
            <a:prstDash val="solid"/>
          </a:ln>
        </p:spPr>
      </p:sp>
      <p:sp>
        <p:nvSpPr>
          <p:cNvPr id="10" name="Text 8"/>
          <p:cNvSpPr/>
          <p:nvPr/>
        </p:nvSpPr>
        <p:spPr>
          <a:xfrm>
            <a:off x="1024128" y="2221992"/>
            <a:ext cx="202082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Boeing</a:t>
            </a:r>
            <a:endParaRPr lang="en-US" sz="850" dirty="0"/>
          </a:p>
        </p:txBody>
      </p:sp>
      <p:sp>
        <p:nvSpPr>
          <p:cNvPr id="11" name="Shape 9"/>
          <p:cNvSpPr/>
          <p:nvPr/>
        </p:nvSpPr>
        <p:spPr>
          <a:xfrm>
            <a:off x="3154680" y="2304288"/>
            <a:ext cx="914400" cy="594360"/>
          </a:xfrm>
          <a:prstGeom prst="line">
            <a:avLst/>
          </a:prstGeom>
          <a:noFill/>
          <a:ln w="16510">
            <a:solidFill>
              <a:srgbClr val="CBD5E1"/>
            </a:solidFill>
            <a:prstDash val="solid"/>
            <a:tailEnd type="triangle"/>
          </a:ln>
        </p:spPr>
      </p:sp>
      <p:sp>
        <p:nvSpPr>
          <p:cNvPr id="12" name="Shape 10"/>
          <p:cNvSpPr/>
          <p:nvPr/>
        </p:nvSpPr>
        <p:spPr>
          <a:xfrm>
            <a:off x="914400" y="3657600"/>
            <a:ext cx="2240280" cy="402336"/>
          </a:xfrm>
          <a:prstGeom prst="rect">
            <a:avLst/>
          </a:prstGeom>
          <a:solidFill>
            <a:srgbClr val="FFFFFF"/>
          </a:solidFill>
          <a:ln w="12700">
            <a:solidFill>
              <a:srgbClr val="CBD5E1"/>
            </a:solidFill>
            <a:prstDash val="solid"/>
          </a:ln>
        </p:spPr>
      </p:sp>
      <p:sp>
        <p:nvSpPr>
          <p:cNvPr id="13" name="Text 11"/>
          <p:cNvSpPr/>
          <p:nvPr/>
        </p:nvSpPr>
        <p:spPr>
          <a:xfrm>
            <a:off x="1024128" y="3776472"/>
            <a:ext cx="202082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U.S. airlines</a:t>
            </a:r>
            <a:endParaRPr lang="en-US" sz="850" dirty="0"/>
          </a:p>
        </p:txBody>
      </p:sp>
      <p:sp>
        <p:nvSpPr>
          <p:cNvPr id="14" name="Shape 12"/>
          <p:cNvSpPr/>
          <p:nvPr/>
        </p:nvSpPr>
        <p:spPr>
          <a:xfrm>
            <a:off x="3154680" y="3858768"/>
            <a:ext cx="914400" cy="594360"/>
          </a:xfrm>
          <a:prstGeom prst="line">
            <a:avLst/>
          </a:prstGeom>
          <a:noFill/>
          <a:ln w="16510">
            <a:solidFill>
              <a:srgbClr val="CBD5E1"/>
            </a:solidFill>
            <a:prstDash val="solid"/>
            <a:tailEnd type="triangle"/>
          </a:ln>
        </p:spPr>
      </p:sp>
      <p:sp>
        <p:nvSpPr>
          <p:cNvPr id="15" name="Shape 13"/>
          <p:cNvSpPr/>
          <p:nvPr/>
        </p:nvSpPr>
        <p:spPr>
          <a:xfrm>
            <a:off x="9006840" y="2103120"/>
            <a:ext cx="2240280" cy="402336"/>
          </a:xfrm>
          <a:prstGeom prst="rect">
            <a:avLst/>
          </a:prstGeom>
          <a:solidFill>
            <a:srgbClr val="FFFFFF"/>
          </a:solidFill>
          <a:ln w="12700">
            <a:solidFill>
              <a:srgbClr val="CBD5E1"/>
            </a:solidFill>
            <a:prstDash val="solid"/>
          </a:ln>
        </p:spPr>
      </p:sp>
      <p:sp>
        <p:nvSpPr>
          <p:cNvPr id="16" name="Text 14"/>
          <p:cNvSpPr/>
          <p:nvPr/>
        </p:nvSpPr>
        <p:spPr>
          <a:xfrm>
            <a:off x="9116568" y="2221992"/>
            <a:ext cx="202082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industry officials</a:t>
            </a:r>
            <a:endParaRPr lang="en-US" sz="850" dirty="0"/>
          </a:p>
        </p:txBody>
      </p:sp>
      <p:sp>
        <p:nvSpPr>
          <p:cNvPr id="17" name="Shape 15"/>
          <p:cNvSpPr/>
          <p:nvPr/>
        </p:nvSpPr>
        <p:spPr>
          <a:xfrm>
            <a:off x="11247120" y="2304288"/>
            <a:ext cx="914400" cy="-594360"/>
          </a:xfrm>
          <a:prstGeom prst="line">
            <a:avLst/>
          </a:prstGeom>
          <a:noFill/>
          <a:ln w="16510">
            <a:solidFill>
              <a:srgbClr val="CBD5E1"/>
            </a:solidFill>
            <a:prstDash val="solid"/>
            <a:tailEnd type="triangle"/>
          </a:ln>
        </p:spPr>
      </p:sp>
      <p:sp>
        <p:nvSpPr>
          <p:cNvPr id="18" name="Shape 16"/>
          <p:cNvSpPr/>
          <p:nvPr/>
        </p:nvSpPr>
        <p:spPr>
          <a:xfrm>
            <a:off x="9006840" y="3657600"/>
            <a:ext cx="2240280" cy="402336"/>
          </a:xfrm>
          <a:prstGeom prst="rect">
            <a:avLst/>
          </a:prstGeom>
          <a:solidFill>
            <a:srgbClr val="FFFFFF"/>
          </a:solidFill>
          <a:ln w="12700">
            <a:solidFill>
              <a:srgbClr val="CBD5E1"/>
            </a:solidFill>
            <a:prstDash val="solid"/>
          </a:ln>
        </p:spPr>
      </p:sp>
      <p:sp>
        <p:nvSpPr>
          <p:cNvPr id="19" name="Text 17"/>
          <p:cNvSpPr/>
          <p:nvPr/>
        </p:nvSpPr>
        <p:spPr>
          <a:xfrm>
            <a:off x="9116568" y="3776472"/>
            <a:ext cx="2020824" cy="146304"/>
          </a:xfrm>
          <a:prstGeom prst="rect">
            <a:avLst/>
          </a:prstGeom>
          <a:noFill/>
          <a:ln/>
        </p:spPr>
        <p:txBody>
          <a:bodyPr wrap="square" lIns="0" tIns="0" rIns="0" bIns="0" rtlCol="0" anchor="ctr">
            <a:normAutofit/>
          </a:bodyPr>
          <a:lstStyle/>
          <a:p>
            <a:pPr algn="ctr" indent="0" marL="0">
              <a:buNone/>
            </a:pPr>
            <a:r>
              <a:rPr lang="en-US" sz="850" b="1" dirty="0">
                <a:solidFill>
                  <a:srgbClr val="1D4ED8"/>
                </a:solidFill>
                <a:latin typeface="Helvetica Neue" pitchFamily="34" charset="0"/>
                <a:ea typeface="Helvetica Neue" pitchFamily="34" charset="-122"/>
                <a:cs typeface="Helvetica Neue" pitchFamily="34" charset="-120"/>
              </a:rPr>
              <a:t>official notices</a:t>
            </a:r>
            <a:endParaRPr lang="en-US" sz="850" dirty="0"/>
          </a:p>
        </p:txBody>
      </p:sp>
      <p:sp>
        <p:nvSpPr>
          <p:cNvPr id="20" name="Shape 18"/>
          <p:cNvSpPr/>
          <p:nvPr/>
        </p:nvSpPr>
        <p:spPr>
          <a:xfrm>
            <a:off x="11247120" y="3858768"/>
            <a:ext cx="914400" cy="-594360"/>
          </a:xfrm>
          <a:prstGeom prst="line">
            <a:avLst/>
          </a:prstGeom>
          <a:noFill/>
          <a:ln w="16510">
            <a:solidFill>
              <a:srgbClr val="CBD5E1"/>
            </a:solidFill>
            <a:prstDash val="solid"/>
            <a:tailEnd type="triangle"/>
          </a:ln>
        </p:spPr>
      </p:sp>
      <p:sp>
        <p:nvSpPr>
          <p:cNvPr id="21" name="Shape 19"/>
          <p:cNvSpPr/>
          <p:nvPr/>
        </p:nvSpPr>
        <p:spPr>
          <a:xfrm>
            <a:off x="914400" y="4892040"/>
            <a:ext cx="4800600" cy="786384"/>
          </a:xfrm>
          <a:prstGeom prst="rect">
            <a:avLst/>
          </a:prstGeom>
          <a:solidFill>
            <a:srgbClr val="F8FAFC"/>
          </a:solidFill>
          <a:ln w="12700">
            <a:solidFill>
              <a:srgbClr val="E5E7EB"/>
            </a:solidFill>
            <a:prstDash val="solid"/>
          </a:ln>
        </p:spPr>
      </p:sp>
      <p:sp>
        <p:nvSpPr>
          <p:cNvPr id="22" name="Text 20"/>
          <p:cNvSpPr/>
          <p:nvPr/>
        </p:nvSpPr>
        <p:spPr>
          <a:xfrm>
            <a:off x="1115568" y="5056632"/>
            <a:ext cx="4398264" cy="164592"/>
          </a:xfrm>
          <a:prstGeom prst="rect">
            <a:avLst/>
          </a:prstGeom>
          <a:noFill/>
          <a:ln/>
        </p:spPr>
        <p:txBody>
          <a:bodyPr wrap="square" lIns="0" tIns="0" rIns="0" bIns="0" rtlCol="0" anchor="ctr"/>
          <a:lstStyle/>
          <a:p>
            <a:pPr indent="0" marL="0">
              <a:buNone/>
            </a:pPr>
            <a:r>
              <a:rPr lang="en-US" sz="700" b="1" dirty="0">
                <a:solidFill>
                  <a:srgbClr val="B91C1C"/>
                </a:solidFill>
                <a:latin typeface="Helvetica Neue" pitchFamily="34" charset="0"/>
                <a:ea typeface="Helvetica Neue" pitchFamily="34" charset="-122"/>
                <a:cs typeface="Helvetica Neue" pitchFamily="34" charset="-120"/>
              </a:rPr>
              <a:t>CONTRAST OBJECT</a:t>
            </a:r>
            <a:endParaRPr lang="en-US" sz="700" dirty="0"/>
          </a:p>
        </p:txBody>
      </p:sp>
      <p:sp>
        <p:nvSpPr>
          <p:cNvPr id="23" name="Text 21"/>
          <p:cNvSpPr/>
          <p:nvPr/>
        </p:nvSpPr>
        <p:spPr>
          <a:xfrm>
            <a:off x="1115568" y="5330952"/>
            <a:ext cx="4398264" cy="237744"/>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Six days later, Seattle Times reframed FAA as a delegated, compromised regulator.</a:t>
            </a:r>
            <a:endParaRPr lang="en-US" sz="1300" dirty="0"/>
          </a:p>
        </p:txBody>
      </p:sp>
      <p:sp>
        <p:nvSpPr>
          <p:cNvPr id="24" name="Shape 22"/>
          <p:cNvSpPr/>
          <p:nvPr/>
        </p:nvSpPr>
        <p:spPr>
          <a:xfrm>
            <a:off x="6446520" y="4892040"/>
            <a:ext cx="4526280" cy="786384"/>
          </a:xfrm>
          <a:prstGeom prst="rect">
            <a:avLst/>
          </a:prstGeom>
          <a:solidFill>
            <a:srgbClr val="F8FAFC"/>
          </a:solidFill>
          <a:ln w="12700">
            <a:solidFill>
              <a:srgbClr val="E5E7EB"/>
            </a:solidFill>
            <a:prstDash val="solid"/>
          </a:ln>
        </p:spPr>
      </p:sp>
      <p:sp>
        <p:nvSpPr>
          <p:cNvPr id="25" name="Text 23"/>
          <p:cNvSpPr/>
          <p:nvPr/>
        </p:nvSpPr>
        <p:spPr>
          <a:xfrm>
            <a:off x="6647688" y="5056632"/>
            <a:ext cx="4123944" cy="164592"/>
          </a:xfrm>
          <a:prstGeom prst="rect">
            <a:avLst/>
          </a:prstGeom>
          <a:noFill/>
          <a:ln/>
        </p:spPr>
        <p:txBody>
          <a:bodyPr wrap="square" lIns="0" tIns="0" rIns="0" bIns="0" rtlCol="0" anchor="ctr"/>
          <a:lstStyle/>
          <a:p>
            <a:pPr indent="0" marL="0">
              <a:buNone/>
            </a:pPr>
            <a:r>
              <a:rPr lang="en-US" sz="700" b="1" dirty="0">
                <a:solidFill>
                  <a:srgbClr val="111827"/>
                </a:solidFill>
                <a:latin typeface="Helvetica Neue" pitchFamily="34" charset="0"/>
                <a:ea typeface="Helvetica Neue" pitchFamily="34" charset="-122"/>
                <a:cs typeface="Helvetica Neue" pitchFamily="34" charset="-120"/>
              </a:rPr>
              <a:t>WHY IT MATTERS</a:t>
            </a:r>
            <a:endParaRPr lang="en-US" sz="700" dirty="0"/>
          </a:p>
        </p:txBody>
      </p:sp>
      <p:sp>
        <p:nvSpPr>
          <p:cNvPr id="26" name="Text 24"/>
          <p:cNvSpPr/>
          <p:nvPr/>
        </p:nvSpPr>
        <p:spPr>
          <a:xfrm>
            <a:off x="6647688" y="5330952"/>
            <a:ext cx="4123944" cy="237744"/>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A frame that indicts the source relationship costs more than a frame that quotes it.</a:t>
            </a:r>
            <a:endParaRPr lang="en-US" sz="1300" dirty="0"/>
          </a:p>
        </p:txBody>
      </p:sp>
      <p:sp>
        <p:nvSpPr>
          <p:cNvPr id="27" name="Shape 25"/>
          <p:cNvSpPr/>
          <p:nvPr/>
        </p:nvSpPr>
        <p:spPr>
          <a:xfrm>
            <a:off x="502920" y="6473952"/>
            <a:ext cx="11109960" cy="0"/>
          </a:xfrm>
          <a:prstGeom prst="line">
            <a:avLst/>
          </a:prstGeom>
          <a:noFill/>
          <a:ln w="12700">
            <a:solidFill>
              <a:srgbClr val="E5E7EB"/>
            </a:solidFill>
            <a:prstDash val="solid"/>
          </a:ln>
        </p:spPr>
      </p:sp>
      <p:sp>
        <p:nvSpPr>
          <p:cNvPr id="28" name="Text 26"/>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Dominic Gates, Seattle Times, Mar. 17, 2019; House report: FAA delegated 79 of 91 certification plans by Nov. 2016.</a:t>
            </a:r>
            <a:endParaRPr lang="en-US" sz="680" dirty="0"/>
          </a:p>
        </p:txBody>
      </p:sp>
      <p:sp>
        <p:nvSpPr>
          <p:cNvPr id="29" name="Text 27"/>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FILTER 4</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Flak fits best as anticipated cost.</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Do not argue Boeing threatened this article. Argue that certain frames were predictably expensive.</a:t>
            </a:r>
            <a:endParaRPr lang="en-US" sz="1200" dirty="0"/>
          </a:p>
        </p:txBody>
      </p:sp>
      <p:sp>
        <p:nvSpPr>
          <p:cNvPr id="7" name="Shape 5"/>
          <p:cNvSpPr/>
          <p:nvPr/>
        </p:nvSpPr>
        <p:spPr>
          <a:xfrm>
            <a:off x="914400" y="2057400"/>
            <a:ext cx="8412480" cy="658368"/>
          </a:xfrm>
          <a:prstGeom prst="rect">
            <a:avLst/>
          </a:prstGeom>
          <a:solidFill>
            <a:srgbClr val="ECFDF5"/>
          </a:solidFill>
          <a:ln w="12700">
            <a:solidFill>
              <a:srgbClr val="047857"/>
            </a:solidFill>
            <a:prstDash val="solid"/>
          </a:ln>
        </p:spPr>
      </p:sp>
      <p:sp>
        <p:nvSpPr>
          <p:cNvPr id="8" name="Text 6"/>
          <p:cNvSpPr/>
          <p:nvPr/>
        </p:nvSpPr>
        <p:spPr>
          <a:xfrm>
            <a:off x="1115568" y="2267712"/>
            <a:ext cx="1143000" cy="146304"/>
          </a:xfrm>
          <a:prstGeom prst="rect">
            <a:avLst/>
          </a:prstGeom>
          <a:noFill/>
          <a:ln/>
        </p:spPr>
        <p:txBody>
          <a:bodyPr wrap="square" lIns="0" tIns="0" rIns="0" bIns="0" rtlCol="0" anchor="ctr"/>
          <a:lstStyle/>
          <a:p>
            <a:pPr indent="0" marL="0">
              <a:buNone/>
            </a:pPr>
            <a:r>
              <a:rPr lang="en-US" sz="700" b="1" dirty="0">
                <a:solidFill>
                  <a:srgbClr val="047857"/>
                </a:solidFill>
                <a:latin typeface="Helvetica Neue" pitchFamily="34" charset="0"/>
                <a:ea typeface="Helvetica Neue" pitchFamily="34" charset="-122"/>
                <a:cs typeface="Helvetica Neue" pitchFamily="34" charset="-120"/>
              </a:rPr>
              <a:t>LOW COST</a:t>
            </a:r>
            <a:endParaRPr lang="en-US" sz="700" dirty="0"/>
          </a:p>
        </p:txBody>
      </p:sp>
      <p:sp>
        <p:nvSpPr>
          <p:cNvPr id="9" name="Text 7"/>
          <p:cNvSpPr/>
          <p:nvPr/>
        </p:nvSpPr>
        <p:spPr>
          <a:xfrm>
            <a:off x="2331720" y="2221992"/>
            <a:ext cx="6217920" cy="201168"/>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Helvetica Neue" pitchFamily="34" charset="0"/>
                <a:ea typeface="Helvetica Neue" pitchFamily="34" charset="-122"/>
                <a:cs typeface="Helvetica Neue" pitchFamily="34" charset="-120"/>
              </a:rPr>
              <a:t>FAA decision under scrutiny</a:t>
            </a:r>
            <a:endParaRPr lang="en-US" sz="1500" dirty="0"/>
          </a:p>
        </p:txBody>
      </p:sp>
      <p:sp>
        <p:nvSpPr>
          <p:cNvPr id="10" name="Shape 8"/>
          <p:cNvSpPr/>
          <p:nvPr/>
        </p:nvSpPr>
        <p:spPr>
          <a:xfrm>
            <a:off x="1325880" y="3017520"/>
            <a:ext cx="8001000" cy="658368"/>
          </a:xfrm>
          <a:prstGeom prst="rect">
            <a:avLst/>
          </a:prstGeom>
          <a:solidFill>
            <a:srgbClr val="FFFBEB"/>
          </a:solidFill>
          <a:ln w="12700">
            <a:solidFill>
              <a:srgbClr val="B45309"/>
            </a:solidFill>
            <a:prstDash val="solid"/>
          </a:ln>
        </p:spPr>
      </p:sp>
      <p:sp>
        <p:nvSpPr>
          <p:cNvPr id="11" name="Text 9"/>
          <p:cNvSpPr/>
          <p:nvPr/>
        </p:nvSpPr>
        <p:spPr>
          <a:xfrm>
            <a:off x="1527048" y="3227832"/>
            <a:ext cx="1143000" cy="146304"/>
          </a:xfrm>
          <a:prstGeom prst="rect">
            <a:avLst/>
          </a:prstGeom>
          <a:noFill/>
          <a:ln/>
        </p:spPr>
        <p:txBody>
          <a:bodyPr wrap="square" lIns="0" tIns="0" rIns="0" bIns="0" rtlCol="0" anchor="ctr"/>
          <a:lstStyle/>
          <a:p>
            <a:pPr indent="0" marL="0">
              <a:buNone/>
            </a:pPr>
            <a:r>
              <a:rPr lang="en-US" sz="700" b="1" dirty="0">
                <a:solidFill>
                  <a:srgbClr val="B45309"/>
                </a:solidFill>
                <a:latin typeface="Helvetica Neue" pitchFamily="34" charset="0"/>
                <a:ea typeface="Helvetica Neue" pitchFamily="34" charset="-122"/>
                <a:cs typeface="Helvetica Neue" pitchFamily="34" charset="-120"/>
              </a:rPr>
              <a:t>MEDIUM COST</a:t>
            </a:r>
            <a:endParaRPr lang="en-US" sz="700" dirty="0"/>
          </a:p>
        </p:txBody>
      </p:sp>
      <p:sp>
        <p:nvSpPr>
          <p:cNvPr id="12" name="Text 10"/>
          <p:cNvSpPr/>
          <p:nvPr/>
        </p:nvSpPr>
        <p:spPr>
          <a:xfrm>
            <a:off x="2743200" y="3182112"/>
            <a:ext cx="6217920" cy="201168"/>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Helvetica Neue" pitchFamily="34" charset="0"/>
                <a:ea typeface="Helvetica Neue" pitchFamily="34" charset="-122"/>
                <a:cs typeface="Helvetica Neue" pitchFamily="34" charset="-120"/>
              </a:rPr>
              <a:t>Boeing design choices under scrutiny</a:t>
            </a:r>
            <a:endParaRPr lang="en-US" sz="1500" dirty="0"/>
          </a:p>
        </p:txBody>
      </p:sp>
      <p:sp>
        <p:nvSpPr>
          <p:cNvPr id="13" name="Shape 11"/>
          <p:cNvSpPr/>
          <p:nvPr/>
        </p:nvSpPr>
        <p:spPr>
          <a:xfrm>
            <a:off x="1737360" y="3977640"/>
            <a:ext cx="7589520" cy="658368"/>
          </a:xfrm>
          <a:prstGeom prst="rect">
            <a:avLst/>
          </a:prstGeom>
          <a:solidFill>
            <a:srgbClr val="FEF2F2"/>
          </a:solidFill>
          <a:ln w="12700">
            <a:solidFill>
              <a:srgbClr val="B91C1C"/>
            </a:solidFill>
            <a:prstDash val="solid"/>
          </a:ln>
        </p:spPr>
      </p:sp>
      <p:sp>
        <p:nvSpPr>
          <p:cNvPr id="14" name="Text 12"/>
          <p:cNvSpPr/>
          <p:nvPr/>
        </p:nvSpPr>
        <p:spPr>
          <a:xfrm>
            <a:off x="1938528" y="4187952"/>
            <a:ext cx="1143000" cy="146304"/>
          </a:xfrm>
          <a:prstGeom prst="rect">
            <a:avLst/>
          </a:prstGeom>
          <a:noFill/>
          <a:ln/>
        </p:spPr>
        <p:txBody>
          <a:bodyPr wrap="square" lIns="0" tIns="0" rIns="0" bIns="0" rtlCol="0" anchor="ctr"/>
          <a:lstStyle/>
          <a:p>
            <a:pPr indent="0" marL="0">
              <a:buNone/>
            </a:pPr>
            <a:r>
              <a:rPr lang="en-US" sz="700" b="1" dirty="0">
                <a:solidFill>
                  <a:srgbClr val="B91C1C"/>
                </a:solidFill>
                <a:latin typeface="Helvetica Neue" pitchFamily="34" charset="0"/>
                <a:ea typeface="Helvetica Neue" pitchFamily="34" charset="-122"/>
                <a:cs typeface="Helvetica Neue" pitchFamily="34" charset="-120"/>
              </a:rPr>
              <a:t>HIGH COST</a:t>
            </a:r>
            <a:endParaRPr lang="en-US" sz="700" dirty="0"/>
          </a:p>
        </p:txBody>
      </p:sp>
      <p:sp>
        <p:nvSpPr>
          <p:cNvPr id="15" name="Text 13"/>
          <p:cNvSpPr/>
          <p:nvPr/>
        </p:nvSpPr>
        <p:spPr>
          <a:xfrm>
            <a:off x="3154680" y="4142232"/>
            <a:ext cx="6217920" cy="201168"/>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Helvetica Neue" pitchFamily="34" charset="0"/>
                <a:ea typeface="Helvetica Neue" pitchFamily="34" charset="-122"/>
                <a:cs typeface="Helvetica Neue" pitchFamily="34" charset="-120"/>
              </a:rPr>
              <a:t>FAA captured by Boeing; certification failed</a:t>
            </a:r>
            <a:endParaRPr lang="en-US" sz="1500" dirty="0"/>
          </a:p>
        </p:txBody>
      </p:sp>
      <p:sp>
        <p:nvSpPr>
          <p:cNvPr id="16" name="Shape 14"/>
          <p:cNvSpPr/>
          <p:nvPr/>
        </p:nvSpPr>
        <p:spPr>
          <a:xfrm>
            <a:off x="914400" y="5166360"/>
            <a:ext cx="9966960" cy="777240"/>
          </a:xfrm>
          <a:prstGeom prst="rect">
            <a:avLst/>
          </a:prstGeom>
          <a:solidFill>
            <a:srgbClr val="F8FAFC"/>
          </a:solidFill>
          <a:ln w="12700">
            <a:solidFill>
              <a:srgbClr val="E5E7EB"/>
            </a:solidFill>
            <a:prstDash val="solid"/>
          </a:ln>
        </p:spPr>
      </p:sp>
      <p:sp>
        <p:nvSpPr>
          <p:cNvPr id="17" name="Text 15"/>
          <p:cNvSpPr/>
          <p:nvPr/>
        </p:nvSpPr>
        <p:spPr>
          <a:xfrm>
            <a:off x="1115568" y="5330952"/>
            <a:ext cx="9564624" cy="164592"/>
          </a:xfrm>
          <a:prstGeom prst="rect">
            <a:avLst/>
          </a:prstGeom>
          <a:noFill/>
          <a:ln/>
        </p:spPr>
        <p:txBody>
          <a:bodyPr wrap="square" lIns="0" tIns="0" rIns="0" bIns="0" rtlCol="0" anchor="ctr"/>
          <a:lstStyle/>
          <a:p>
            <a:pPr indent="0" marL="0">
              <a:buNone/>
            </a:pPr>
            <a:r>
              <a:rPr lang="en-US" sz="700" b="1" dirty="0">
                <a:solidFill>
                  <a:srgbClr val="111827"/>
                </a:solidFill>
                <a:latin typeface="Helvetica Neue" pitchFamily="34" charset="0"/>
                <a:ea typeface="Helvetica Neue" pitchFamily="34" charset="-122"/>
                <a:cs typeface="Helvetica Neue" pitchFamily="34" charset="-120"/>
              </a:rPr>
              <a:t>MECHANISM</a:t>
            </a:r>
            <a:endParaRPr lang="en-US" sz="700" dirty="0"/>
          </a:p>
        </p:txBody>
      </p:sp>
      <p:sp>
        <p:nvSpPr>
          <p:cNvPr id="18" name="Text 16"/>
          <p:cNvSpPr/>
          <p:nvPr/>
        </p:nvSpPr>
        <p:spPr>
          <a:xfrm>
            <a:off x="1115568" y="5605272"/>
            <a:ext cx="9564624" cy="22860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Access, PR response, legal complaint, editor pressure, and future sourcing all live in the reporter's cost calculation.</a:t>
            </a:r>
            <a:endParaRPr lang="en-US" sz="1300" dirty="0"/>
          </a:p>
        </p:txBody>
      </p:sp>
      <p:sp>
        <p:nvSpPr>
          <p:cNvPr id="19" name="Shape 17"/>
          <p:cNvSpPr/>
          <p:nvPr/>
        </p:nvSpPr>
        <p:spPr>
          <a:xfrm>
            <a:off x="502920" y="6473952"/>
            <a:ext cx="11109960" cy="0"/>
          </a:xfrm>
          <a:prstGeom prst="line">
            <a:avLst/>
          </a:prstGeom>
          <a:noFill/>
          <a:ln w="12700">
            <a:solidFill>
              <a:srgbClr val="E5E7EB"/>
            </a:solidFill>
            <a:prstDash val="solid"/>
          </a:ln>
        </p:spPr>
      </p:sp>
      <p:sp>
        <p:nvSpPr>
          <p:cNvPr id="20" name="Text 18"/>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Filter 4 is presented as indirect/partial fit; stronger later evidence appears in investigations and reporting on Boeing pressure.</a:t>
            </a:r>
            <a:endParaRPr lang="en-US" sz="680" dirty="0"/>
          </a:p>
        </p:txBody>
      </p:sp>
      <p:sp>
        <p:nvSpPr>
          <p:cNvPr id="21" name="Text 19"/>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FILTER 5</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The fifth filter is the analytical upgrade.</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The content changes from anticommunism to techno-industrial nationalism; the function stays the same.</a:t>
            </a:r>
            <a:endParaRPr lang="en-US" sz="1200" dirty="0"/>
          </a:p>
        </p:txBody>
      </p:sp>
      <p:sp>
        <p:nvSpPr>
          <p:cNvPr id="7" name="Text 5"/>
          <p:cNvSpPr/>
          <p:nvPr/>
        </p:nvSpPr>
        <p:spPr>
          <a:xfrm>
            <a:off x="960120" y="2011680"/>
            <a:ext cx="914400" cy="228600"/>
          </a:xfrm>
          <a:prstGeom prst="rect">
            <a:avLst/>
          </a:prstGeom>
          <a:noFill/>
          <a:ln/>
        </p:spPr>
        <p:txBody>
          <a:bodyPr wrap="square" lIns="0" tIns="0" rIns="0" bIns="0" rtlCol="0" anchor="ctr"/>
          <a:lstStyle/>
          <a:p>
            <a:pPr indent="0" marL="0">
              <a:buNone/>
            </a:pPr>
            <a:r>
              <a:rPr lang="en-US" sz="900" b="1" dirty="0">
                <a:solidFill>
                  <a:srgbClr val="64748B"/>
                </a:solidFill>
                <a:latin typeface="Helvetica Neue" pitchFamily="34" charset="0"/>
                <a:ea typeface="Helvetica Neue" pitchFamily="34" charset="-122"/>
                <a:cs typeface="Helvetica Neue" pitchFamily="34" charset="-120"/>
              </a:rPr>
              <a:t>1988</a:t>
            </a:r>
            <a:endParaRPr lang="en-US" sz="900" dirty="0"/>
          </a:p>
        </p:txBody>
      </p:sp>
      <p:sp>
        <p:nvSpPr>
          <p:cNvPr id="8" name="Text 6"/>
          <p:cNvSpPr/>
          <p:nvPr/>
        </p:nvSpPr>
        <p:spPr>
          <a:xfrm>
            <a:off x="960120" y="2359152"/>
            <a:ext cx="3657600" cy="457200"/>
          </a:xfrm>
          <a:prstGeom prst="rect">
            <a:avLst/>
          </a:prstGeom>
          <a:noFill/>
          <a:ln/>
        </p:spPr>
        <p:txBody>
          <a:bodyPr wrap="square" lIns="0" tIns="0" rIns="0" bIns="0" rtlCol="0" anchor="ctr"/>
          <a:lstStyle/>
          <a:p>
            <a:pPr indent="0" marL="0">
              <a:buNone/>
            </a:pPr>
            <a:r>
              <a:rPr lang="en-US" sz="2300" b="1" dirty="0">
                <a:solidFill>
                  <a:srgbClr val="111827"/>
                </a:solidFill>
                <a:latin typeface="Helvetica Neue" pitchFamily="34" charset="0"/>
                <a:ea typeface="Helvetica Neue" pitchFamily="34" charset="-122"/>
                <a:cs typeface="Helvetica Neue" pitchFamily="34" charset="-120"/>
              </a:rPr>
              <a:t>Anticommunism</a:t>
            </a:r>
            <a:endParaRPr lang="en-US" sz="2300" dirty="0"/>
          </a:p>
        </p:txBody>
      </p:sp>
      <p:sp>
        <p:nvSpPr>
          <p:cNvPr id="9" name="Text 7"/>
          <p:cNvSpPr/>
          <p:nvPr/>
        </p:nvSpPr>
        <p:spPr>
          <a:xfrm>
            <a:off x="960120" y="3246120"/>
            <a:ext cx="914400" cy="228600"/>
          </a:xfrm>
          <a:prstGeom prst="rect">
            <a:avLst/>
          </a:prstGeom>
          <a:noFill/>
          <a:ln/>
        </p:spPr>
        <p:txBody>
          <a:bodyPr wrap="square" lIns="0" tIns="0" rIns="0" bIns="0" rtlCol="0" anchor="ctr"/>
          <a:lstStyle/>
          <a:p>
            <a:pPr indent="0" marL="0">
              <a:buNone/>
            </a:pPr>
            <a:r>
              <a:rPr lang="en-US" sz="900" b="1" dirty="0">
                <a:solidFill>
                  <a:srgbClr val="64748B"/>
                </a:solidFill>
                <a:latin typeface="Helvetica Neue" pitchFamily="34" charset="0"/>
                <a:ea typeface="Helvetica Neue" pitchFamily="34" charset="-122"/>
                <a:cs typeface="Helvetica Neue" pitchFamily="34" charset="-120"/>
              </a:rPr>
              <a:t>2002</a:t>
            </a:r>
            <a:endParaRPr lang="en-US" sz="900" dirty="0"/>
          </a:p>
        </p:txBody>
      </p:sp>
      <p:sp>
        <p:nvSpPr>
          <p:cNvPr id="10" name="Text 8"/>
          <p:cNvSpPr/>
          <p:nvPr/>
        </p:nvSpPr>
        <p:spPr>
          <a:xfrm>
            <a:off x="960120" y="3593592"/>
            <a:ext cx="4023360" cy="457200"/>
          </a:xfrm>
          <a:prstGeom prst="rect">
            <a:avLst/>
          </a:prstGeom>
          <a:noFill/>
          <a:ln/>
        </p:spPr>
        <p:txBody>
          <a:bodyPr wrap="square" lIns="0" tIns="0" rIns="0" bIns="0" rtlCol="0" anchor="ctr"/>
          <a:lstStyle/>
          <a:p>
            <a:pPr indent="0" marL="0">
              <a:buNone/>
            </a:pPr>
            <a:r>
              <a:rPr lang="en-US" sz="2200" b="1" dirty="0">
                <a:solidFill>
                  <a:srgbClr val="111827"/>
                </a:solidFill>
                <a:latin typeface="Helvetica Neue" pitchFamily="34" charset="0"/>
                <a:ea typeface="Helvetica Neue" pitchFamily="34" charset="-122"/>
                <a:cs typeface="Helvetica Neue" pitchFamily="34" charset="-120"/>
              </a:rPr>
              <a:t>Religion of the market</a:t>
            </a:r>
            <a:endParaRPr lang="en-US" sz="2200" dirty="0"/>
          </a:p>
        </p:txBody>
      </p:sp>
      <p:sp>
        <p:nvSpPr>
          <p:cNvPr id="11" name="Text 9"/>
          <p:cNvSpPr/>
          <p:nvPr/>
        </p:nvSpPr>
        <p:spPr>
          <a:xfrm>
            <a:off x="960120" y="4480560"/>
            <a:ext cx="914400" cy="228600"/>
          </a:xfrm>
          <a:prstGeom prst="rect">
            <a:avLst/>
          </a:prstGeom>
          <a:noFill/>
          <a:ln/>
        </p:spPr>
        <p:txBody>
          <a:bodyPr wrap="square" lIns="0" tIns="0" rIns="0" bIns="0" rtlCol="0" anchor="ctr"/>
          <a:lstStyle/>
          <a:p>
            <a:pPr indent="0" marL="0">
              <a:buNone/>
            </a:pPr>
            <a:r>
              <a:rPr lang="en-US" sz="900" b="1" dirty="0">
                <a:solidFill>
                  <a:srgbClr val="B91C1C"/>
                </a:solidFill>
                <a:latin typeface="Helvetica Neue" pitchFamily="34" charset="0"/>
                <a:ea typeface="Helvetica Neue" pitchFamily="34" charset="-122"/>
                <a:cs typeface="Helvetica Neue" pitchFamily="34" charset="-120"/>
              </a:rPr>
              <a:t>2019</a:t>
            </a:r>
            <a:endParaRPr lang="en-US" sz="900" dirty="0"/>
          </a:p>
        </p:txBody>
      </p:sp>
      <p:sp>
        <p:nvSpPr>
          <p:cNvPr id="12" name="Text 10"/>
          <p:cNvSpPr/>
          <p:nvPr/>
        </p:nvSpPr>
        <p:spPr>
          <a:xfrm>
            <a:off x="960120" y="4828032"/>
            <a:ext cx="5120640" cy="457200"/>
          </a:xfrm>
          <a:prstGeom prst="rect">
            <a:avLst/>
          </a:prstGeom>
          <a:noFill/>
          <a:ln/>
        </p:spPr>
        <p:txBody>
          <a:bodyPr wrap="square" lIns="0" tIns="0" rIns="0" bIns="0" rtlCol="0" anchor="ctr">
            <a:normAutofit/>
          </a:bodyPr>
          <a:lstStyle/>
          <a:p>
            <a:pPr indent="0" marL="0">
              <a:buNone/>
            </a:pPr>
            <a:r>
              <a:rPr lang="en-US" sz="2200" b="1" dirty="0">
                <a:solidFill>
                  <a:srgbClr val="B91C1C"/>
                </a:solidFill>
                <a:latin typeface="Helvetica Neue" pitchFamily="34" charset="0"/>
                <a:ea typeface="Helvetica Neue" pitchFamily="34" charset="-122"/>
                <a:cs typeface="Helvetica Neue" pitchFamily="34" charset="-120"/>
              </a:rPr>
              <a:t>Techno-industrial nationalism</a:t>
            </a:r>
            <a:endParaRPr lang="en-US" sz="2200" dirty="0"/>
          </a:p>
        </p:txBody>
      </p:sp>
      <p:sp>
        <p:nvSpPr>
          <p:cNvPr id="13" name="Shape 11"/>
          <p:cNvSpPr/>
          <p:nvPr/>
        </p:nvSpPr>
        <p:spPr>
          <a:xfrm>
            <a:off x="6629400" y="2057400"/>
            <a:ext cx="4251960" cy="1325880"/>
          </a:xfrm>
          <a:prstGeom prst="rect">
            <a:avLst/>
          </a:prstGeom>
          <a:solidFill>
            <a:srgbClr val="F8FAFC"/>
          </a:solidFill>
          <a:ln w="12700">
            <a:solidFill>
              <a:srgbClr val="E5E7EB"/>
            </a:solidFill>
            <a:prstDash val="solid"/>
          </a:ln>
        </p:spPr>
      </p:sp>
      <p:sp>
        <p:nvSpPr>
          <p:cNvPr id="14" name="Text 12"/>
          <p:cNvSpPr/>
          <p:nvPr/>
        </p:nvSpPr>
        <p:spPr>
          <a:xfrm>
            <a:off x="6830568" y="2221992"/>
            <a:ext cx="3849624" cy="164592"/>
          </a:xfrm>
          <a:prstGeom prst="rect">
            <a:avLst/>
          </a:prstGeom>
          <a:noFill/>
          <a:ln/>
        </p:spPr>
        <p:txBody>
          <a:bodyPr wrap="square" lIns="0" tIns="0" rIns="0" bIns="0" rtlCol="0" anchor="ctr"/>
          <a:lstStyle/>
          <a:p>
            <a:pPr indent="0" marL="0">
              <a:buNone/>
            </a:pPr>
            <a:r>
              <a:rPr lang="en-US" sz="700" b="1" dirty="0">
                <a:solidFill>
                  <a:srgbClr val="B91C1C"/>
                </a:solidFill>
                <a:latin typeface="Helvetica Neue" pitchFamily="34" charset="0"/>
                <a:ea typeface="Helvetica Neue" pitchFamily="34" charset="-122"/>
                <a:cs typeface="Helvetica Neue" pitchFamily="34" charset="-120"/>
              </a:rPr>
              <a:t>HOW IT WORKS HERE</a:t>
            </a:r>
            <a:endParaRPr lang="en-US" sz="700" dirty="0"/>
          </a:p>
        </p:txBody>
      </p:sp>
      <p:sp>
        <p:nvSpPr>
          <p:cNvPr id="15" name="Text 13"/>
          <p:cNvSpPr/>
          <p:nvPr/>
        </p:nvSpPr>
        <p:spPr>
          <a:xfrm>
            <a:off x="6830568" y="2496312"/>
            <a:ext cx="3849624" cy="777240"/>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Boeing is not just a company. It stands in for U.S. aviation, manufacturing, exports, defense, jobs, and national prestige.</a:t>
            </a:r>
            <a:endParaRPr lang="en-US" sz="1300" dirty="0"/>
          </a:p>
        </p:txBody>
      </p:sp>
      <p:sp>
        <p:nvSpPr>
          <p:cNvPr id="16" name="Shape 14"/>
          <p:cNvSpPr/>
          <p:nvPr/>
        </p:nvSpPr>
        <p:spPr>
          <a:xfrm>
            <a:off x="6629400" y="3749040"/>
            <a:ext cx="4251960" cy="1170432"/>
          </a:xfrm>
          <a:prstGeom prst="rect">
            <a:avLst/>
          </a:prstGeom>
          <a:solidFill>
            <a:srgbClr val="F8FAFC"/>
          </a:solidFill>
          <a:ln w="12700">
            <a:solidFill>
              <a:srgbClr val="E5E7EB"/>
            </a:solidFill>
            <a:prstDash val="solid"/>
          </a:ln>
        </p:spPr>
      </p:sp>
      <p:sp>
        <p:nvSpPr>
          <p:cNvPr id="17" name="Text 15"/>
          <p:cNvSpPr/>
          <p:nvPr/>
        </p:nvSpPr>
        <p:spPr>
          <a:xfrm>
            <a:off x="6830568" y="3913632"/>
            <a:ext cx="3849624" cy="164592"/>
          </a:xfrm>
          <a:prstGeom prst="rect">
            <a:avLst/>
          </a:prstGeom>
          <a:noFill/>
          <a:ln/>
        </p:spPr>
        <p:txBody>
          <a:bodyPr wrap="square" lIns="0" tIns="0" rIns="0" bIns="0" rtlCol="0" anchor="ctr"/>
          <a:lstStyle/>
          <a:p>
            <a:pPr indent="0" marL="0">
              <a:buNone/>
            </a:pPr>
            <a:r>
              <a:rPr lang="en-US" sz="700" b="1" dirty="0">
                <a:solidFill>
                  <a:srgbClr val="1D4ED8"/>
                </a:solidFill>
                <a:latin typeface="Helvetica Neue" pitchFamily="34" charset="0"/>
                <a:ea typeface="Helvetica Neue" pitchFamily="34" charset="-122"/>
                <a:cs typeface="Helvetica Neue" pitchFamily="34" charset="-120"/>
              </a:rPr>
              <a:t>FRAME EFFECT</a:t>
            </a:r>
            <a:endParaRPr lang="en-US" sz="700" dirty="0"/>
          </a:p>
        </p:txBody>
      </p:sp>
      <p:sp>
        <p:nvSpPr>
          <p:cNvPr id="18" name="Text 16"/>
          <p:cNvSpPr/>
          <p:nvPr/>
        </p:nvSpPr>
        <p:spPr>
          <a:xfrm>
            <a:off x="6830568" y="4187952"/>
            <a:ext cx="3849624" cy="621792"/>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The FAA's position reads as default authority. Foreign regulators read as pressure, reaction, or politics.</a:t>
            </a:r>
            <a:endParaRPr lang="en-US" sz="1300" dirty="0"/>
          </a:p>
        </p:txBody>
      </p:sp>
      <p:sp>
        <p:nvSpPr>
          <p:cNvPr id="19" name="Shape 17"/>
          <p:cNvSpPr/>
          <p:nvPr/>
        </p:nvSpPr>
        <p:spPr>
          <a:xfrm>
            <a:off x="502920" y="6473952"/>
            <a:ext cx="11109960" cy="0"/>
          </a:xfrm>
          <a:prstGeom prst="line">
            <a:avLst/>
          </a:prstGeom>
          <a:noFill/>
          <a:ln w="12700">
            <a:solidFill>
              <a:srgbClr val="E5E7EB"/>
            </a:solidFill>
            <a:prstDash val="solid"/>
          </a:ln>
        </p:spPr>
      </p:sp>
      <p:sp>
        <p:nvSpPr>
          <p:cNvPr id="20" name="Text 18"/>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Herman &amp; Chomsky on filter 5; Boeing status from House report and public record.</a:t>
            </a:r>
            <a:endParaRPr lang="en-US" sz="680" dirty="0"/>
          </a:p>
        </p:txBody>
      </p:sp>
      <p:sp>
        <p:nvSpPr>
          <p:cNvPr id="21" name="Text 19"/>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THE VICTIM TEST</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Same facts, different victims, different output.</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This counterfactual tests the model without needing to prove author intent.</a:t>
            </a:r>
            <a:endParaRPr lang="en-US" sz="1200" dirty="0"/>
          </a:p>
        </p:txBody>
      </p:sp>
      <p:sp>
        <p:nvSpPr>
          <p:cNvPr id="7" name="Shape 5"/>
          <p:cNvSpPr/>
          <p:nvPr/>
        </p:nvSpPr>
        <p:spPr>
          <a:xfrm>
            <a:off x="868680" y="2148840"/>
            <a:ext cx="4846320" cy="2212848"/>
          </a:xfrm>
          <a:prstGeom prst="rect">
            <a:avLst/>
          </a:prstGeom>
          <a:solidFill>
            <a:srgbClr val="F8FAFC"/>
          </a:solidFill>
          <a:ln w="12700">
            <a:solidFill>
              <a:srgbClr val="CBD5E1"/>
            </a:solidFill>
            <a:prstDash val="solid"/>
          </a:ln>
        </p:spPr>
      </p:sp>
      <p:sp>
        <p:nvSpPr>
          <p:cNvPr id="8" name="Text 6"/>
          <p:cNvSpPr/>
          <p:nvPr/>
        </p:nvSpPr>
        <p:spPr>
          <a:xfrm>
            <a:off x="1143000" y="2395728"/>
            <a:ext cx="2011680" cy="219456"/>
          </a:xfrm>
          <a:prstGeom prst="rect">
            <a:avLst/>
          </a:prstGeom>
          <a:noFill/>
          <a:ln/>
        </p:spPr>
        <p:txBody>
          <a:bodyPr wrap="square" lIns="0" tIns="0" rIns="0" bIns="0" rtlCol="0" anchor="ctr"/>
          <a:lstStyle/>
          <a:p>
            <a:pPr indent="0" marL="0">
              <a:buNone/>
            </a:pPr>
            <a:r>
              <a:rPr lang="en-US" sz="1000" b="1" dirty="0">
                <a:solidFill>
                  <a:srgbClr val="1D4ED8"/>
                </a:solidFill>
                <a:latin typeface="Helvetica Neue" pitchFamily="34" charset="0"/>
                <a:ea typeface="Helvetica Neue" pitchFamily="34" charset="-122"/>
                <a:cs typeface="Helvetica Neue" pitchFamily="34" charset="-120"/>
              </a:rPr>
              <a:t>Actual frame</a:t>
            </a:r>
            <a:endParaRPr lang="en-US" sz="1000" dirty="0"/>
          </a:p>
        </p:txBody>
      </p:sp>
      <p:sp>
        <p:nvSpPr>
          <p:cNvPr id="9" name="Text 7"/>
          <p:cNvSpPr/>
          <p:nvPr/>
        </p:nvSpPr>
        <p:spPr>
          <a:xfrm>
            <a:off x="1143000" y="2816352"/>
            <a:ext cx="4251960" cy="777240"/>
          </a:xfrm>
          <a:prstGeom prst="rect">
            <a:avLst/>
          </a:prstGeom>
          <a:noFill/>
          <a:ln/>
        </p:spPr>
        <p:txBody>
          <a:bodyPr wrap="square" lIns="0" tIns="0" rIns="0" bIns="0" rtlCol="0" anchor="ctr">
            <a:normAutofit/>
          </a:bodyPr>
          <a:lstStyle/>
          <a:p>
            <a:pPr indent="0" marL="0">
              <a:buNone/>
            </a:pPr>
            <a:r>
              <a:rPr lang="en-US" sz="1700" b="1" dirty="0">
                <a:solidFill>
                  <a:srgbClr val="111827"/>
                </a:solidFill>
                <a:latin typeface="Georgia" pitchFamily="34" charset="0"/>
                <a:ea typeface="Georgia" pitchFamily="34" charset="-122"/>
                <a:cs typeface="Georgia" pitchFamily="34" charset="-120"/>
              </a:rPr>
              <a:t>FAA has no current plans to ground Boeing's 737 MAX after deadly crash</a:t>
            </a:r>
            <a:endParaRPr lang="en-US" sz="1700" dirty="0"/>
          </a:p>
        </p:txBody>
      </p:sp>
      <p:sp>
        <p:nvSpPr>
          <p:cNvPr id="10" name="Text 8"/>
          <p:cNvSpPr/>
          <p:nvPr/>
        </p:nvSpPr>
        <p:spPr>
          <a:xfrm>
            <a:off x="1143000" y="3822192"/>
            <a:ext cx="4069080" cy="228600"/>
          </a:xfrm>
          <a:prstGeom prst="rect">
            <a:avLst/>
          </a:prstGeom>
          <a:noFill/>
          <a:ln/>
        </p:spPr>
        <p:txBody>
          <a:bodyPr wrap="square" lIns="0" tIns="0" rIns="0" bIns="0" rtlCol="0" anchor="ctr">
            <a:normAutofit/>
          </a:bodyPr>
          <a:lstStyle/>
          <a:p>
            <a:pPr indent="0" marL="0">
              <a:buNone/>
            </a:pPr>
            <a:r>
              <a:rPr lang="en-US" sz="900" dirty="0">
                <a:solidFill>
                  <a:srgbClr val="64748B"/>
                </a:solidFill>
                <a:latin typeface="Helvetica Neue" pitchFamily="34" charset="0"/>
                <a:ea typeface="Helvetica Neue" pitchFamily="34" charset="-122"/>
                <a:cs typeface="Helvetica Neue" pitchFamily="34" charset="-120"/>
              </a:rPr>
              <a:t>Authority first. Victims unnamed. Global alarm secondary.</a:t>
            </a:r>
            <a:endParaRPr lang="en-US" sz="900" dirty="0"/>
          </a:p>
        </p:txBody>
      </p:sp>
      <p:sp>
        <p:nvSpPr>
          <p:cNvPr id="11" name="Shape 9"/>
          <p:cNvSpPr/>
          <p:nvPr/>
        </p:nvSpPr>
        <p:spPr>
          <a:xfrm>
            <a:off x="6400800" y="2148840"/>
            <a:ext cx="4846320" cy="2212848"/>
          </a:xfrm>
          <a:prstGeom prst="rect">
            <a:avLst/>
          </a:prstGeom>
          <a:solidFill>
            <a:srgbClr val="FEF2F2"/>
          </a:solidFill>
          <a:ln w="12700">
            <a:solidFill>
              <a:srgbClr val="FCA5A5"/>
            </a:solidFill>
            <a:prstDash val="solid"/>
          </a:ln>
        </p:spPr>
      </p:sp>
      <p:sp>
        <p:nvSpPr>
          <p:cNvPr id="12" name="Text 10"/>
          <p:cNvSpPr/>
          <p:nvPr/>
        </p:nvSpPr>
        <p:spPr>
          <a:xfrm>
            <a:off x="6675120" y="2395728"/>
            <a:ext cx="2377440" cy="219456"/>
          </a:xfrm>
          <a:prstGeom prst="rect">
            <a:avLst/>
          </a:prstGeom>
          <a:noFill/>
          <a:ln/>
        </p:spPr>
        <p:txBody>
          <a:bodyPr wrap="square" lIns="0" tIns="0" rIns="0" bIns="0" rtlCol="0" anchor="ctr"/>
          <a:lstStyle/>
          <a:p>
            <a:pPr indent="0" marL="0">
              <a:buNone/>
            </a:pPr>
            <a:r>
              <a:rPr lang="en-US" sz="1000" b="1" dirty="0">
                <a:solidFill>
                  <a:srgbClr val="B91C1C"/>
                </a:solidFill>
                <a:latin typeface="Helvetica Neue" pitchFamily="34" charset="0"/>
                <a:ea typeface="Helvetica Neue" pitchFamily="34" charset="-122"/>
                <a:cs typeface="Helvetica Neue" pitchFamily="34" charset="-120"/>
              </a:rPr>
              <a:t>Counterfactual frame</a:t>
            </a:r>
            <a:endParaRPr lang="en-US" sz="1000" dirty="0"/>
          </a:p>
        </p:txBody>
      </p:sp>
      <p:sp>
        <p:nvSpPr>
          <p:cNvPr id="13" name="Text 11"/>
          <p:cNvSpPr/>
          <p:nvPr/>
        </p:nvSpPr>
        <p:spPr>
          <a:xfrm>
            <a:off x="6675120" y="2816352"/>
            <a:ext cx="4251960" cy="777240"/>
          </a:xfrm>
          <a:prstGeom prst="rect">
            <a:avLst/>
          </a:prstGeom>
          <a:noFill/>
          <a:ln/>
        </p:spPr>
        <p:txBody>
          <a:bodyPr wrap="square" lIns="0" tIns="0" rIns="0" bIns="0" rtlCol="0" anchor="ctr">
            <a:normAutofit/>
          </a:bodyPr>
          <a:lstStyle/>
          <a:p>
            <a:pPr indent="0" marL="0">
              <a:buNone/>
            </a:pPr>
            <a:r>
              <a:rPr lang="en-US" sz="1700" b="1" dirty="0">
                <a:solidFill>
                  <a:srgbClr val="111827"/>
                </a:solidFill>
                <a:latin typeface="Georgia" pitchFamily="34" charset="0"/>
                <a:ea typeface="Georgia" pitchFamily="34" charset="-122"/>
                <a:cs typeface="Georgia" pitchFamily="34" charset="-120"/>
              </a:rPr>
              <a:t>Pressure mounts on FAA to ground 737 MAX after second crash kills 157 Americans</a:t>
            </a:r>
            <a:endParaRPr lang="en-US" sz="1700" dirty="0"/>
          </a:p>
        </p:txBody>
      </p:sp>
      <p:sp>
        <p:nvSpPr>
          <p:cNvPr id="14" name="Text 12"/>
          <p:cNvSpPr/>
          <p:nvPr/>
        </p:nvSpPr>
        <p:spPr>
          <a:xfrm>
            <a:off x="6675120" y="3822192"/>
            <a:ext cx="4069080" cy="228600"/>
          </a:xfrm>
          <a:prstGeom prst="rect">
            <a:avLst/>
          </a:prstGeom>
          <a:noFill/>
          <a:ln/>
        </p:spPr>
        <p:txBody>
          <a:bodyPr wrap="square" lIns="0" tIns="0" rIns="0" bIns="0" rtlCol="0" anchor="ctr">
            <a:normAutofit/>
          </a:bodyPr>
          <a:lstStyle/>
          <a:p>
            <a:pPr indent="0" marL="0">
              <a:buNone/>
            </a:pPr>
            <a:r>
              <a:rPr lang="en-US" sz="900" dirty="0">
                <a:solidFill>
                  <a:srgbClr val="64748B"/>
                </a:solidFill>
                <a:latin typeface="Helvetica Neue" pitchFamily="34" charset="0"/>
                <a:ea typeface="Helvetica Neue" pitchFamily="34" charset="-122"/>
                <a:cs typeface="Helvetica Neue" pitchFamily="34" charset="-120"/>
              </a:rPr>
              <a:t>Victims first. Outrage visible. FAA under indictment.</a:t>
            </a:r>
            <a:endParaRPr lang="en-US" sz="900" dirty="0"/>
          </a:p>
        </p:txBody>
      </p:sp>
      <p:sp>
        <p:nvSpPr>
          <p:cNvPr id="15" name="Shape 13"/>
          <p:cNvSpPr/>
          <p:nvPr/>
        </p:nvSpPr>
        <p:spPr>
          <a:xfrm>
            <a:off x="914400" y="5074920"/>
            <a:ext cx="10012680" cy="786384"/>
          </a:xfrm>
          <a:prstGeom prst="rect">
            <a:avLst/>
          </a:prstGeom>
          <a:solidFill>
            <a:srgbClr val="F8FAFC"/>
          </a:solidFill>
          <a:ln w="12700">
            <a:solidFill>
              <a:srgbClr val="E5E7EB"/>
            </a:solidFill>
            <a:prstDash val="solid"/>
          </a:ln>
        </p:spPr>
      </p:sp>
      <p:sp>
        <p:nvSpPr>
          <p:cNvPr id="16" name="Text 14"/>
          <p:cNvSpPr/>
          <p:nvPr/>
        </p:nvSpPr>
        <p:spPr>
          <a:xfrm>
            <a:off x="1115568" y="5239512"/>
            <a:ext cx="9610344" cy="164592"/>
          </a:xfrm>
          <a:prstGeom prst="rect">
            <a:avLst/>
          </a:prstGeom>
          <a:noFill/>
          <a:ln/>
        </p:spPr>
        <p:txBody>
          <a:bodyPr wrap="square" lIns="0" tIns="0" rIns="0" bIns="0" rtlCol="0" anchor="ctr"/>
          <a:lstStyle/>
          <a:p>
            <a:pPr indent="0" marL="0">
              <a:buNone/>
            </a:pPr>
            <a:r>
              <a:rPr lang="en-US" sz="700" b="1" dirty="0">
                <a:solidFill>
                  <a:srgbClr val="B91C1C"/>
                </a:solidFill>
                <a:latin typeface="Helvetica Neue" pitchFamily="34" charset="0"/>
                <a:ea typeface="Helvetica Neue" pitchFamily="34" charset="-122"/>
                <a:cs typeface="Helvetica Neue" pitchFamily="34" charset="-120"/>
              </a:rPr>
              <a:t>FINDING</a:t>
            </a:r>
            <a:endParaRPr lang="en-US" sz="700" dirty="0"/>
          </a:p>
        </p:txBody>
      </p:sp>
      <p:sp>
        <p:nvSpPr>
          <p:cNvPr id="17" name="Text 15"/>
          <p:cNvSpPr/>
          <p:nvPr/>
        </p:nvSpPr>
        <p:spPr>
          <a:xfrm>
            <a:off x="1115568" y="5513832"/>
            <a:ext cx="9610344" cy="237744"/>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Helvetica Neue" pitchFamily="34" charset="0"/>
                <a:ea typeface="Helvetica Neue" pitchFamily="34" charset="-122"/>
                <a:cs typeface="Helvetica Neue" pitchFamily="34" charset="-120"/>
              </a:rPr>
              <a:t>The model fits if victim status changes the natural frame. That is the worthy/unworthy victim logic.</a:t>
            </a:r>
            <a:endParaRPr lang="en-US" sz="1300" dirty="0"/>
          </a:p>
        </p:txBody>
      </p:sp>
      <p:sp>
        <p:nvSpPr>
          <p:cNvPr id="18" name="Shape 16"/>
          <p:cNvSpPr/>
          <p:nvPr/>
        </p:nvSpPr>
        <p:spPr>
          <a:xfrm>
            <a:off x="502920" y="6473952"/>
            <a:ext cx="11109960" cy="0"/>
          </a:xfrm>
          <a:prstGeom prst="line">
            <a:avLst/>
          </a:prstGeom>
          <a:noFill/>
          <a:ln w="12700">
            <a:solidFill>
              <a:srgbClr val="E5E7EB"/>
            </a:solidFill>
            <a:prstDash val="solid"/>
          </a:ln>
        </p:spPr>
      </p:sp>
      <p:sp>
        <p:nvSpPr>
          <p:cNvPr id="19" name="Text 17"/>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Counterfactual based on Chomsky's worthy/unworthy victim distinction and the Boeing crash timeline.</a:t>
            </a:r>
            <a:endParaRPr lang="en-US" sz="680" dirty="0"/>
          </a:p>
        </p:txBody>
      </p:sp>
      <p:sp>
        <p:nvSpPr>
          <p:cNvPr id="20" name="Text 18"/>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18872" cy="6858000"/>
          </a:xfrm>
          <a:prstGeom prst="rect">
            <a:avLst/>
          </a:prstGeom>
          <a:solidFill>
            <a:srgbClr val="111827"/>
          </a:solidFill>
          <a:ln w="12700">
            <a:solidFill>
              <a:srgbClr val="111827"/>
            </a:solidFill>
            <a:prstDash val="solid"/>
          </a:ln>
        </p:spPr>
      </p:sp>
      <p:sp>
        <p:nvSpPr>
          <p:cNvPr id="4" name="Text 2"/>
          <p:cNvSpPr/>
          <p:nvPr/>
        </p:nvSpPr>
        <p:spPr>
          <a:xfrm>
            <a:off x="658368" y="329184"/>
            <a:ext cx="6766560" cy="201168"/>
          </a:xfrm>
          <a:prstGeom prst="rect">
            <a:avLst/>
          </a:prstGeom>
          <a:noFill/>
          <a:ln/>
        </p:spPr>
        <p:txBody>
          <a:bodyPr wrap="square" lIns="0" tIns="0" rIns="0" bIns="0" rtlCol="0" anchor="ctr"/>
          <a:lstStyle/>
          <a:p>
            <a:pPr indent="0" marL="0">
              <a:buNone/>
            </a:pPr>
            <a:r>
              <a:rPr lang="en-US" sz="850" b="1" dirty="0">
                <a:solidFill>
                  <a:srgbClr val="1D4ED8"/>
                </a:solidFill>
                <a:latin typeface="Helvetica Neue" pitchFamily="34" charset="0"/>
                <a:ea typeface="Helvetica Neue" pitchFamily="34" charset="-122"/>
                <a:cs typeface="Helvetica Neue" pitchFamily="34" charset="-120"/>
              </a:rPr>
              <a:t>FINAL FINDING</a:t>
            </a:r>
            <a:endParaRPr lang="en-US" sz="850" dirty="0"/>
          </a:p>
        </p:txBody>
      </p:sp>
      <p:sp>
        <p:nvSpPr>
          <p:cNvPr id="5" name="Text 3"/>
          <p:cNvSpPr/>
          <p:nvPr/>
        </p:nvSpPr>
        <p:spPr>
          <a:xfrm>
            <a:off x="640080" y="685800"/>
            <a:ext cx="10652760" cy="685800"/>
          </a:xfrm>
          <a:prstGeom prst="rect">
            <a:avLst/>
          </a:prstGeom>
          <a:noFill/>
          <a:ln/>
        </p:spPr>
        <p:txBody>
          <a:bodyPr wrap="square" lIns="0" tIns="0" rIns="0" bIns="0" rtlCol="0" anchor="ctr">
            <a:normAutofit/>
          </a:bodyPr>
          <a:lstStyle/>
          <a:p>
            <a:pPr indent="0" marL="0">
              <a:buNone/>
            </a:pPr>
            <a:r>
              <a:rPr lang="en-US" sz="3100" b="1" dirty="0">
                <a:solidFill>
                  <a:srgbClr val="111827"/>
                </a:solidFill>
                <a:latin typeface="Helvetica Neue" pitchFamily="34" charset="0"/>
                <a:ea typeface="Helvetica Neue" pitchFamily="34" charset="-122"/>
                <a:cs typeface="Helvetica Neue" pitchFamily="34" charset="-120"/>
              </a:rPr>
              <a:t>The model applies substantially, but unevenly.</a:t>
            </a:r>
            <a:endParaRPr lang="en-US" sz="3100" dirty="0"/>
          </a:p>
        </p:txBody>
      </p:sp>
      <p:sp>
        <p:nvSpPr>
          <p:cNvPr id="6" name="Text 4"/>
          <p:cNvSpPr/>
          <p:nvPr/>
        </p:nvSpPr>
        <p:spPr>
          <a:xfrm>
            <a:off x="658368" y="1389888"/>
            <a:ext cx="9875520" cy="310896"/>
          </a:xfrm>
          <a:prstGeom prst="rect">
            <a:avLst/>
          </a:prstGeom>
          <a:noFill/>
          <a:ln/>
        </p:spPr>
        <p:txBody>
          <a:bodyPr wrap="square" lIns="0" tIns="0" rIns="0" bIns="0" rtlCol="0" anchor="ctr">
            <a:normAutofit/>
          </a:bodyPr>
          <a:lstStyle/>
          <a:p>
            <a:pPr indent="0" marL="0">
              <a:buNone/>
            </a:pPr>
            <a:r>
              <a:rPr lang="en-US" sz="1200" dirty="0">
                <a:solidFill>
                  <a:srgbClr val="64748B"/>
                </a:solidFill>
                <a:latin typeface="Helvetica Neue" pitchFamily="34" charset="0"/>
                <a:ea typeface="Helvetica Neue" pitchFamily="34" charset="-122"/>
                <a:cs typeface="Helvetica Neue" pitchFamily="34" charset="-120"/>
              </a:rPr>
              <a:t>That unevenness makes the argument stronger: it separates proof from context.</a:t>
            </a:r>
            <a:endParaRPr lang="en-US" sz="1200" dirty="0"/>
          </a:p>
        </p:txBody>
      </p:sp>
      <p:sp>
        <p:nvSpPr>
          <p:cNvPr id="7" name="Shape 5"/>
          <p:cNvSpPr/>
          <p:nvPr/>
        </p:nvSpPr>
        <p:spPr>
          <a:xfrm>
            <a:off x="868680" y="2029968"/>
            <a:ext cx="9966960" cy="530352"/>
          </a:xfrm>
          <a:prstGeom prst="rect">
            <a:avLst/>
          </a:prstGeom>
          <a:solidFill>
            <a:srgbClr val="F8FAFC"/>
          </a:solidFill>
          <a:ln w="10160">
            <a:solidFill>
              <a:srgbClr val="E5E7EB"/>
            </a:solidFill>
            <a:prstDash val="solid"/>
          </a:ln>
        </p:spPr>
      </p:sp>
      <p:sp>
        <p:nvSpPr>
          <p:cNvPr id="8" name="Text 6"/>
          <p:cNvSpPr/>
          <p:nvPr/>
        </p:nvSpPr>
        <p:spPr>
          <a:xfrm>
            <a:off x="1078992" y="2194560"/>
            <a:ext cx="1371600" cy="146304"/>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Filters 1 + 2</a:t>
            </a:r>
            <a:endParaRPr lang="en-US" sz="850" dirty="0"/>
          </a:p>
        </p:txBody>
      </p:sp>
      <p:sp>
        <p:nvSpPr>
          <p:cNvPr id="9" name="Text 7"/>
          <p:cNvSpPr/>
          <p:nvPr/>
        </p:nvSpPr>
        <p:spPr>
          <a:xfrm>
            <a:off x="2834640" y="2194560"/>
            <a:ext cx="1280160" cy="146304"/>
          </a:xfrm>
          <a:prstGeom prst="rect">
            <a:avLst/>
          </a:prstGeom>
          <a:noFill/>
          <a:ln/>
        </p:spPr>
        <p:txBody>
          <a:bodyPr wrap="square" lIns="0" tIns="0" rIns="0" bIns="0" rtlCol="0" anchor="ctr"/>
          <a:lstStyle/>
          <a:p>
            <a:pPr indent="0" marL="0">
              <a:buNone/>
            </a:pPr>
            <a:r>
              <a:rPr lang="en-US" sz="750" b="1" dirty="0">
                <a:solidFill>
                  <a:srgbClr val="64748B"/>
                </a:solidFill>
                <a:latin typeface="Helvetica Neue" pitchFamily="34" charset="0"/>
                <a:ea typeface="Helvetica Neue" pitchFamily="34" charset="-122"/>
                <a:cs typeface="Helvetica Neue" pitchFamily="34" charset="-120"/>
              </a:rPr>
              <a:t>MODERATE FIT</a:t>
            </a:r>
            <a:endParaRPr lang="en-US" sz="750" dirty="0"/>
          </a:p>
        </p:txBody>
      </p:sp>
      <p:sp>
        <p:nvSpPr>
          <p:cNvPr id="10" name="Text 8"/>
          <p:cNvSpPr/>
          <p:nvPr/>
        </p:nvSpPr>
        <p:spPr>
          <a:xfrm>
            <a:off x="4434840" y="2185416"/>
            <a:ext cx="5760720" cy="164592"/>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Helvetica Neue" pitchFamily="34" charset="0"/>
                <a:ea typeface="Helvetica Neue" pitchFamily="34" charset="-122"/>
                <a:cs typeface="Helvetica Neue" pitchFamily="34" charset="-120"/>
              </a:rPr>
              <a:t>Structural background: class and commercial ecology</a:t>
            </a:r>
            <a:endParaRPr lang="en-US" sz="870" dirty="0"/>
          </a:p>
        </p:txBody>
      </p:sp>
      <p:sp>
        <p:nvSpPr>
          <p:cNvPr id="11" name="Shape 9"/>
          <p:cNvSpPr/>
          <p:nvPr/>
        </p:nvSpPr>
        <p:spPr>
          <a:xfrm>
            <a:off x="868680" y="2761488"/>
            <a:ext cx="9966960" cy="530352"/>
          </a:xfrm>
          <a:prstGeom prst="rect">
            <a:avLst/>
          </a:prstGeom>
          <a:solidFill>
            <a:srgbClr val="FFFFFF"/>
          </a:solidFill>
          <a:ln w="10160">
            <a:solidFill>
              <a:srgbClr val="E5E7EB"/>
            </a:solidFill>
            <a:prstDash val="solid"/>
          </a:ln>
        </p:spPr>
      </p:sp>
      <p:sp>
        <p:nvSpPr>
          <p:cNvPr id="12" name="Text 10"/>
          <p:cNvSpPr/>
          <p:nvPr/>
        </p:nvSpPr>
        <p:spPr>
          <a:xfrm>
            <a:off x="1078992" y="2926080"/>
            <a:ext cx="1371600" cy="146304"/>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Filter 3</a:t>
            </a:r>
            <a:endParaRPr lang="en-US" sz="850" dirty="0"/>
          </a:p>
        </p:txBody>
      </p:sp>
      <p:sp>
        <p:nvSpPr>
          <p:cNvPr id="13" name="Text 11"/>
          <p:cNvSpPr/>
          <p:nvPr/>
        </p:nvSpPr>
        <p:spPr>
          <a:xfrm>
            <a:off x="2834640" y="2926080"/>
            <a:ext cx="1280160" cy="146304"/>
          </a:xfrm>
          <a:prstGeom prst="rect">
            <a:avLst/>
          </a:prstGeom>
          <a:noFill/>
          <a:ln/>
        </p:spPr>
        <p:txBody>
          <a:bodyPr wrap="square" lIns="0" tIns="0" rIns="0" bIns="0" rtlCol="0" anchor="ctr"/>
          <a:lstStyle/>
          <a:p>
            <a:pPr indent="0" marL="0">
              <a:buNone/>
            </a:pPr>
            <a:r>
              <a:rPr lang="en-US" sz="750" b="1" dirty="0">
                <a:solidFill>
                  <a:srgbClr val="1D4ED8"/>
                </a:solidFill>
                <a:latin typeface="Helvetica Neue" pitchFamily="34" charset="0"/>
                <a:ea typeface="Helvetica Neue" pitchFamily="34" charset="-122"/>
                <a:cs typeface="Helvetica Neue" pitchFamily="34" charset="-120"/>
              </a:rPr>
              <a:t>STRONG FIT</a:t>
            </a:r>
            <a:endParaRPr lang="en-US" sz="750" dirty="0"/>
          </a:p>
        </p:txBody>
      </p:sp>
      <p:sp>
        <p:nvSpPr>
          <p:cNvPr id="14" name="Text 12"/>
          <p:cNvSpPr/>
          <p:nvPr/>
        </p:nvSpPr>
        <p:spPr>
          <a:xfrm>
            <a:off x="4434840" y="2916936"/>
            <a:ext cx="5760720" cy="164592"/>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Helvetica Neue" pitchFamily="34" charset="0"/>
                <a:ea typeface="Helvetica Neue" pitchFamily="34" charset="-122"/>
                <a:cs typeface="Helvetica Neue" pitchFamily="34" charset="-120"/>
              </a:rPr>
              <a:t>Article-level proof: source architecture makes FAA authoritative</a:t>
            </a:r>
            <a:endParaRPr lang="en-US" sz="870" dirty="0"/>
          </a:p>
        </p:txBody>
      </p:sp>
      <p:sp>
        <p:nvSpPr>
          <p:cNvPr id="15" name="Shape 13"/>
          <p:cNvSpPr/>
          <p:nvPr/>
        </p:nvSpPr>
        <p:spPr>
          <a:xfrm>
            <a:off x="868680" y="3493008"/>
            <a:ext cx="9966960" cy="530352"/>
          </a:xfrm>
          <a:prstGeom prst="rect">
            <a:avLst/>
          </a:prstGeom>
          <a:solidFill>
            <a:srgbClr val="F8FAFC"/>
          </a:solidFill>
          <a:ln w="10160">
            <a:solidFill>
              <a:srgbClr val="E5E7EB"/>
            </a:solidFill>
            <a:prstDash val="solid"/>
          </a:ln>
        </p:spPr>
      </p:sp>
      <p:sp>
        <p:nvSpPr>
          <p:cNvPr id="16" name="Text 14"/>
          <p:cNvSpPr/>
          <p:nvPr/>
        </p:nvSpPr>
        <p:spPr>
          <a:xfrm>
            <a:off x="1078992" y="3657600"/>
            <a:ext cx="1371600" cy="146304"/>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Filter 4</a:t>
            </a:r>
            <a:endParaRPr lang="en-US" sz="850" dirty="0"/>
          </a:p>
        </p:txBody>
      </p:sp>
      <p:sp>
        <p:nvSpPr>
          <p:cNvPr id="17" name="Text 15"/>
          <p:cNvSpPr/>
          <p:nvPr/>
        </p:nvSpPr>
        <p:spPr>
          <a:xfrm>
            <a:off x="2834640" y="3657600"/>
            <a:ext cx="1280160" cy="146304"/>
          </a:xfrm>
          <a:prstGeom prst="rect">
            <a:avLst/>
          </a:prstGeom>
          <a:noFill/>
          <a:ln/>
        </p:spPr>
        <p:txBody>
          <a:bodyPr wrap="square" lIns="0" tIns="0" rIns="0" bIns="0" rtlCol="0" anchor="ctr"/>
          <a:lstStyle/>
          <a:p>
            <a:pPr indent="0" marL="0">
              <a:buNone/>
            </a:pPr>
            <a:r>
              <a:rPr lang="en-US" sz="750" b="1" dirty="0">
                <a:solidFill>
                  <a:srgbClr val="B45309"/>
                </a:solidFill>
                <a:latin typeface="Helvetica Neue" pitchFamily="34" charset="0"/>
                <a:ea typeface="Helvetica Neue" pitchFamily="34" charset="-122"/>
                <a:cs typeface="Helvetica Neue" pitchFamily="34" charset="-120"/>
              </a:rPr>
              <a:t>PARTIAL FIT</a:t>
            </a:r>
            <a:endParaRPr lang="en-US" sz="750" dirty="0"/>
          </a:p>
        </p:txBody>
      </p:sp>
      <p:sp>
        <p:nvSpPr>
          <p:cNvPr id="18" name="Text 16"/>
          <p:cNvSpPr/>
          <p:nvPr/>
        </p:nvSpPr>
        <p:spPr>
          <a:xfrm>
            <a:off x="4434840" y="3648456"/>
            <a:ext cx="5760720" cy="164592"/>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Helvetica Neue" pitchFamily="34" charset="0"/>
                <a:ea typeface="Helvetica Neue" pitchFamily="34" charset="-122"/>
                <a:cs typeface="Helvetica Neue" pitchFamily="34" charset="-120"/>
              </a:rPr>
              <a:t>Anticipated cost: expensive frames discipline the beat</a:t>
            </a:r>
            <a:endParaRPr lang="en-US" sz="870" dirty="0"/>
          </a:p>
        </p:txBody>
      </p:sp>
      <p:sp>
        <p:nvSpPr>
          <p:cNvPr id="19" name="Shape 17"/>
          <p:cNvSpPr/>
          <p:nvPr/>
        </p:nvSpPr>
        <p:spPr>
          <a:xfrm>
            <a:off x="868680" y="4224528"/>
            <a:ext cx="9966960" cy="530352"/>
          </a:xfrm>
          <a:prstGeom prst="rect">
            <a:avLst/>
          </a:prstGeom>
          <a:solidFill>
            <a:srgbClr val="FFFFFF"/>
          </a:solidFill>
          <a:ln w="10160">
            <a:solidFill>
              <a:srgbClr val="E5E7EB"/>
            </a:solidFill>
            <a:prstDash val="solid"/>
          </a:ln>
        </p:spPr>
      </p:sp>
      <p:sp>
        <p:nvSpPr>
          <p:cNvPr id="20" name="Text 18"/>
          <p:cNvSpPr/>
          <p:nvPr/>
        </p:nvSpPr>
        <p:spPr>
          <a:xfrm>
            <a:off x="1078992" y="4389120"/>
            <a:ext cx="1371600" cy="146304"/>
          </a:xfrm>
          <a:prstGeom prst="rect">
            <a:avLst/>
          </a:prstGeom>
          <a:noFill/>
          <a:ln/>
        </p:spPr>
        <p:txBody>
          <a:bodyPr wrap="square" lIns="0" tIns="0" rIns="0" bIns="0" rtlCol="0" anchor="ctr"/>
          <a:lstStyle/>
          <a:p>
            <a:pPr indent="0" marL="0">
              <a:buNone/>
            </a:pPr>
            <a:r>
              <a:rPr lang="en-US" sz="850" b="1" dirty="0">
                <a:solidFill>
                  <a:srgbClr val="111827"/>
                </a:solidFill>
                <a:latin typeface="Helvetica Neue" pitchFamily="34" charset="0"/>
                <a:ea typeface="Helvetica Neue" pitchFamily="34" charset="-122"/>
                <a:cs typeface="Helvetica Neue" pitchFamily="34" charset="-120"/>
              </a:rPr>
              <a:t>Filter 5</a:t>
            </a:r>
            <a:endParaRPr lang="en-US" sz="850" dirty="0"/>
          </a:p>
        </p:txBody>
      </p:sp>
      <p:sp>
        <p:nvSpPr>
          <p:cNvPr id="21" name="Text 19"/>
          <p:cNvSpPr/>
          <p:nvPr/>
        </p:nvSpPr>
        <p:spPr>
          <a:xfrm>
            <a:off x="2834640" y="4389120"/>
            <a:ext cx="1280160" cy="146304"/>
          </a:xfrm>
          <a:prstGeom prst="rect">
            <a:avLst/>
          </a:prstGeom>
          <a:noFill/>
          <a:ln/>
        </p:spPr>
        <p:txBody>
          <a:bodyPr wrap="square" lIns="0" tIns="0" rIns="0" bIns="0" rtlCol="0" anchor="ctr"/>
          <a:lstStyle/>
          <a:p>
            <a:pPr indent="0" marL="0">
              <a:buNone/>
            </a:pPr>
            <a:r>
              <a:rPr lang="en-US" sz="750" b="1" dirty="0">
                <a:solidFill>
                  <a:srgbClr val="1D4ED8"/>
                </a:solidFill>
                <a:latin typeface="Helvetica Neue" pitchFamily="34" charset="0"/>
                <a:ea typeface="Helvetica Neue" pitchFamily="34" charset="-122"/>
                <a:cs typeface="Helvetica Neue" pitchFamily="34" charset="-120"/>
              </a:rPr>
              <a:t>STRONG FIT</a:t>
            </a:r>
            <a:endParaRPr lang="en-US" sz="750" dirty="0"/>
          </a:p>
        </p:txBody>
      </p:sp>
      <p:sp>
        <p:nvSpPr>
          <p:cNvPr id="22" name="Text 20"/>
          <p:cNvSpPr/>
          <p:nvPr/>
        </p:nvSpPr>
        <p:spPr>
          <a:xfrm>
            <a:off x="4434840" y="4379976"/>
            <a:ext cx="5760720" cy="164592"/>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Helvetica Neue" pitchFamily="34" charset="0"/>
                <a:ea typeface="Helvetica Neue" pitchFamily="34" charset="-122"/>
                <a:cs typeface="Helvetica Neue" pitchFamily="34" charset="-120"/>
              </a:rPr>
              <a:t>Ideological proof: foreign victims remain morally peripheral</a:t>
            </a:r>
            <a:endParaRPr lang="en-US" sz="870" dirty="0"/>
          </a:p>
        </p:txBody>
      </p:sp>
      <p:sp>
        <p:nvSpPr>
          <p:cNvPr id="23" name="Text 21"/>
          <p:cNvSpPr/>
          <p:nvPr/>
        </p:nvSpPr>
        <p:spPr>
          <a:xfrm>
            <a:off x="914400" y="5285232"/>
            <a:ext cx="4800600" cy="320040"/>
          </a:xfrm>
          <a:prstGeom prst="rect">
            <a:avLst/>
          </a:prstGeom>
          <a:noFill/>
          <a:ln/>
        </p:spPr>
        <p:txBody>
          <a:bodyPr wrap="square" lIns="0" tIns="0" rIns="0" bIns="0" rtlCol="0" anchor="ctr"/>
          <a:lstStyle/>
          <a:p>
            <a:pPr indent="0" marL="0">
              <a:buNone/>
            </a:pPr>
            <a:r>
              <a:rPr lang="en-US" sz="1800" b="1" dirty="0">
                <a:solidFill>
                  <a:srgbClr val="111827"/>
                </a:solidFill>
                <a:latin typeface="Helvetica Neue" pitchFamily="34" charset="0"/>
                <a:ea typeface="Helvetica Neue" pitchFamily="34" charset="-122"/>
                <a:cs typeface="Helvetica Neue" pitchFamily="34" charset="-120"/>
              </a:rPr>
              <a:t>The article is not propaganda because it lies.</a:t>
            </a:r>
            <a:endParaRPr lang="en-US" sz="1800" dirty="0"/>
          </a:p>
        </p:txBody>
      </p:sp>
      <p:sp>
        <p:nvSpPr>
          <p:cNvPr id="24" name="Text 22"/>
          <p:cNvSpPr/>
          <p:nvPr/>
        </p:nvSpPr>
        <p:spPr>
          <a:xfrm>
            <a:off x="914400" y="5687568"/>
            <a:ext cx="8778240" cy="329184"/>
          </a:xfrm>
          <a:prstGeom prst="rect">
            <a:avLst/>
          </a:prstGeom>
          <a:noFill/>
          <a:ln/>
        </p:spPr>
        <p:txBody>
          <a:bodyPr wrap="square" lIns="0" tIns="0" rIns="0" bIns="0" rtlCol="0" anchor="ctr">
            <a:normAutofit/>
          </a:bodyPr>
          <a:lstStyle/>
          <a:p>
            <a:pPr indent="0" marL="0">
              <a:buNone/>
            </a:pPr>
            <a:r>
              <a:rPr lang="en-US" sz="1800" b="1" dirty="0">
                <a:solidFill>
                  <a:srgbClr val="B91C1C"/>
                </a:solidFill>
                <a:latin typeface="Helvetica Neue" pitchFamily="34" charset="0"/>
                <a:ea typeface="Helvetica Neue" pitchFamily="34" charset="-122"/>
                <a:cs typeface="Helvetica Neue" pitchFamily="34" charset="-120"/>
              </a:rPr>
              <a:t>It is propaganda-model evidence because normal journalism selected the institutionally comfortable frame.</a:t>
            </a:r>
            <a:endParaRPr lang="en-US" sz="1800" dirty="0"/>
          </a:p>
        </p:txBody>
      </p:sp>
      <p:sp>
        <p:nvSpPr>
          <p:cNvPr id="25" name="Shape 23"/>
          <p:cNvSpPr/>
          <p:nvPr/>
        </p:nvSpPr>
        <p:spPr>
          <a:xfrm>
            <a:off x="502920" y="6473952"/>
            <a:ext cx="11109960" cy="0"/>
          </a:xfrm>
          <a:prstGeom prst="line">
            <a:avLst/>
          </a:prstGeom>
          <a:noFill/>
          <a:ln w="12700">
            <a:solidFill>
              <a:srgbClr val="E5E7EB"/>
            </a:solidFill>
            <a:prstDash val="solid"/>
          </a:ln>
        </p:spPr>
      </p:sp>
      <p:sp>
        <p:nvSpPr>
          <p:cNvPr id="26" name="Text 24"/>
          <p:cNvSpPr/>
          <p:nvPr/>
        </p:nvSpPr>
        <p:spPr>
          <a:xfrm>
            <a:off x="566928" y="6528816"/>
            <a:ext cx="9966960" cy="164592"/>
          </a:xfrm>
          <a:prstGeom prst="rect">
            <a:avLst/>
          </a:prstGeom>
          <a:noFill/>
          <a:ln/>
        </p:spPr>
        <p:txBody>
          <a:bodyPr wrap="square" lIns="0" tIns="0" rIns="0" bIns="0" rtlCol="0" anchor="ctr">
            <a:normAutofit/>
          </a:bodyPr>
          <a:lstStyle/>
          <a:p>
            <a:pPr indent="0" marL="0">
              <a:buNone/>
            </a:pPr>
            <a:r>
              <a:rPr lang="en-US" sz="680" dirty="0">
                <a:solidFill>
                  <a:srgbClr val="64748B"/>
                </a:solidFill>
                <a:latin typeface="Helvetica Neue" pitchFamily="34" charset="0"/>
                <a:ea typeface="Helvetica Neue" pitchFamily="34" charset="-122"/>
                <a:cs typeface="Helvetica Neue" pitchFamily="34" charset="-120"/>
              </a:rPr>
              <a:t>Close line: The filters did not fabricate the news; they selected the version fit to print.</a:t>
            </a:r>
            <a:endParaRPr lang="en-US" sz="680" dirty="0"/>
          </a:p>
        </p:txBody>
      </p:sp>
      <p:sp>
        <p:nvSpPr>
          <p:cNvPr id="27" name="Text 25"/>
          <p:cNvSpPr/>
          <p:nvPr/>
        </p:nvSpPr>
        <p:spPr>
          <a:xfrm>
            <a:off x="11292840" y="6473952"/>
            <a:ext cx="365760" cy="219456"/>
          </a:xfrm>
          <a:prstGeom prst="rect">
            <a:avLst/>
          </a:prstGeom>
          <a:noFill/>
          <a:ln/>
        </p:spPr>
        <p:txBody>
          <a:bodyPr wrap="square" lIns="0" tIns="0" rIns="0" bIns="0" rtlCol="0" anchor="ctr"/>
          <a:lstStyle/>
          <a:p>
            <a:pPr algn="r" indent="0" marL="0">
              <a:buNone/>
            </a:pPr>
            <a:r>
              <a:rPr lang="en-US" sz="800" b="1" dirty="0">
                <a:solidFill>
                  <a:srgbClr val="64748B"/>
                </a:solidFill>
                <a:latin typeface="Helvetica Neue" pitchFamily="34" charset="0"/>
                <a:ea typeface="Helvetica Neue" pitchFamily="34" charset="-122"/>
                <a:cs typeface="Helvetica Neue" pitchFamily="34" charset="-120"/>
              </a:rPr>
              <a:t>09</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Boeing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Boeing WSJ Propaganda Model v3</dc:title>
  <dc:subject>Chomsky propaganda model applied to WSJ Boeing 737 MAX coverage</dc:subject>
  <dc:creator>Landon Brice / Codex</dc:creator>
  <cp:lastModifiedBy>Landon Brice / Codex</cp:lastModifiedBy>
  <cp:revision>1</cp:revision>
  <dcterms:created xsi:type="dcterms:W3CDTF">2026-05-12T16:56:50Z</dcterms:created>
  <dcterms:modified xsi:type="dcterms:W3CDTF">2026-05-12T16:56:50Z</dcterms:modified>
</cp:coreProperties>
</file>